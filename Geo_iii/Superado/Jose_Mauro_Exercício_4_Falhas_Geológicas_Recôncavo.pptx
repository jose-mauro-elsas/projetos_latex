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5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856" autoAdjust="0"/>
  </p:normalViewPr>
  <p:slideViewPr>
    <p:cSldViewPr snapToGrid="0">
      <p:cViewPr varScale="1">
        <p:scale>
          <a:sx n="69" d="100"/>
          <a:sy n="69" d="100"/>
        </p:scale>
        <p:origin x="123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28547-CEA1-8F7D-3CF6-B1F5B02CA9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6AA17E-307F-CB90-D6B2-7138DF4285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29FE18-8205-E7C0-AA3C-008A9D8A8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8179C-C6BD-43BA-BBA1-7A46E350C37C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B1F367-8F51-BAF7-BC23-58504AA64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A9D8E1-953C-98E6-4A2A-B240741D5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BA73-AE3E-42AA-9C11-D9BE10BABE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2377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FCA82B-D9DF-EA46-AB02-D7512DCFB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ABE749-0529-6409-191A-BA8ADCBFD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BE7973-F041-87A0-7D39-238CBBB1D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8179C-C6BD-43BA-BBA1-7A46E350C37C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DA8E47-B479-6126-E53A-12C12C514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0814A9-98BA-8C7A-2D69-F7F278382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BA73-AE3E-42AA-9C11-D9BE10BABE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7399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CBE51A-97EE-68BA-BC95-106052114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399E0C-8FAA-6349-0F25-9D2E10DDF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800AC4-6170-917C-4F64-B7E985333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8179C-C6BD-43BA-BBA1-7A46E350C37C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2C79EB-057E-0794-EB2B-0A1F1FD33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9755F5-C688-61E7-F9CC-4FA5DDAF7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BA73-AE3E-42AA-9C11-D9BE10BABE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5491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CE57DD-9973-A200-472D-56BF2BAF3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B9ADE8-FF16-0B5F-B901-1C348FEEFC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D55452-C140-1D93-B446-92A04322B4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9D442D5-7A39-E9E1-6A31-931BB8484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8179C-C6BD-43BA-BBA1-7A46E350C37C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3A8ECB8-A5A8-2750-5FD2-B71432DD4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8A0280-88EA-15E5-A879-852B534AA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BA73-AE3E-42AA-9C11-D9BE10BABE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1443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B80072-1A64-97FB-60F6-6DC02E601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19EE1B-13D9-E5D7-2CE1-FD0C8A84B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7387A5B-7121-8FAA-3F2E-D27CC5E92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8E200B5-30B9-5CC9-ACEA-C117019364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58507A5-B24F-A1A4-F7C0-592A0EFA39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F76D970-C884-C3A6-D7FF-6DE85152E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8179C-C6BD-43BA-BBA1-7A46E350C37C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D89C56D-0FEA-DA82-BF48-E2FDD0F56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6A08BE6-7F35-D5B8-C1D0-0C7CCE73E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BA73-AE3E-42AA-9C11-D9BE10BABE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6116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4410E9-FC72-2F85-3BA6-389C817EE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76435C3-1665-5B60-5063-163D7E61D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8179C-C6BD-43BA-BBA1-7A46E350C37C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A754B20-C700-39FB-4B35-9F34C5702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9C3390C-B8F4-C306-18DB-F4194F067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BA73-AE3E-42AA-9C11-D9BE10BABE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3617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C95A745-1F40-926B-B4D6-EE7259258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8179C-C6BD-43BA-BBA1-7A46E350C37C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491E753-1D26-0572-5976-A2B01C4F7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3511EA4-4553-C151-5F6D-517F7FE09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BA73-AE3E-42AA-9C11-D9BE10BABE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5771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60FCD7-7DB0-AFFD-564E-3A3CE68C8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6A3FFD-A70E-7665-F6E9-B093C1BF8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26AB1A5-3AA5-DBBA-E87D-5B7F2F159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B410951-36FF-40D8-5054-81D2C19D9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8179C-C6BD-43BA-BBA1-7A46E350C37C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2A39A0E-DBAC-FB76-B816-BD82B5ED2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4DFBDB-3D31-2913-BC66-727BCD890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BA73-AE3E-42AA-9C11-D9BE10BABE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7186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7A5F3A-EE7F-8D52-557D-40D297CB0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1DE837D-5107-43F8-CE5A-AA9E3B0993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253C75D-568E-1957-CF25-E299007A96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DD5627-750F-C911-EFA6-ABC75EE55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8179C-C6BD-43BA-BBA1-7A46E350C37C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47C7A21-0288-7D76-74FF-91035056E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62FACA2-5448-1D15-F169-C0A1F0B87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BA73-AE3E-42AA-9C11-D9BE10BABE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6086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4A2B12-96CF-FDAC-CD9A-0AA55DA27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DE5706B-57C2-ECC8-8F7F-5C482A53B4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DE5230-63D7-CA08-E2AC-63D27C3C9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8179C-C6BD-43BA-BBA1-7A46E350C37C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02CFB1-CD51-C886-B6B8-3E05E02B7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0ECAF6-6730-A165-EAE4-471C0F3A3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BA73-AE3E-42AA-9C11-D9BE10BABE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5811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96C5BC0-274F-7234-8253-A5F3BAEBC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2DF54B9-0E24-057F-B7B1-A0F691514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1AA9C9-E8C7-08D3-159D-98044624B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8179C-C6BD-43BA-BBA1-7A46E350C37C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5FEA41-683A-2ABE-F5E5-AC930EA68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4DD87E-0B03-D6FF-2D66-3E4CCA462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BA73-AE3E-42AA-9C11-D9BE10BABE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1538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120B0C1-86DE-E724-460D-FC248F1D5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3BF2EE0-35BC-BBFE-52AB-87F173E61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14C5ED-FBE0-1540-3E60-15E94EB988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08179C-C6BD-43BA-BBA1-7A46E350C37C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ECF5A1-3C49-DA67-471C-5EEDC8EA11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2EA088-9B0E-554B-DB9F-77FEA63A13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5BA73-AE3E-42AA-9C11-D9BE10BABE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1559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19">
            <a:extLst>
              <a:ext uri="{FF2B5EF4-FFF2-40B4-BE49-F238E27FC236}">
                <a16:creationId xmlns:a16="http://schemas.microsoft.com/office/drawing/2014/main" id="{7D9D36D6-2AC5-46A1-A849-4C82D5264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22367C-B64E-219D-C1BA-D512C34DD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955" y="552182"/>
            <a:ext cx="5998840" cy="3343135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dirty="0" err="1"/>
              <a:t>Falhas</a:t>
            </a:r>
            <a:r>
              <a:rPr lang="en-US" sz="3200" dirty="0"/>
              <a:t> </a:t>
            </a:r>
            <a:r>
              <a:rPr lang="en-US" sz="3200" dirty="0" err="1"/>
              <a:t>Geológicas</a:t>
            </a:r>
            <a:r>
              <a:rPr lang="en-US" sz="3200" dirty="0"/>
              <a:t> no </a:t>
            </a:r>
            <a:r>
              <a:rPr lang="en-US" sz="3200" dirty="0" err="1"/>
              <a:t>Recôncavo</a:t>
            </a:r>
            <a:r>
              <a:rPr lang="en-US" sz="3200" dirty="0"/>
              <a:t> </a:t>
            </a:r>
            <a:r>
              <a:rPr lang="en-US" sz="3200" dirty="0" err="1"/>
              <a:t>Baiano</a:t>
            </a:r>
            <a:r>
              <a:rPr lang="en-US" sz="3200" dirty="0"/>
              <a:t>.</a:t>
            </a:r>
            <a:br>
              <a:rPr lang="en-US" sz="3200" dirty="0"/>
            </a:br>
            <a:r>
              <a:rPr lang="en-US" sz="1800" dirty="0"/>
              <a:t>Jose Mauro X. Elsas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403BB3E-FB30-C44E-3D9D-AD04C69C41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1108"/>
          <a:stretch>
            <a:fillRect/>
          </a:stretch>
        </p:blipFill>
        <p:spPr>
          <a:xfrm>
            <a:off x="20" y="10"/>
            <a:ext cx="499298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742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75D9E4-FE7A-5629-E635-CF92376AC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409" y="762001"/>
            <a:ext cx="4156512" cy="1708244"/>
          </a:xfrm>
        </p:spPr>
        <p:txBody>
          <a:bodyPr anchor="ctr">
            <a:normAutofit/>
          </a:bodyPr>
          <a:lstStyle/>
          <a:p>
            <a:r>
              <a:rPr lang="pt-BR" sz="4000"/>
              <a:t>Um breve histórico.</a:t>
            </a:r>
          </a:p>
        </p:txBody>
      </p:sp>
      <p:pic>
        <p:nvPicPr>
          <p:cNvPr id="10" name="Picture 9" descr="Montanhas à beira do mar">
            <a:extLst>
              <a:ext uri="{FF2B5EF4-FFF2-40B4-BE49-F238E27FC236}">
                <a16:creationId xmlns:a16="http://schemas.microsoft.com/office/drawing/2014/main" id="{042AE18F-0D17-DC8B-8C40-1C1A585057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811" r="6523"/>
          <a:stretch>
            <a:fillRect/>
          </a:stretch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98FCA585-3CD3-D0CB-0361-81A210AA18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23102" y="2018371"/>
            <a:ext cx="5140713" cy="422170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 Bacia do Recôncavo faz parte do grande </a:t>
            </a:r>
            <a:r>
              <a:rPr kumimoji="0" lang="pt-BR" altLang="pt-BR" sz="160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Rifte</a:t>
            </a:r>
            <a:r>
              <a:rPr kumimoji="0" lang="pt-BR" altLang="pt-BR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Recôncavo-Tucano-Jatobá que com tem origem na ruptura de Gondwana ocidental e que sofreram as tensões que criaram o Oceano Atlântico Sul.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altLang="pt-BR" sz="1600" dirty="0">
                <a:latin typeface="Arial" panose="020B0604020202020204" pitchFamily="34" charset="0"/>
              </a:rPr>
              <a:t> - </a:t>
            </a:r>
            <a:r>
              <a:rPr kumimoji="0" lang="pt-BR" altLang="pt-BR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Fase </a:t>
            </a:r>
            <a:r>
              <a:rPr kumimoji="0" lang="pt-BR" altLang="pt-BR" sz="160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Pré-Rifte</a:t>
            </a:r>
            <a:r>
              <a:rPr kumimoji="0" lang="pt-BR" altLang="pt-BR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</a:t>
            </a:r>
            <a:r>
              <a:rPr kumimoji="0" lang="pt-BR" altLang="pt-BR" sz="160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Neojurássico</a:t>
            </a:r>
            <a:r>
              <a:rPr kumimoji="0" lang="pt-BR" altLang="pt-BR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ao </a:t>
            </a:r>
            <a:r>
              <a:rPr kumimoji="0" lang="pt-BR" altLang="pt-BR" sz="160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Eocretáceo</a:t>
            </a:r>
            <a:r>
              <a:rPr kumimoji="0" lang="pt-BR" altLang="pt-BR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Inferior). O estabelecimento do </a:t>
            </a:r>
            <a:r>
              <a:rPr kumimoji="0" lang="pt-BR" altLang="pt-BR" sz="160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rifte</a:t>
            </a:r>
            <a:r>
              <a:rPr kumimoji="0" lang="pt-BR" altLang="pt-BR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ocorreu por volta de 144 </a:t>
            </a:r>
            <a:r>
              <a:rPr kumimoji="0" lang="pt-BR" altLang="pt-BR" sz="160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Ma</a:t>
            </a:r>
            <a:r>
              <a:rPr kumimoji="0" lang="pt-BR" altLang="pt-BR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</a:t>
            </a:r>
            <a:r>
              <a:rPr kumimoji="0" lang="pt-BR" altLang="pt-BR" sz="160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Berriasiano</a:t>
            </a:r>
            <a:r>
              <a:rPr kumimoji="0" lang="pt-BR" altLang="pt-BR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 e durou 24 milhões de anos.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• Tectônica e Subsidência: É um sistema de falhas normais (N30º-40ºE)</a:t>
            </a:r>
            <a:r>
              <a:rPr lang="pt-BR" altLang="pt-BR" sz="1600" dirty="0">
                <a:latin typeface="Arial" panose="020B0604020202020204" pitchFamily="34" charset="0"/>
              </a:rPr>
              <a:t>.</a:t>
            </a:r>
            <a:endParaRPr kumimoji="0" lang="pt-BR" altLang="pt-BR" sz="16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• Rochas Geradoras: folhelhos escuros e </a:t>
            </a:r>
            <a:r>
              <a:rPr kumimoji="0" lang="pt-BR" altLang="pt-BR" sz="160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anóxicos</a:t>
            </a:r>
            <a:r>
              <a:rPr kumimoji="0" lang="pt-BR" altLang="pt-BR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que incluem as principais rochas geradoras da bacia.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• Deposição: A bacia foi preenchida por um sistema </a:t>
            </a:r>
            <a:r>
              <a:rPr kumimoji="0" lang="pt-BR" altLang="pt-BR" sz="160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flúvio</a:t>
            </a:r>
            <a:r>
              <a:rPr kumimoji="0" lang="pt-BR" altLang="pt-BR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-deltaico-lacustre</a:t>
            </a:r>
            <a:r>
              <a:rPr lang="pt-BR" altLang="pt-BR" sz="1600" dirty="0">
                <a:latin typeface="Arial" panose="020B0604020202020204" pitchFamily="34" charset="0"/>
              </a:rPr>
              <a:t>.</a:t>
            </a:r>
            <a:r>
              <a:rPr kumimoji="0" lang="pt-BR" altLang="pt-BR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altLang="pt-BR" sz="1600" dirty="0">
                <a:latin typeface="Arial" panose="020B0604020202020204" pitchFamily="34" charset="0"/>
              </a:rPr>
              <a:t>- </a:t>
            </a:r>
            <a:r>
              <a:rPr kumimoji="0" lang="pt-BR" altLang="pt-BR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Fase Pós-</a:t>
            </a:r>
            <a:r>
              <a:rPr kumimoji="0" lang="pt-BR" altLang="pt-BR" sz="160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Rifte</a:t>
            </a:r>
            <a:r>
              <a:rPr kumimoji="0" lang="pt-BR" altLang="pt-BR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</a:t>
            </a:r>
            <a:r>
              <a:rPr kumimoji="0" lang="pt-BR" altLang="pt-BR" sz="160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Aptiano</a:t>
            </a:r>
            <a:r>
              <a:rPr kumimoji="0" lang="pt-BR" altLang="pt-BR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em diante).</a:t>
            </a:r>
          </a:p>
        </p:txBody>
      </p:sp>
    </p:spTree>
    <p:extLst>
      <p:ext uri="{BB962C8B-B14F-4D97-AF65-F5344CB8AC3E}">
        <p14:creationId xmlns:p14="http://schemas.microsoft.com/office/powerpoint/2010/main" val="3288522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8C3F10-B462-3324-18D4-6C20FE616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Slide Background">
            <a:extLst>
              <a:ext uri="{FF2B5EF4-FFF2-40B4-BE49-F238E27FC236}">
                <a16:creationId xmlns:a16="http://schemas.microsoft.com/office/drawing/2014/main" id="{0ECC6DBE-E8A3-D935-242D-436774E7B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66DC896-C36B-DBB5-7A5B-998D22168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CDCEF4F-A7F8-04C7-46D0-51C06C9D5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7951" y="133815"/>
            <a:ext cx="4156512" cy="1708244"/>
          </a:xfrm>
        </p:spPr>
        <p:txBody>
          <a:bodyPr anchor="ctr">
            <a:normAutofit/>
          </a:bodyPr>
          <a:lstStyle/>
          <a:p>
            <a:r>
              <a:rPr lang="pt-BR" sz="4000" dirty="0"/>
              <a:t>Um breve histórico.</a:t>
            </a:r>
          </a:p>
        </p:txBody>
      </p:sp>
      <p:pic>
        <p:nvPicPr>
          <p:cNvPr id="10" name="Picture 9" descr="Montanhas à beira do mar">
            <a:extLst>
              <a:ext uri="{FF2B5EF4-FFF2-40B4-BE49-F238E27FC236}">
                <a16:creationId xmlns:a16="http://schemas.microsoft.com/office/drawing/2014/main" id="{E5E8941C-2E69-4FF2-CE19-2D82A5F3FE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811" r="6523"/>
          <a:stretch>
            <a:fillRect/>
          </a:stretch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14DEB4-999F-FBA1-2C0D-0610CA1F0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165" y="1591450"/>
            <a:ext cx="5653670" cy="4898560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600" dirty="0">
                <a:latin typeface="Arial" panose="020B0604020202020204" pitchFamily="34" charset="0"/>
              </a:rPr>
              <a:t>Uma discordância angular (</a:t>
            </a:r>
            <a:r>
              <a:rPr lang="pt-BR" altLang="pt-BR" sz="1600" i="1" dirty="0">
                <a:latin typeface="Arial" panose="020B0604020202020204" pitchFamily="34" charset="0"/>
              </a:rPr>
              <a:t>break </a:t>
            </a:r>
            <a:r>
              <a:rPr lang="pt-BR" altLang="pt-BR" sz="1600" i="1" dirty="0" err="1">
                <a:latin typeface="Arial" panose="020B0604020202020204" pitchFamily="34" charset="0"/>
              </a:rPr>
              <a:t>up</a:t>
            </a:r>
            <a:r>
              <a:rPr lang="pt-BR" altLang="pt-BR" sz="1600" i="1" dirty="0">
                <a:latin typeface="Arial" panose="020B0604020202020204" pitchFamily="34" charset="0"/>
              </a:rPr>
              <a:t> </a:t>
            </a:r>
            <a:r>
              <a:rPr lang="pt-BR" altLang="pt-BR" sz="1600" i="1" dirty="0" err="1">
                <a:latin typeface="Arial" panose="020B0604020202020204" pitchFamily="34" charset="0"/>
              </a:rPr>
              <a:t>unconformity</a:t>
            </a:r>
            <a:r>
              <a:rPr lang="pt-BR" altLang="pt-BR" sz="1600" dirty="0">
                <a:latin typeface="Arial" panose="020B0604020202020204" pitchFamily="34" charset="0"/>
              </a:rPr>
              <a:t>) separa a sequência </a:t>
            </a:r>
            <a:r>
              <a:rPr lang="pt-BR" altLang="pt-BR" sz="1600" dirty="0" err="1">
                <a:latin typeface="Arial" panose="020B0604020202020204" pitchFamily="34" charset="0"/>
              </a:rPr>
              <a:t>rifte</a:t>
            </a:r>
            <a:r>
              <a:rPr lang="pt-BR" altLang="pt-BR" sz="1600" dirty="0">
                <a:latin typeface="Arial" panose="020B0604020202020204" pitchFamily="34" charset="0"/>
              </a:rPr>
              <a:t> dos depósitos pós-</a:t>
            </a:r>
            <a:r>
              <a:rPr lang="pt-BR" altLang="pt-BR" sz="1600" dirty="0" err="1">
                <a:latin typeface="Arial" panose="020B0604020202020204" pitchFamily="34" charset="0"/>
              </a:rPr>
              <a:t>rifte</a:t>
            </a:r>
            <a:r>
              <a:rPr lang="pt-BR" altLang="pt-BR" sz="1600" dirty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600" dirty="0">
                <a:latin typeface="Arial" panose="020B0604020202020204" pitchFamily="34" charset="0"/>
              </a:rPr>
              <a:t>• Deposição: A principal unidade pós-</a:t>
            </a:r>
            <a:r>
              <a:rPr lang="pt-BR" altLang="pt-BR" sz="1600" dirty="0" err="1">
                <a:latin typeface="Arial" panose="020B0604020202020204" pitchFamily="34" charset="0"/>
              </a:rPr>
              <a:t>rifte</a:t>
            </a:r>
            <a:r>
              <a:rPr lang="pt-BR" altLang="pt-BR" sz="1600" dirty="0">
                <a:latin typeface="Arial" panose="020B0604020202020204" pitchFamily="34" charset="0"/>
              </a:rPr>
              <a:t> é  depositada em uma depressão, marcando a fase de subsidência.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600" dirty="0">
                <a:latin typeface="Arial" panose="020B0604020202020204" pitchFamily="34" charset="0"/>
              </a:rPr>
              <a:t>• Eventos Finais: No </a:t>
            </a:r>
            <a:r>
              <a:rPr lang="pt-BR" altLang="pt-BR" sz="1600" dirty="0" err="1">
                <a:latin typeface="Arial" panose="020B0604020202020204" pitchFamily="34" charset="0"/>
              </a:rPr>
              <a:t>Cenozóico</a:t>
            </a:r>
            <a:r>
              <a:rPr lang="pt-BR" altLang="pt-BR" sz="1600" dirty="0">
                <a:latin typeface="Arial" panose="020B0604020202020204" pitchFamily="34" charset="0"/>
              </a:rPr>
              <a:t>, ocorreram soerguimentos e erosão significativos,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600" dirty="0">
                <a:latin typeface="Arial" panose="020B0604020202020204" pitchFamily="34" charset="0"/>
              </a:rPr>
              <a:t>O Recôncavo possui um sistema petrolífero muito eficiente. A exploração econômica a partir de descoberta pioneira de óleo em Lobato, em 1939. Desde então, mais de 5.000 poços foram perfurados, resultando na descoberta de cerca de 80 campos de óleo e gás. Conhecida como “bacia-escola“ para geólogos. 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128298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CE460F-E883-7997-E4AF-2AA053EAB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812" y="279535"/>
            <a:ext cx="4312734" cy="638485"/>
          </a:xfrm>
        </p:spPr>
        <p:txBody>
          <a:bodyPr>
            <a:normAutofit fontScale="90000"/>
          </a:bodyPr>
          <a:lstStyle/>
          <a:p>
            <a:r>
              <a:rPr lang="pt-BR" dirty="0"/>
              <a:t>Falha de Salvador.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FDCAF0FD-96FD-A0E5-B217-5CEB1A2D0B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96351" y="1482811"/>
            <a:ext cx="7602054" cy="5112994"/>
          </a:xfrm>
          <a:prstGeom prst="rect">
            <a:avLst/>
          </a:prstGeom>
          <a:ln w="19050">
            <a:solidFill>
              <a:srgbClr val="FFC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602054"/>
                      <a:gd name="connsiteY0" fmla="*/ 0 h 5112994"/>
                      <a:gd name="connsiteX1" fmla="*/ 584773 w 7602054"/>
                      <a:gd name="connsiteY1" fmla="*/ 0 h 5112994"/>
                      <a:gd name="connsiteX2" fmla="*/ 1093526 w 7602054"/>
                      <a:gd name="connsiteY2" fmla="*/ 0 h 5112994"/>
                      <a:gd name="connsiteX3" fmla="*/ 1678300 w 7602054"/>
                      <a:gd name="connsiteY3" fmla="*/ 0 h 5112994"/>
                      <a:gd name="connsiteX4" fmla="*/ 2339094 w 7602054"/>
                      <a:gd name="connsiteY4" fmla="*/ 0 h 5112994"/>
                      <a:gd name="connsiteX5" fmla="*/ 2999887 w 7602054"/>
                      <a:gd name="connsiteY5" fmla="*/ 0 h 5112994"/>
                      <a:gd name="connsiteX6" fmla="*/ 3660681 w 7602054"/>
                      <a:gd name="connsiteY6" fmla="*/ 0 h 5112994"/>
                      <a:gd name="connsiteX7" fmla="*/ 4397496 w 7602054"/>
                      <a:gd name="connsiteY7" fmla="*/ 0 h 5112994"/>
                      <a:gd name="connsiteX8" fmla="*/ 4982269 w 7602054"/>
                      <a:gd name="connsiteY8" fmla="*/ 0 h 5112994"/>
                      <a:gd name="connsiteX9" fmla="*/ 5643063 w 7602054"/>
                      <a:gd name="connsiteY9" fmla="*/ 0 h 5112994"/>
                      <a:gd name="connsiteX10" fmla="*/ 6227837 w 7602054"/>
                      <a:gd name="connsiteY10" fmla="*/ 0 h 5112994"/>
                      <a:gd name="connsiteX11" fmla="*/ 6812610 w 7602054"/>
                      <a:gd name="connsiteY11" fmla="*/ 0 h 5112994"/>
                      <a:gd name="connsiteX12" fmla="*/ 7602054 w 7602054"/>
                      <a:gd name="connsiteY12" fmla="*/ 0 h 5112994"/>
                      <a:gd name="connsiteX13" fmla="*/ 7602054 w 7602054"/>
                      <a:gd name="connsiteY13" fmla="*/ 414721 h 5112994"/>
                      <a:gd name="connsiteX14" fmla="*/ 7602054 w 7602054"/>
                      <a:gd name="connsiteY14" fmla="*/ 1033961 h 5112994"/>
                      <a:gd name="connsiteX15" fmla="*/ 7602054 w 7602054"/>
                      <a:gd name="connsiteY15" fmla="*/ 1499812 h 5112994"/>
                      <a:gd name="connsiteX16" fmla="*/ 7602054 w 7602054"/>
                      <a:gd name="connsiteY16" fmla="*/ 2119052 h 5112994"/>
                      <a:gd name="connsiteX17" fmla="*/ 7602054 w 7602054"/>
                      <a:gd name="connsiteY17" fmla="*/ 2636032 h 5112994"/>
                      <a:gd name="connsiteX18" fmla="*/ 7602054 w 7602054"/>
                      <a:gd name="connsiteY18" fmla="*/ 3101883 h 5112994"/>
                      <a:gd name="connsiteX19" fmla="*/ 7602054 w 7602054"/>
                      <a:gd name="connsiteY19" fmla="*/ 3516604 h 5112994"/>
                      <a:gd name="connsiteX20" fmla="*/ 7602054 w 7602054"/>
                      <a:gd name="connsiteY20" fmla="*/ 3982454 h 5112994"/>
                      <a:gd name="connsiteX21" fmla="*/ 7602054 w 7602054"/>
                      <a:gd name="connsiteY21" fmla="*/ 4448305 h 5112994"/>
                      <a:gd name="connsiteX22" fmla="*/ 7602054 w 7602054"/>
                      <a:gd name="connsiteY22" fmla="*/ 5112994 h 5112994"/>
                      <a:gd name="connsiteX23" fmla="*/ 7017281 w 7602054"/>
                      <a:gd name="connsiteY23" fmla="*/ 5112994 h 5112994"/>
                      <a:gd name="connsiteX24" fmla="*/ 6280466 w 7602054"/>
                      <a:gd name="connsiteY24" fmla="*/ 5112994 h 5112994"/>
                      <a:gd name="connsiteX25" fmla="*/ 5695693 w 7602054"/>
                      <a:gd name="connsiteY25" fmla="*/ 5112994 h 5112994"/>
                      <a:gd name="connsiteX26" fmla="*/ 4958878 w 7602054"/>
                      <a:gd name="connsiteY26" fmla="*/ 5112994 h 5112994"/>
                      <a:gd name="connsiteX27" fmla="*/ 4374105 w 7602054"/>
                      <a:gd name="connsiteY27" fmla="*/ 5112994 h 5112994"/>
                      <a:gd name="connsiteX28" fmla="*/ 3713311 w 7602054"/>
                      <a:gd name="connsiteY28" fmla="*/ 5112994 h 5112994"/>
                      <a:gd name="connsiteX29" fmla="*/ 3356599 w 7602054"/>
                      <a:gd name="connsiteY29" fmla="*/ 5112994 h 5112994"/>
                      <a:gd name="connsiteX30" fmla="*/ 2619785 w 7602054"/>
                      <a:gd name="connsiteY30" fmla="*/ 5112994 h 5112994"/>
                      <a:gd name="connsiteX31" fmla="*/ 2111032 w 7602054"/>
                      <a:gd name="connsiteY31" fmla="*/ 5112994 h 5112994"/>
                      <a:gd name="connsiteX32" fmla="*/ 1450238 w 7602054"/>
                      <a:gd name="connsiteY32" fmla="*/ 5112994 h 5112994"/>
                      <a:gd name="connsiteX33" fmla="*/ 1093526 w 7602054"/>
                      <a:gd name="connsiteY33" fmla="*/ 5112994 h 5112994"/>
                      <a:gd name="connsiteX34" fmla="*/ 0 w 7602054"/>
                      <a:gd name="connsiteY34" fmla="*/ 5112994 h 5112994"/>
                      <a:gd name="connsiteX35" fmla="*/ 0 w 7602054"/>
                      <a:gd name="connsiteY35" fmla="*/ 4596013 h 5112994"/>
                      <a:gd name="connsiteX36" fmla="*/ 0 w 7602054"/>
                      <a:gd name="connsiteY36" fmla="*/ 4130163 h 5112994"/>
                      <a:gd name="connsiteX37" fmla="*/ 0 w 7602054"/>
                      <a:gd name="connsiteY37" fmla="*/ 3715442 h 5112994"/>
                      <a:gd name="connsiteX38" fmla="*/ 0 w 7602054"/>
                      <a:gd name="connsiteY38" fmla="*/ 3045072 h 5112994"/>
                      <a:gd name="connsiteX39" fmla="*/ 0 w 7602054"/>
                      <a:gd name="connsiteY39" fmla="*/ 2630351 h 5112994"/>
                      <a:gd name="connsiteX40" fmla="*/ 0 w 7602054"/>
                      <a:gd name="connsiteY40" fmla="*/ 2062241 h 5112994"/>
                      <a:gd name="connsiteX41" fmla="*/ 0 w 7602054"/>
                      <a:gd name="connsiteY41" fmla="*/ 1647520 h 5112994"/>
                      <a:gd name="connsiteX42" fmla="*/ 0 w 7602054"/>
                      <a:gd name="connsiteY42" fmla="*/ 1028280 h 5112994"/>
                      <a:gd name="connsiteX43" fmla="*/ 0 w 7602054"/>
                      <a:gd name="connsiteY43" fmla="*/ 0 h 51129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</a:cxnLst>
                    <a:rect l="l" t="t" r="r" b="b"/>
                    <a:pathLst>
                      <a:path w="7602054" h="5112994" fill="none" extrusionOk="0">
                        <a:moveTo>
                          <a:pt x="0" y="0"/>
                        </a:moveTo>
                        <a:cubicBezTo>
                          <a:pt x="146173" y="-54682"/>
                          <a:pt x="373300" y="64766"/>
                          <a:pt x="584773" y="0"/>
                        </a:cubicBezTo>
                        <a:cubicBezTo>
                          <a:pt x="796246" y="-64766"/>
                          <a:pt x="961853" y="32629"/>
                          <a:pt x="1093526" y="0"/>
                        </a:cubicBezTo>
                        <a:cubicBezTo>
                          <a:pt x="1225199" y="-32629"/>
                          <a:pt x="1469906" y="38737"/>
                          <a:pt x="1678300" y="0"/>
                        </a:cubicBezTo>
                        <a:cubicBezTo>
                          <a:pt x="1886694" y="-38737"/>
                          <a:pt x="2060964" y="78073"/>
                          <a:pt x="2339094" y="0"/>
                        </a:cubicBezTo>
                        <a:cubicBezTo>
                          <a:pt x="2617224" y="-78073"/>
                          <a:pt x="2856846" y="27843"/>
                          <a:pt x="2999887" y="0"/>
                        </a:cubicBezTo>
                        <a:cubicBezTo>
                          <a:pt x="3142928" y="-27843"/>
                          <a:pt x="3471483" y="48828"/>
                          <a:pt x="3660681" y="0"/>
                        </a:cubicBezTo>
                        <a:cubicBezTo>
                          <a:pt x="3849879" y="-48828"/>
                          <a:pt x="4223448" y="21829"/>
                          <a:pt x="4397496" y="0"/>
                        </a:cubicBezTo>
                        <a:cubicBezTo>
                          <a:pt x="4571544" y="-21829"/>
                          <a:pt x="4750241" y="50804"/>
                          <a:pt x="4982269" y="0"/>
                        </a:cubicBezTo>
                        <a:cubicBezTo>
                          <a:pt x="5214297" y="-50804"/>
                          <a:pt x="5418681" y="78630"/>
                          <a:pt x="5643063" y="0"/>
                        </a:cubicBezTo>
                        <a:cubicBezTo>
                          <a:pt x="5867445" y="-78630"/>
                          <a:pt x="6107593" y="57217"/>
                          <a:pt x="6227837" y="0"/>
                        </a:cubicBezTo>
                        <a:cubicBezTo>
                          <a:pt x="6348081" y="-57217"/>
                          <a:pt x="6556729" y="64844"/>
                          <a:pt x="6812610" y="0"/>
                        </a:cubicBezTo>
                        <a:cubicBezTo>
                          <a:pt x="7068491" y="-64844"/>
                          <a:pt x="7363200" y="85348"/>
                          <a:pt x="7602054" y="0"/>
                        </a:cubicBezTo>
                        <a:cubicBezTo>
                          <a:pt x="7642718" y="122084"/>
                          <a:pt x="7563907" y="279970"/>
                          <a:pt x="7602054" y="414721"/>
                        </a:cubicBezTo>
                        <a:cubicBezTo>
                          <a:pt x="7640201" y="549472"/>
                          <a:pt x="7534373" y="880856"/>
                          <a:pt x="7602054" y="1033961"/>
                        </a:cubicBezTo>
                        <a:cubicBezTo>
                          <a:pt x="7669735" y="1187066"/>
                          <a:pt x="7587873" y="1392813"/>
                          <a:pt x="7602054" y="1499812"/>
                        </a:cubicBezTo>
                        <a:cubicBezTo>
                          <a:pt x="7616235" y="1606811"/>
                          <a:pt x="7580316" y="1871479"/>
                          <a:pt x="7602054" y="2119052"/>
                        </a:cubicBezTo>
                        <a:cubicBezTo>
                          <a:pt x="7623792" y="2366625"/>
                          <a:pt x="7584291" y="2388665"/>
                          <a:pt x="7602054" y="2636032"/>
                        </a:cubicBezTo>
                        <a:cubicBezTo>
                          <a:pt x="7619817" y="2883399"/>
                          <a:pt x="7555725" y="2908676"/>
                          <a:pt x="7602054" y="3101883"/>
                        </a:cubicBezTo>
                        <a:cubicBezTo>
                          <a:pt x="7648383" y="3295090"/>
                          <a:pt x="7559777" y="3314102"/>
                          <a:pt x="7602054" y="3516604"/>
                        </a:cubicBezTo>
                        <a:cubicBezTo>
                          <a:pt x="7644331" y="3719106"/>
                          <a:pt x="7596148" y="3785393"/>
                          <a:pt x="7602054" y="3982454"/>
                        </a:cubicBezTo>
                        <a:cubicBezTo>
                          <a:pt x="7607960" y="4179515"/>
                          <a:pt x="7551934" y="4316607"/>
                          <a:pt x="7602054" y="4448305"/>
                        </a:cubicBezTo>
                        <a:cubicBezTo>
                          <a:pt x="7652174" y="4580003"/>
                          <a:pt x="7573906" y="4791765"/>
                          <a:pt x="7602054" y="5112994"/>
                        </a:cubicBezTo>
                        <a:cubicBezTo>
                          <a:pt x="7441340" y="5141735"/>
                          <a:pt x="7222198" y="5103993"/>
                          <a:pt x="7017281" y="5112994"/>
                        </a:cubicBezTo>
                        <a:cubicBezTo>
                          <a:pt x="6812364" y="5121995"/>
                          <a:pt x="6483242" y="5065649"/>
                          <a:pt x="6280466" y="5112994"/>
                        </a:cubicBezTo>
                        <a:cubicBezTo>
                          <a:pt x="6077690" y="5160339"/>
                          <a:pt x="5962591" y="5063230"/>
                          <a:pt x="5695693" y="5112994"/>
                        </a:cubicBezTo>
                        <a:cubicBezTo>
                          <a:pt x="5428795" y="5162758"/>
                          <a:pt x="5237670" y="5094336"/>
                          <a:pt x="4958878" y="5112994"/>
                        </a:cubicBezTo>
                        <a:cubicBezTo>
                          <a:pt x="4680086" y="5131652"/>
                          <a:pt x="4609311" y="5093848"/>
                          <a:pt x="4374105" y="5112994"/>
                        </a:cubicBezTo>
                        <a:cubicBezTo>
                          <a:pt x="4138899" y="5132140"/>
                          <a:pt x="3870632" y="5056892"/>
                          <a:pt x="3713311" y="5112994"/>
                        </a:cubicBezTo>
                        <a:cubicBezTo>
                          <a:pt x="3555990" y="5169096"/>
                          <a:pt x="3508579" y="5084070"/>
                          <a:pt x="3356599" y="5112994"/>
                        </a:cubicBezTo>
                        <a:cubicBezTo>
                          <a:pt x="3204619" y="5141918"/>
                          <a:pt x="2775442" y="5094990"/>
                          <a:pt x="2619785" y="5112994"/>
                        </a:cubicBezTo>
                        <a:cubicBezTo>
                          <a:pt x="2464128" y="5130998"/>
                          <a:pt x="2267579" y="5091039"/>
                          <a:pt x="2111032" y="5112994"/>
                        </a:cubicBezTo>
                        <a:cubicBezTo>
                          <a:pt x="1954485" y="5134949"/>
                          <a:pt x="1605793" y="5106730"/>
                          <a:pt x="1450238" y="5112994"/>
                        </a:cubicBezTo>
                        <a:cubicBezTo>
                          <a:pt x="1294683" y="5119258"/>
                          <a:pt x="1223765" y="5097831"/>
                          <a:pt x="1093526" y="5112994"/>
                        </a:cubicBezTo>
                        <a:cubicBezTo>
                          <a:pt x="963287" y="5128157"/>
                          <a:pt x="524005" y="5041376"/>
                          <a:pt x="0" y="5112994"/>
                        </a:cubicBezTo>
                        <a:cubicBezTo>
                          <a:pt x="-62036" y="4943862"/>
                          <a:pt x="13476" y="4753798"/>
                          <a:pt x="0" y="4596013"/>
                        </a:cubicBezTo>
                        <a:cubicBezTo>
                          <a:pt x="-13476" y="4438228"/>
                          <a:pt x="41036" y="4295589"/>
                          <a:pt x="0" y="4130163"/>
                        </a:cubicBezTo>
                        <a:cubicBezTo>
                          <a:pt x="-41036" y="3964737"/>
                          <a:pt x="14779" y="3806514"/>
                          <a:pt x="0" y="3715442"/>
                        </a:cubicBezTo>
                        <a:cubicBezTo>
                          <a:pt x="-14779" y="3624370"/>
                          <a:pt x="26453" y="3192618"/>
                          <a:pt x="0" y="3045072"/>
                        </a:cubicBezTo>
                        <a:cubicBezTo>
                          <a:pt x="-26453" y="2897526"/>
                          <a:pt x="21712" y="2807677"/>
                          <a:pt x="0" y="2630351"/>
                        </a:cubicBezTo>
                        <a:cubicBezTo>
                          <a:pt x="-21712" y="2453025"/>
                          <a:pt x="43103" y="2258337"/>
                          <a:pt x="0" y="2062241"/>
                        </a:cubicBezTo>
                        <a:cubicBezTo>
                          <a:pt x="-43103" y="1866145"/>
                          <a:pt x="3836" y="1845403"/>
                          <a:pt x="0" y="1647520"/>
                        </a:cubicBezTo>
                        <a:cubicBezTo>
                          <a:pt x="-3836" y="1449637"/>
                          <a:pt x="7412" y="1269893"/>
                          <a:pt x="0" y="1028280"/>
                        </a:cubicBezTo>
                        <a:cubicBezTo>
                          <a:pt x="-7412" y="786667"/>
                          <a:pt x="66194" y="455935"/>
                          <a:pt x="0" y="0"/>
                        </a:cubicBezTo>
                        <a:close/>
                      </a:path>
                      <a:path w="7602054" h="5112994" stroke="0" extrusionOk="0">
                        <a:moveTo>
                          <a:pt x="0" y="0"/>
                        </a:moveTo>
                        <a:cubicBezTo>
                          <a:pt x="125488" y="-14734"/>
                          <a:pt x="297368" y="10631"/>
                          <a:pt x="508753" y="0"/>
                        </a:cubicBezTo>
                        <a:cubicBezTo>
                          <a:pt x="720138" y="-10631"/>
                          <a:pt x="743966" y="3727"/>
                          <a:pt x="865465" y="0"/>
                        </a:cubicBezTo>
                        <a:cubicBezTo>
                          <a:pt x="986964" y="-3727"/>
                          <a:pt x="1432307" y="75180"/>
                          <a:pt x="1602279" y="0"/>
                        </a:cubicBezTo>
                        <a:cubicBezTo>
                          <a:pt x="1772251" y="-75180"/>
                          <a:pt x="1931035" y="6000"/>
                          <a:pt x="2111032" y="0"/>
                        </a:cubicBezTo>
                        <a:cubicBezTo>
                          <a:pt x="2291029" y="-6000"/>
                          <a:pt x="2516341" y="20865"/>
                          <a:pt x="2619785" y="0"/>
                        </a:cubicBezTo>
                        <a:cubicBezTo>
                          <a:pt x="2723229" y="-20865"/>
                          <a:pt x="3013274" y="45806"/>
                          <a:pt x="3356599" y="0"/>
                        </a:cubicBezTo>
                        <a:cubicBezTo>
                          <a:pt x="3699924" y="-45806"/>
                          <a:pt x="3677690" y="9047"/>
                          <a:pt x="3789332" y="0"/>
                        </a:cubicBezTo>
                        <a:cubicBezTo>
                          <a:pt x="3900974" y="-9047"/>
                          <a:pt x="4291754" y="54388"/>
                          <a:pt x="4526146" y="0"/>
                        </a:cubicBezTo>
                        <a:cubicBezTo>
                          <a:pt x="4760538" y="-54388"/>
                          <a:pt x="5000113" y="61195"/>
                          <a:pt x="5262960" y="0"/>
                        </a:cubicBezTo>
                        <a:cubicBezTo>
                          <a:pt x="5525807" y="-61195"/>
                          <a:pt x="5634085" y="7332"/>
                          <a:pt x="5847734" y="0"/>
                        </a:cubicBezTo>
                        <a:cubicBezTo>
                          <a:pt x="6061383" y="-7332"/>
                          <a:pt x="6259765" y="13599"/>
                          <a:pt x="6584548" y="0"/>
                        </a:cubicBezTo>
                        <a:cubicBezTo>
                          <a:pt x="6909331" y="-13599"/>
                          <a:pt x="6972879" y="2980"/>
                          <a:pt x="7093301" y="0"/>
                        </a:cubicBezTo>
                        <a:cubicBezTo>
                          <a:pt x="7213723" y="-2980"/>
                          <a:pt x="7446111" y="3638"/>
                          <a:pt x="7602054" y="0"/>
                        </a:cubicBezTo>
                        <a:cubicBezTo>
                          <a:pt x="7671515" y="255873"/>
                          <a:pt x="7598623" y="458050"/>
                          <a:pt x="7602054" y="619240"/>
                        </a:cubicBezTo>
                        <a:cubicBezTo>
                          <a:pt x="7605485" y="780430"/>
                          <a:pt x="7546554" y="1040362"/>
                          <a:pt x="7602054" y="1187351"/>
                        </a:cubicBezTo>
                        <a:cubicBezTo>
                          <a:pt x="7657554" y="1334340"/>
                          <a:pt x="7582895" y="1627247"/>
                          <a:pt x="7602054" y="1755461"/>
                        </a:cubicBezTo>
                        <a:cubicBezTo>
                          <a:pt x="7621213" y="1883675"/>
                          <a:pt x="7601890" y="2196877"/>
                          <a:pt x="7602054" y="2374702"/>
                        </a:cubicBezTo>
                        <a:cubicBezTo>
                          <a:pt x="7602218" y="2552527"/>
                          <a:pt x="7538347" y="2812649"/>
                          <a:pt x="7602054" y="2993942"/>
                        </a:cubicBezTo>
                        <a:cubicBezTo>
                          <a:pt x="7665761" y="3175235"/>
                          <a:pt x="7568658" y="3416984"/>
                          <a:pt x="7602054" y="3613182"/>
                        </a:cubicBezTo>
                        <a:cubicBezTo>
                          <a:pt x="7635450" y="3809380"/>
                          <a:pt x="7559699" y="3918804"/>
                          <a:pt x="7602054" y="4027903"/>
                        </a:cubicBezTo>
                        <a:cubicBezTo>
                          <a:pt x="7644409" y="4137002"/>
                          <a:pt x="7555284" y="4400388"/>
                          <a:pt x="7602054" y="4493754"/>
                        </a:cubicBezTo>
                        <a:cubicBezTo>
                          <a:pt x="7648824" y="4587120"/>
                          <a:pt x="7592840" y="4896315"/>
                          <a:pt x="7602054" y="5112994"/>
                        </a:cubicBezTo>
                        <a:cubicBezTo>
                          <a:pt x="7456697" y="5169287"/>
                          <a:pt x="7252741" y="5110179"/>
                          <a:pt x="7093301" y="5112994"/>
                        </a:cubicBezTo>
                        <a:cubicBezTo>
                          <a:pt x="6933861" y="5115809"/>
                          <a:pt x="6761332" y="5088223"/>
                          <a:pt x="6508528" y="5112994"/>
                        </a:cubicBezTo>
                        <a:cubicBezTo>
                          <a:pt x="6255724" y="5137765"/>
                          <a:pt x="6313392" y="5104520"/>
                          <a:pt x="6151816" y="5112994"/>
                        </a:cubicBezTo>
                        <a:cubicBezTo>
                          <a:pt x="5990240" y="5121468"/>
                          <a:pt x="5889889" y="5092570"/>
                          <a:pt x="5795104" y="5112994"/>
                        </a:cubicBezTo>
                        <a:cubicBezTo>
                          <a:pt x="5700319" y="5133418"/>
                          <a:pt x="5411408" y="5107129"/>
                          <a:pt x="5210331" y="5112994"/>
                        </a:cubicBezTo>
                        <a:cubicBezTo>
                          <a:pt x="5009254" y="5118859"/>
                          <a:pt x="4970425" y="5068365"/>
                          <a:pt x="4777599" y="5112994"/>
                        </a:cubicBezTo>
                        <a:cubicBezTo>
                          <a:pt x="4584773" y="5157623"/>
                          <a:pt x="4435891" y="5065501"/>
                          <a:pt x="4116805" y="5112994"/>
                        </a:cubicBezTo>
                        <a:cubicBezTo>
                          <a:pt x="3797719" y="5160487"/>
                          <a:pt x="3882015" y="5072927"/>
                          <a:pt x="3684072" y="5112994"/>
                        </a:cubicBezTo>
                        <a:cubicBezTo>
                          <a:pt x="3486129" y="5153061"/>
                          <a:pt x="3317505" y="5103729"/>
                          <a:pt x="3023278" y="5112994"/>
                        </a:cubicBezTo>
                        <a:cubicBezTo>
                          <a:pt x="2729051" y="5122259"/>
                          <a:pt x="2819320" y="5083182"/>
                          <a:pt x="2666567" y="5112994"/>
                        </a:cubicBezTo>
                        <a:cubicBezTo>
                          <a:pt x="2513814" y="5142806"/>
                          <a:pt x="2156689" y="5034288"/>
                          <a:pt x="2005773" y="5112994"/>
                        </a:cubicBezTo>
                        <a:cubicBezTo>
                          <a:pt x="1854857" y="5191700"/>
                          <a:pt x="1704421" y="5109530"/>
                          <a:pt x="1573040" y="5112994"/>
                        </a:cubicBezTo>
                        <a:cubicBezTo>
                          <a:pt x="1441659" y="5116458"/>
                          <a:pt x="1377239" y="5081651"/>
                          <a:pt x="1216329" y="5112994"/>
                        </a:cubicBezTo>
                        <a:cubicBezTo>
                          <a:pt x="1055419" y="5144337"/>
                          <a:pt x="951111" y="5071065"/>
                          <a:pt x="783596" y="5112994"/>
                        </a:cubicBezTo>
                        <a:cubicBezTo>
                          <a:pt x="616081" y="5154923"/>
                          <a:pt x="210234" y="5092475"/>
                          <a:pt x="0" y="5112994"/>
                        </a:cubicBezTo>
                        <a:cubicBezTo>
                          <a:pt x="-50326" y="4959388"/>
                          <a:pt x="43714" y="4825508"/>
                          <a:pt x="0" y="4647143"/>
                        </a:cubicBezTo>
                        <a:cubicBezTo>
                          <a:pt x="-43714" y="4468778"/>
                          <a:pt x="7084" y="4341049"/>
                          <a:pt x="0" y="4232423"/>
                        </a:cubicBezTo>
                        <a:cubicBezTo>
                          <a:pt x="-7084" y="4123797"/>
                          <a:pt x="29240" y="3916631"/>
                          <a:pt x="0" y="3817702"/>
                        </a:cubicBezTo>
                        <a:cubicBezTo>
                          <a:pt x="-29240" y="3718773"/>
                          <a:pt x="65436" y="3358743"/>
                          <a:pt x="0" y="3198462"/>
                        </a:cubicBezTo>
                        <a:cubicBezTo>
                          <a:pt x="-65436" y="3038181"/>
                          <a:pt x="20041" y="2893882"/>
                          <a:pt x="0" y="2783741"/>
                        </a:cubicBezTo>
                        <a:cubicBezTo>
                          <a:pt x="-20041" y="2673600"/>
                          <a:pt x="384" y="2342523"/>
                          <a:pt x="0" y="2215631"/>
                        </a:cubicBezTo>
                        <a:cubicBezTo>
                          <a:pt x="-384" y="2088739"/>
                          <a:pt x="40722" y="1860560"/>
                          <a:pt x="0" y="1749780"/>
                        </a:cubicBezTo>
                        <a:cubicBezTo>
                          <a:pt x="-40722" y="1639000"/>
                          <a:pt x="68130" y="1399282"/>
                          <a:pt x="0" y="1181670"/>
                        </a:cubicBezTo>
                        <a:cubicBezTo>
                          <a:pt x="-68130" y="964058"/>
                          <a:pt x="22259" y="836148"/>
                          <a:pt x="0" y="613559"/>
                        </a:cubicBezTo>
                        <a:cubicBezTo>
                          <a:pt x="-22259" y="390970"/>
                          <a:pt x="61736" y="29904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77FC0570-2E5E-70BA-D6EA-97031E42235F}"/>
              </a:ext>
            </a:extLst>
          </p:cNvPr>
          <p:cNvSpPr txBox="1"/>
          <p:nvPr/>
        </p:nvSpPr>
        <p:spPr>
          <a:xfrm>
            <a:off x="223342" y="1500152"/>
            <a:ext cx="329797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• Subsidência e Deposição: A espessura sedimentar total acumulada durante esta fase excede os 6 km .</a:t>
            </a:r>
          </a:p>
          <a:p>
            <a:r>
              <a:rPr lang="pt-BR" dirty="0"/>
              <a:t>    ◦ O início desta fase (Rio da Serra Inferior) é marcado pela deposição dos folhelhos escuros do Membro Tauá (Formação Candeias) em uma depressão onde a taxa de subsidência superou a taxa de sedimentação. Estes folhelhos, juntamente com os folhelhos do Membro Gomo, incluem as principais rochas geradoras (folhelhos lacustres cinza-escuros, </a:t>
            </a:r>
            <a:r>
              <a:rPr lang="pt-BR" dirty="0" err="1"/>
              <a:t>anóxicos</a:t>
            </a:r>
            <a:r>
              <a:rPr lang="pt-BR" dirty="0"/>
              <a:t>) da Bacia do Recôncavo.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BFCFB8F-135A-E638-FD68-CC48F3B0F077}"/>
              </a:ext>
            </a:extLst>
          </p:cNvPr>
          <p:cNvSpPr txBox="1"/>
          <p:nvPr/>
        </p:nvSpPr>
        <p:spPr>
          <a:xfrm>
            <a:off x="8007504" y="2966686"/>
            <a:ext cx="294299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</a:rPr>
              <a:t>FALHA DE SALVADOR</a:t>
            </a:r>
          </a:p>
          <a:p>
            <a:endParaRPr lang="pt-BR" sz="1400" b="1" dirty="0">
              <a:solidFill>
                <a:schemeClr val="bg1"/>
              </a:solidFill>
            </a:endParaRPr>
          </a:p>
          <a:p>
            <a:r>
              <a:rPr lang="pt-BR" sz="1400" b="1" dirty="0">
                <a:solidFill>
                  <a:schemeClr val="bg1"/>
                </a:solidFill>
              </a:rPr>
              <a:t>TIPO_ESTRU: Falha extensional (normal)</a:t>
            </a:r>
          </a:p>
          <a:p>
            <a:r>
              <a:rPr lang="pt-BR" sz="1400" b="1" dirty="0">
                <a:solidFill>
                  <a:schemeClr val="bg1"/>
                </a:solidFill>
              </a:rPr>
              <a:t>NOME_ESTRU: FALHA DE SALVADOR</a:t>
            </a:r>
          </a:p>
          <a:p>
            <a:r>
              <a:rPr lang="pt-BR" sz="1400" b="1" dirty="0">
                <a:solidFill>
                  <a:schemeClr val="bg1"/>
                </a:solidFill>
              </a:rPr>
              <a:t>SENTIDO_DE: BLOCO BAIXO A NW</a:t>
            </a:r>
          </a:p>
          <a:p>
            <a:r>
              <a:rPr lang="pt-BR" sz="1400" b="1" dirty="0">
                <a:solidFill>
                  <a:schemeClr val="bg1"/>
                </a:solidFill>
              </a:rPr>
              <a:t>ANG_NORTE: 34</a:t>
            </a:r>
          </a:p>
          <a:p>
            <a:r>
              <a:rPr lang="pt-BR" sz="1400" b="1" dirty="0">
                <a:solidFill>
                  <a:schemeClr val="bg1"/>
                </a:solidFill>
              </a:rPr>
              <a:t>MERGULHO: 0</a:t>
            </a:r>
          </a:p>
          <a:p>
            <a:r>
              <a:rPr lang="pt-BR" sz="1400" b="1" dirty="0">
                <a:solidFill>
                  <a:schemeClr val="bg1"/>
                </a:solidFill>
              </a:rPr>
              <a:t>DESLOC: 0</a:t>
            </a:r>
          </a:p>
          <a:p>
            <a:r>
              <a:rPr lang="pt-BR" sz="1400" b="1" dirty="0">
                <a:solidFill>
                  <a:schemeClr val="bg1"/>
                </a:solidFill>
              </a:rPr>
              <a:t>IDADE_DESL: 0</a:t>
            </a:r>
          </a:p>
          <a:p>
            <a:r>
              <a:rPr lang="pt-BR" sz="1400" b="1" dirty="0">
                <a:solidFill>
                  <a:schemeClr val="bg1"/>
                </a:solidFill>
              </a:rPr>
              <a:t>SENTIDO: NW</a:t>
            </a:r>
          </a:p>
          <a:p>
            <a:r>
              <a:rPr lang="pt-BR" sz="1400" b="1" dirty="0">
                <a:solidFill>
                  <a:schemeClr val="bg1"/>
                </a:solidFill>
              </a:rPr>
              <a:t>REGIME_TEC: Extensional</a:t>
            </a:r>
          </a:p>
          <a:p>
            <a:r>
              <a:rPr lang="pt-BR" sz="1400" b="1" dirty="0">
                <a:solidFill>
                  <a:schemeClr val="bg1"/>
                </a:solidFill>
              </a:rPr>
              <a:t>RUMO: NW</a:t>
            </a:r>
          </a:p>
          <a:p>
            <a:r>
              <a:rPr lang="pt-BR" sz="1400" b="1" dirty="0">
                <a:solidFill>
                  <a:schemeClr val="bg1"/>
                </a:solidFill>
              </a:rPr>
              <a:t>ORIGEM: São Francisco</a:t>
            </a:r>
          </a:p>
        </p:txBody>
      </p:sp>
      <p:sp>
        <p:nvSpPr>
          <p:cNvPr id="9" name="Seta: Dobrada 8">
            <a:extLst>
              <a:ext uri="{FF2B5EF4-FFF2-40B4-BE49-F238E27FC236}">
                <a16:creationId xmlns:a16="http://schemas.microsoft.com/office/drawing/2014/main" id="{8FE98704-97D4-E007-CA7F-494C0E08BD2E}"/>
              </a:ext>
            </a:extLst>
          </p:cNvPr>
          <p:cNvSpPr/>
          <p:nvPr/>
        </p:nvSpPr>
        <p:spPr>
          <a:xfrm rot="14271922">
            <a:off x="5765624" y="3742505"/>
            <a:ext cx="1831217" cy="1332577"/>
          </a:xfrm>
          <a:prstGeom prst="bentArrow">
            <a:avLst>
              <a:gd name="adj1" fmla="val 25000"/>
              <a:gd name="adj2" fmla="val 26058"/>
              <a:gd name="adj3" fmla="val 25000"/>
              <a:gd name="adj4" fmla="val 4375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432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8BDE5B-47E4-6F84-FB16-26E9C6779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059" y="153252"/>
            <a:ext cx="10515600" cy="1325563"/>
          </a:xfrm>
        </p:spPr>
        <p:txBody>
          <a:bodyPr>
            <a:normAutofit/>
          </a:bodyPr>
          <a:lstStyle/>
          <a:p>
            <a:r>
              <a:rPr lang="pt-BR" sz="4000" dirty="0"/>
              <a:t>Falha de extensional próxima a Feira de Santana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BCAA618D-98D5-C604-BFDF-8714820344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14947" y="1377988"/>
            <a:ext cx="8280994" cy="5002973"/>
          </a:xfrm>
          <a:prstGeom prst="rect">
            <a:avLst/>
          </a:prstGeom>
        </p:spPr>
      </p:pic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CB97E14F-D215-B67A-978C-B82C97B19C73}"/>
              </a:ext>
            </a:extLst>
          </p:cNvPr>
          <p:cNvSpPr/>
          <p:nvPr/>
        </p:nvSpPr>
        <p:spPr>
          <a:xfrm rot="2185775">
            <a:off x="9231537" y="4182543"/>
            <a:ext cx="1193181" cy="524107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3DC4BB1-33A2-D2F0-535A-DF80C0ED3088}"/>
              </a:ext>
            </a:extLst>
          </p:cNvPr>
          <p:cNvSpPr txBox="1"/>
          <p:nvPr/>
        </p:nvSpPr>
        <p:spPr>
          <a:xfrm>
            <a:off x="80010" y="1310775"/>
            <a:ext cx="353493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 falha extensional normal próxima à região de Feira de Santana, especificamente na BR-101, km 149  é classificada como uma falha de crescimento, de formação arenítica. Esta falha possui uma direção NE-SW, com mergulho variando de 70º a 63º. Apresenta espessamento das camadas no bloco baixo, onde a espessura de uma camada-chave de arenito aumenta de 0,2 m para 2,7 m à medida que se aproxima do plano da falha, indicando que o movimento extensional foi contemporâneo à sedimentação. O rejeito medido nesta estrutura é de 7,5 metros.</a:t>
            </a:r>
          </a:p>
        </p:txBody>
      </p:sp>
    </p:spTree>
    <p:extLst>
      <p:ext uri="{BB962C8B-B14F-4D97-AF65-F5344CB8AC3E}">
        <p14:creationId xmlns:p14="http://schemas.microsoft.com/office/powerpoint/2010/main" val="3219670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29AEB1-8164-2D94-7047-08E210FBB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618" y="588150"/>
            <a:ext cx="10515600" cy="716543"/>
          </a:xfrm>
        </p:spPr>
        <p:txBody>
          <a:bodyPr/>
          <a:lstStyle/>
          <a:p>
            <a:r>
              <a:rPr lang="pt-BR" dirty="0"/>
              <a:t>Falha extensional de Maragogipe.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2443F84-41D7-EA26-D45A-19FA2CE7FD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54457" y="2094939"/>
            <a:ext cx="6611925" cy="4351338"/>
          </a:xfrm>
          <a:prstGeom prst="rect">
            <a:avLst/>
          </a:prstGeom>
        </p:spPr>
      </p:pic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B5DBB05-6459-ED24-37C1-642F9595304E}"/>
              </a:ext>
            </a:extLst>
          </p:cNvPr>
          <p:cNvSpPr/>
          <p:nvPr/>
        </p:nvSpPr>
        <p:spPr>
          <a:xfrm rot="2185775">
            <a:off x="7751949" y="4008555"/>
            <a:ext cx="1193181" cy="524107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64CCB1F-CB54-4008-B429-3ABB5EC23D3C}"/>
              </a:ext>
            </a:extLst>
          </p:cNvPr>
          <p:cNvSpPr txBox="1"/>
          <p:nvPr/>
        </p:nvSpPr>
        <p:spPr>
          <a:xfrm>
            <a:off x="325618" y="1690688"/>
            <a:ext cx="476993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Falha de Maragogipe é um limite geológico da Bacia do Recôncavo, localizada no estado da Bahia, que separa a bacia do </a:t>
            </a:r>
            <a:r>
              <a:rPr lang="pt-BR" dirty="0" err="1"/>
              <a:t>cráton</a:t>
            </a:r>
            <a:r>
              <a:rPr lang="pt-BR" dirty="0"/>
              <a:t> para oeste. Atuando como um dos limites estruturais da bacia, que é um meio-</a:t>
            </a:r>
            <a:r>
              <a:rPr lang="pt-BR" dirty="0" err="1"/>
              <a:t>gráben</a:t>
            </a:r>
            <a:r>
              <a:rPr lang="pt-BR" dirty="0"/>
              <a:t> com orientação NE-SW, a Falha de Maragogipe representa uma falha de borda a oeste da bacia. </a:t>
            </a:r>
          </a:p>
          <a:p>
            <a:r>
              <a:rPr lang="pt-BR" b="1" dirty="0"/>
              <a:t>Localização:</a:t>
            </a:r>
            <a:r>
              <a:rPr lang="pt-BR" dirty="0"/>
              <a:t> Define o limite oeste da Bacia do Recôncavo.</a:t>
            </a:r>
          </a:p>
          <a:p>
            <a:r>
              <a:rPr lang="pt-BR" b="1" dirty="0"/>
              <a:t>Orientação:</a:t>
            </a:r>
            <a:r>
              <a:rPr lang="pt-BR" dirty="0"/>
              <a:t> Apresenta uma orientação geral de aproximadamente 10º ao norte (N10º).</a:t>
            </a:r>
          </a:p>
          <a:p>
            <a:r>
              <a:rPr lang="pt-BR" b="1" dirty="0"/>
              <a:t>Função:</a:t>
            </a:r>
            <a:r>
              <a:rPr lang="pt-BR" dirty="0"/>
              <a:t> Funciona como um limite de borda da bacia sedimentar do Recôncavo, que é caracterizada como um meio-</a:t>
            </a:r>
            <a:r>
              <a:rPr lang="pt-BR" dirty="0" err="1"/>
              <a:t>gráben</a:t>
            </a:r>
            <a:r>
              <a:rPr lang="pt-BR" dirty="0"/>
              <a:t>. </a:t>
            </a:r>
          </a:p>
          <a:p>
            <a:endParaRPr lang="pt-BR" dirty="0"/>
          </a:p>
          <a:p>
            <a:r>
              <a:rPr lang="pt-BR" sz="1200" dirty="0"/>
              <a:t>Fonte: ASPECTOS HIDROGEOLÓGICOS DA PORÇÃO LESTE</a:t>
            </a:r>
          </a:p>
          <a:p>
            <a:r>
              <a:rPr lang="pt-BR" sz="1200" dirty="0"/>
              <a:t>DA BACIA DO RECÔNCAVO NORTE - BAHIA</a:t>
            </a:r>
          </a:p>
        </p:txBody>
      </p:sp>
    </p:spTree>
    <p:extLst>
      <p:ext uri="{BB962C8B-B14F-4D97-AF65-F5344CB8AC3E}">
        <p14:creationId xmlns:p14="http://schemas.microsoft.com/office/powerpoint/2010/main" val="882908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739936-B058-5ACF-7C65-4F4C4CC34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965" y="547668"/>
            <a:ext cx="10515600" cy="738846"/>
          </a:xfrm>
        </p:spPr>
        <p:txBody>
          <a:bodyPr/>
          <a:lstStyle/>
          <a:p>
            <a:r>
              <a:rPr lang="pt-BR" dirty="0"/>
              <a:t>Falhas transcorrentes de Itororó e de Itabuna.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78084A3F-6902-D9EB-72DC-510B47D409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22114" y="1970591"/>
            <a:ext cx="6498190" cy="435133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782FF0E-0D04-0FDA-D22D-5B6E18B85F7F}"/>
              </a:ext>
            </a:extLst>
          </p:cNvPr>
          <p:cNvSpPr txBox="1"/>
          <p:nvPr/>
        </p:nvSpPr>
        <p:spPr>
          <a:xfrm>
            <a:off x="236965" y="1970591"/>
            <a:ext cx="475878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As zonas de cisalhamento transcorrente de Itabuna–Itaju do Colônia (predominantemente </a:t>
            </a:r>
            <a:r>
              <a:rPr lang="pt-BR" dirty="0" err="1"/>
              <a:t>dextral</a:t>
            </a:r>
            <a:r>
              <a:rPr lang="pt-BR" dirty="0"/>
              <a:t>, ~108 km) e de Itororó (predominantemente </a:t>
            </a:r>
            <a:r>
              <a:rPr lang="pt-BR" dirty="0" err="1"/>
              <a:t>sinistral</a:t>
            </a:r>
            <a:r>
              <a:rPr lang="pt-BR" dirty="0"/>
              <a:t>, ~116 km) são estruturas lineares de grande extensão no sul da Bahia que acomodam deslocamentos laterais no embasamento cristalino. Essas zonas segmentam blocos, reativam descontinuidades pré-existentes e condicionam lineamentos e drenagens regionais; sua atuação em diferentes episódios tectônicos ajudou a organizar o arcabouço estrutural que influencia, ao norte, a borda e a compartimentação do Recôncavo.</a:t>
            </a:r>
          </a:p>
        </p:txBody>
      </p:sp>
    </p:spTree>
    <p:extLst>
      <p:ext uri="{BB962C8B-B14F-4D97-AF65-F5344CB8AC3E}">
        <p14:creationId xmlns:p14="http://schemas.microsoft.com/office/powerpoint/2010/main" val="1406705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E116794-392A-2942-DFD8-B5055DE4AB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4814" y="1846427"/>
            <a:ext cx="9802812" cy="1477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rgbClr val="131314"/>
                </a:solidFill>
                <a:effectLst/>
                <a:latin typeface="Google Sans Text"/>
              </a:rPr>
              <a:t>MAGNAVITA, Luciano Portugal; SILVA, Roberto Rosa da; SANCHES, 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rgbClr val="131314"/>
                </a:solidFill>
                <a:effectLst/>
                <a:latin typeface="Google Sans Text"/>
              </a:rPr>
              <a:t>Christóvam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rgbClr val="131314"/>
                </a:solidFill>
                <a:effectLst/>
                <a:latin typeface="Google Sans Text"/>
              </a:rPr>
              <a:t> Penteado.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131314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131314"/>
                </a:solidFill>
                <a:effectLst/>
                <a:latin typeface="Google Sans Text"/>
              </a:rPr>
              <a:t>Guia de Campo da Bacia do Recôncavo, NE do Brasil. In: ROTEIROS GEOLÓGICOS. [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rgbClr val="131314"/>
                </a:solidFill>
                <a:effectLst/>
                <a:latin typeface="Google Sans Text"/>
              </a:rPr>
              <a:t>S.l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131314"/>
                </a:solidFill>
                <a:effectLst/>
                <a:latin typeface="Google Sans Text"/>
              </a:rPr>
              <a:t>.: s.n., s.d.], p.-74.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800" dirty="0">
              <a:solidFill>
                <a:srgbClr val="131314"/>
              </a:solidFill>
              <a:latin typeface="Google Sans Text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1800" b="1" dirty="0"/>
              <a:t>GOOGLE.</a:t>
            </a:r>
            <a:r>
              <a:rPr lang="pt-BR" sz="1800" dirty="0"/>
              <a:t> </a:t>
            </a:r>
            <a:r>
              <a:rPr lang="pt-BR" sz="1800" b="1" dirty="0"/>
              <a:t>Google Earth Pro.</a:t>
            </a:r>
            <a:r>
              <a:rPr lang="pt-BR" sz="1800" dirty="0"/>
              <a:t> Versão </a:t>
            </a:r>
            <a:r>
              <a:rPr lang="pt-BR" sz="1800" dirty="0">
                <a:effectLst/>
              </a:rPr>
              <a:t>7.3.6.1044 </a:t>
            </a:r>
            <a:r>
              <a:rPr lang="pt-BR" sz="1800" dirty="0"/>
              <a:t>[</a:t>
            </a:r>
            <a:r>
              <a:rPr lang="pt-BR" sz="1800" dirty="0" err="1"/>
              <a:t>S.l</a:t>
            </a:r>
            <a:r>
              <a:rPr lang="pt-BR" sz="1800" dirty="0"/>
              <a:t>.]: Google LLC, 2024. 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1800" dirty="0"/>
              <a:t>Disponível em: https://www.google.com</a:t>
            </a:r>
            <a:r>
              <a:rPr lang="pt-BR" sz="1800" dirty="0">
                <a:effectLst/>
              </a:rPr>
              <a:t>7.3</a:t>
            </a:r>
            <a:r>
              <a:rPr lang="pt-BR" sz="1800" dirty="0"/>
              <a:t>/</a:t>
            </a:r>
            <a:r>
              <a:rPr lang="pt-BR" sz="1800" dirty="0" err="1"/>
              <a:t>earth</a:t>
            </a:r>
            <a:r>
              <a:rPr lang="pt-BR" sz="1800" dirty="0"/>
              <a:t>/</a:t>
            </a:r>
            <a:r>
              <a:rPr lang="pt-BR" sz="1800" dirty="0" err="1"/>
              <a:t>versions</a:t>
            </a:r>
            <a:r>
              <a:rPr lang="pt-BR" sz="1800" dirty="0"/>
              <a:t>/. Acesso em: 08 out. 2025.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1DEEDED-90FF-D902-1D9F-153FE4E0996A}"/>
              </a:ext>
            </a:extLst>
          </p:cNvPr>
          <p:cNvSpPr txBox="1"/>
          <p:nvPr/>
        </p:nvSpPr>
        <p:spPr>
          <a:xfrm>
            <a:off x="514814" y="1215483"/>
            <a:ext cx="2854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Referências.</a:t>
            </a:r>
          </a:p>
        </p:txBody>
      </p:sp>
    </p:spTree>
    <p:extLst>
      <p:ext uri="{BB962C8B-B14F-4D97-AF65-F5344CB8AC3E}">
        <p14:creationId xmlns:p14="http://schemas.microsoft.com/office/powerpoint/2010/main" val="10755482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</TotalTime>
  <Words>805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Google Sans Text</vt:lpstr>
      <vt:lpstr>Tema do Office</vt:lpstr>
      <vt:lpstr>Falhas Geológicas no Recôncavo Baiano. Jose Mauro X. Elsas</vt:lpstr>
      <vt:lpstr>Um breve histórico.</vt:lpstr>
      <vt:lpstr>Um breve histórico.</vt:lpstr>
      <vt:lpstr>Falha de Salvador.</vt:lpstr>
      <vt:lpstr>Falha de extensional próxima a Feira de Santana</vt:lpstr>
      <vt:lpstr>Falha extensional de Maragogipe.</vt:lpstr>
      <vt:lpstr>Falhas transcorrentes de Itororó e de Itabuna.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Mauro Elsas</dc:creator>
  <cp:lastModifiedBy>Jose Mauro Elsas</cp:lastModifiedBy>
  <cp:revision>1</cp:revision>
  <dcterms:created xsi:type="dcterms:W3CDTF">2025-10-08T11:40:11Z</dcterms:created>
  <dcterms:modified xsi:type="dcterms:W3CDTF">2025-10-08T22:39:46Z</dcterms:modified>
</cp:coreProperties>
</file>