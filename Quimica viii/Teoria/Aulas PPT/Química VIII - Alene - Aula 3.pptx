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notesMasterIdLst>
    <p:notesMasterId r:id="rId39"/>
  </p:notesMasterIdLst>
  <p:sldIdLst>
    <p:sldId id="256" r:id="rId2"/>
    <p:sldId id="348" r:id="rId3"/>
    <p:sldId id="319" r:id="rId4"/>
    <p:sldId id="350" r:id="rId5"/>
    <p:sldId id="351" r:id="rId6"/>
    <p:sldId id="354" r:id="rId7"/>
    <p:sldId id="353" r:id="rId8"/>
    <p:sldId id="355" r:id="rId9"/>
    <p:sldId id="357" r:id="rId10"/>
    <p:sldId id="356" r:id="rId11"/>
    <p:sldId id="358" r:id="rId12"/>
    <p:sldId id="359" r:id="rId13"/>
    <p:sldId id="361" r:id="rId14"/>
    <p:sldId id="362" r:id="rId15"/>
    <p:sldId id="363" r:id="rId16"/>
    <p:sldId id="365" r:id="rId17"/>
    <p:sldId id="364" r:id="rId18"/>
    <p:sldId id="367" r:id="rId19"/>
    <p:sldId id="378" r:id="rId20"/>
    <p:sldId id="368" r:id="rId21"/>
    <p:sldId id="369" r:id="rId22"/>
    <p:sldId id="1246" r:id="rId23"/>
    <p:sldId id="1249" r:id="rId24"/>
    <p:sldId id="1250" r:id="rId25"/>
    <p:sldId id="380" r:id="rId26"/>
    <p:sldId id="370" r:id="rId27"/>
    <p:sldId id="371" r:id="rId28"/>
    <p:sldId id="372" r:id="rId29"/>
    <p:sldId id="373" r:id="rId30"/>
    <p:sldId id="1260" r:id="rId31"/>
    <p:sldId id="1261" r:id="rId32"/>
    <p:sldId id="381" r:id="rId33"/>
    <p:sldId id="374" r:id="rId34"/>
    <p:sldId id="375" r:id="rId35"/>
    <p:sldId id="376" r:id="rId36"/>
    <p:sldId id="377" r:id="rId37"/>
    <p:sldId id="37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4C55E-8A35-47BD-924D-80EEE3D3ED4E}" v="1" dt="2025-03-28T17:57:11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ne Dutra" userId="8ec748416087b198" providerId="LiveId" clId="{3414E3C5-EF46-485B-9CFF-E059073E833B}"/>
    <pc:docChg chg="undo custSel addSld delSld modSld sldOrd">
      <pc:chgData name="Alene Dutra" userId="8ec748416087b198" providerId="LiveId" clId="{3414E3C5-EF46-485B-9CFF-E059073E833B}" dt="2025-03-26T15:04:29.804" v="437" actId="12"/>
      <pc:docMkLst>
        <pc:docMk/>
      </pc:docMkLst>
      <pc:sldChg chg="modAnim">
        <pc:chgData name="Alene Dutra" userId="8ec748416087b198" providerId="LiveId" clId="{3414E3C5-EF46-485B-9CFF-E059073E833B}" dt="2025-03-26T15:01:34.752" v="430"/>
        <pc:sldMkLst>
          <pc:docMk/>
          <pc:sldMk cId="371982725" sldId="348"/>
        </pc:sldMkLst>
      </pc:sldChg>
      <pc:sldChg chg="modAnim">
        <pc:chgData name="Alene Dutra" userId="8ec748416087b198" providerId="LiveId" clId="{3414E3C5-EF46-485B-9CFF-E059073E833B}" dt="2025-03-26T15:01:38.772" v="431"/>
        <pc:sldMkLst>
          <pc:docMk/>
          <pc:sldMk cId="452746128" sldId="349"/>
        </pc:sldMkLst>
      </pc:sldChg>
      <pc:sldChg chg="modSp mod">
        <pc:chgData name="Alene Dutra" userId="8ec748416087b198" providerId="LiveId" clId="{3414E3C5-EF46-485B-9CFF-E059073E833B}" dt="2025-03-26T15:04:29.804" v="437" actId="12"/>
        <pc:sldMkLst>
          <pc:docMk/>
          <pc:sldMk cId="2627149065" sldId="363"/>
        </pc:sldMkLst>
      </pc:sldChg>
      <pc:sldChg chg="modSp mod">
        <pc:chgData name="Alene Dutra" userId="8ec748416087b198" providerId="LiveId" clId="{3414E3C5-EF46-485B-9CFF-E059073E833B}" dt="2025-03-26T14:02:15.128" v="16" actId="207"/>
        <pc:sldMkLst>
          <pc:docMk/>
          <pc:sldMk cId="870627202" sldId="372"/>
        </pc:sldMkLst>
      </pc:sldChg>
      <pc:sldChg chg="modSp">
        <pc:chgData name="Alene Dutra" userId="8ec748416087b198" providerId="LiveId" clId="{3414E3C5-EF46-485B-9CFF-E059073E833B}" dt="2025-03-26T14:03:46.679" v="19" actId="113"/>
        <pc:sldMkLst>
          <pc:docMk/>
          <pc:sldMk cId="2203514783" sldId="376"/>
        </pc:sldMkLst>
      </pc:sldChg>
      <pc:sldChg chg="add">
        <pc:chgData name="Alene Dutra" userId="8ec748416087b198" providerId="LiveId" clId="{3414E3C5-EF46-485B-9CFF-E059073E833B}" dt="2025-03-26T14:39:26.305" v="398"/>
        <pc:sldMkLst>
          <pc:docMk/>
          <pc:sldMk cId="763265012" sldId="378"/>
        </pc:sldMkLst>
      </pc:sldChg>
      <pc:sldChg chg="del">
        <pc:chgData name="Alene Dutra" userId="8ec748416087b198" providerId="LiveId" clId="{3414E3C5-EF46-485B-9CFF-E059073E833B}" dt="2025-03-26T14:39:22.311" v="397" actId="2696"/>
        <pc:sldMkLst>
          <pc:docMk/>
          <pc:sldMk cId="1759118823" sldId="378"/>
        </pc:sldMkLst>
      </pc:sldChg>
      <pc:sldChg chg="modSp">
        <pc:chgData name="Alene Dutra" userId="8ec748416087b198" providerId="LiveId" clId="{3414E3C5-EF46-485B-9CFF-E059073E833B}" dt="2025-03-26T14:59:26.821" v="429" actId="20577"/>
        <pc:sldMkLst>
          <pc:docMk/>
          <pc:sldMk cId="838447700" sldId="379"/>
        </pc:sldMkLst>
      </pc:sldChg>
      <pc:sldChg chg="add">
        <pc:chgData name="Alene Dutra" userId="8ec748416087b198" providerId="LiveId" clId="{3414E3C5-EF46-485B-9CFF-E059073E833B}" dt="2025-03-26T14:35:17.769" v="322"/>
        <pc:sldMkLst>
          <pc:docMk/>
          <pc:sldMk cId="2726431520" sldId="380"/>
        </pc:sldMkLst>
      </pc:sldChg>
      <pc:sldChg chg="del">
        <pc:chgData name="Alene Dutra" userId="8ec748416087b198" providerId="LiveId" clId="{3414E3C5-EF46-485B-9CFF-E059073E833B}" dt="2025-03-26T14:35:14.242" v="321" actId="2696"/>
        <pc:sldMkLst>
          <pc:docMk/>
          <pc:sldMk cId="3773725425" sldId="380"/>
        </pc:sldMkLst>
      </pc:sldChg>
      <pc:sldChg chg="addSp delSp modSp add mod">
        <pc:chgData name="Alene Dutra" userId="8ec748416087b198" providerId="LiveId" clId="{3414E3C5-EF46-485B-9CFF-E059073E833B}" dt="2025-03-26T14:35:04.487" v="320"/>
        <pc:sldMkLst>
          <pc:docMk/>
          <pc:sldMk cId="1618713725" sldId="381"/>
        </pc:sldMkLst>
      </pc:sldChg>
      <pc:sldChg chg="del">
        <pc:chgData name="Alene Dutra" userId="8ec748416087b198" providerId="LiveId" clId="{3414E3C5-EF46-485B-9CFF-E059073E833B}" dt="2025-03-26T14:34:51.743" v="317" actId="2696"/>
        <pc:sldMkLst>
          <pc:docMk/>
          <pc:sldMk cId="3277803184" sldId="381"/>
        </pc:sldMkLst>
      </pc:sldChg>
      <pc:sldChg chg="addSp delSp modSp add mod delAnim modAnim">
        <pc:chgData name="Alene Dutra" userId="8ec748416087b198" providerId="LiveId" clId="{3414E3C5-EF46-485B-9CFF-E059073E833B}" dt="2025-03-26T15:03:28.940" v="433" actId="207"/>
        <pc:sldMkLst>
          <pc:docMk/>
          <pc:sldMk cId="4288356085" sldId="1246"/>
        </pc:sldMkLst>
      </pc:sldChg>
      <pc:sldChg chg="add ord">
        <pc:chgData name="Alene Dutra" userId="8ec748416087b198" providerId="LiveId" clId="{3414E3C5-EF46-485B-9CFF-E059073E833B}" dt="2025-03-26T14:28:34.029" v="151"/>
        <pc:sldMkLst>
          <pc:docMk/>
          <pc:sldMk cId="2877755740" sldId="1249"/>
        </pc:sldMkLst>
      </pc:sldChg>
      <pc:sldChg chg="addSp delSp modSp add del mod">
        <pc:chgData name="Alene Dutra" userId="8ec748416087b198" providerId="LiveId" clId="{3414E3C5-EF46-485B-9CFF-E059073E833B}" dt="2025-03-26T14:21:27.516" v="148" actId="2696"/>
        <pc:sldMkLst>
          <pc:docMk/>
          <pc:sldMk cId="4055926455" sldId="1249"/>
        </pc:sldMkLst>
      </pc:sldChg>
      <pc:sldChg chg="addSp delSp modSp add del mod">
        <pc:chgData name="Alene Dutra" userId="8ec748416087b198" providerId="LiveId" clId="{3414E3C5-EF46-485B-9CFF-E059073E833B}" dt="2025-03-26T14:21:27.516" v="148" actId="2696"/>
        <pc:sldMkLst>
          <pc:docMk/>
          <pc:sldMk cId="195118514" sldId="1250"/>
        </pc:sldMkLst>
      </pc:sldChg>
      <pc:sldChg chg="add ord">
        <pc:chgData name="Alene Dutra" userId="8ec748416087b198" providerId="LiveId" clId="{3414E3C5-EF46-485B-9CFF-E059073E833B}" dt="2025-03-26T14:28:34.029" v="151"/>
        <pc:sldMkLst>
          <pc:docMk/>
          <pc:sldMk cId="1259493476" sldId="1250"/>
        </pc:sldMkLst>
      </pc:sldChg>
      <pc:sldChg chg="addSp delSp modSp add mod delAnim modAnim">
        <pc:chgData name="Alene Dutra" userId="8ec748416087b198" providerId="LiveId" clId="{3414E3C5-EF46-485B-9CFF-E059073E833B}" dt="2025-03-26T15:04:06.994" v="435" actId="12"/>
        <pc:sldMkLst>
          <pc:docMk/>
          <pc:sldMk cId="2624806077" sldId="1260"/>
        </pc:sldMkLst>
      </pc:sldChg>
      <pc:sldChg chg="addSp delSp modSp add mod">
        <pc:chgData name="Alene Dutra" userId="8ec748416087b198" providerId="LiveId" clId="{3414E3C5-EF46-485B-9CFF-E059073E833B}" dt="2025-03-26T14:40:07.444" v="405" actId="20577"/>
        <pc:sldMkLst>
          <pc:docMk/>
          <pc:sldMk cId="3322844998" sldId="1261"/>
        </pc:sldMkLst>
      </pc:sldChg>
    </pc:docChg>
  </pc:docChgLst>
  <pc:docChgLst>
    <pc:chgData name="Alene Dutra" userId="8ec748416087b198" providerId="LiveId" clId="{5274C55E-8A35-47BD-924D-80EEE3D3ED4E}"/>
    <pc:docChg chg="addSld delSld modSld">
      <pc:chgData name="Alene Dutra" userId="8ec748416087b198" providerId="LiveId" clId="{5274C55E-8A35-47BD-924D-80EEE3D3ED4E}" dt="2025-03-28T17:57:11.295" v="8"/>
      <pc:docMkLst>
        <pc:docMk/>
      </pc:docMkLst>
      <pc:sldChg chg="modSp mod">
        <pc:chgData name="Alene Dutra" userId="8ec748416087b198" providerId="LiveId" clId="{5274C55E-8A35-47BD-924D-80EEE3D3ED4E}" dt="2025-03-26T15:18:16.121" v="1" actId="20577"/>
        <pc:sldMkLst>
          <pc:docMk/>
          <pc:sldMk cId="2432300389" sldId="256"/>
        </pc:sldMkLst>
        <pc:spChg chg="mod">
          <ac:chgData name="Alene Dutra" userId="8ec748416087b198" providerId="LiveId" clId="{5274C55E-8A35-47BD-924D-80EEE3D3ED4E}" dt="2025-03-26T15:18:16.121" v="1" actId="20577"/>
          <ac:spMkLst>
            <pc:docMk/>
            <pc:sldMk cId="2432300389" sldId="256"/>
            <ac:spMk id="2" creationId="{CF671F40-5A18-AF9D-9E9A-466D546EC379}"/>
          </ac:spMkLst>
        </pc:spChg>
      </pc:sldChg>
      <pc:sldChg chg="del">
        <pc:chgData name="Alene Dutra" userId="8ec748416087b198" providerId="LiveId" clId="{5274C55E-8A35-47BD-924D-80EEE3D3ED4E}" dt="2025-03-26T15:21:34.659" v="2" actId="47"/>
        <pc:sldMkLst>
          <pc:docMk/>
          <pc:sldMk cId="452746128" sldId="349"/>
        </pc:sldMkLst>
      </pc:sldChg>
      <pc:sldChg chg="del">
        <pc:chgData name="Alene Dutra" userId="8ec748416087b198" providerId="LiveId" clId="{5274C55E-8A35-47BD-924D-80EEE3D3ED4E}" dt="2025-03-26T15:21:54.753" v="3" actId="47"/>
        <pc:sldMkLst>
          <pc:docMk/>
          <pc:sldMk cId="2912035449" sldId="35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884554116" sldId="35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719103749" sldId="359"/>
        </pc:sldMkLst>
      </pc:sldChg>
      <pc:sldChg chg="del">
        <pc:chgData name="Alene Dutra" userId="8ec748416087b198" providerId="LiveId" clId="{5274C55E-8A35-47BD-924D-80EEE3D3ED4E}" dt="2025-03-26T15:22:07.935" v="4" actId="47"/>
        <pc:sldMkLst>
          <pc:docMk/>
          <pc:sldMk cId="684630035" sldId="36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568411471" sldId="36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776965959" sldId="36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627149065" sldId="363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60202260" sldId="364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913610450" sldId="365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524374019" sldId="367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24128253" sldId="36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910229364" sldId="36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061426380" sldId="37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546244029" sldId="37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870627202" sldId="372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74188418" sldId="373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041243712" sldId="374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961747834" sldId="375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203514783" sldId="376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819593633" sldId="377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763265012" sldId="378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838447700" sldId="37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726431520" sldId="38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618713725" sldId="381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4288356085" sldId="1246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877755740" sldId="1249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1259493476" sldId="125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2624806077" sldId="1260"/>
        </pc:sldMkLst>
      </pc:sldChg>
      <pc:sldChg chg="add del">
        <pc:chgData name="Alene Dutra" userId="8ec748416087b198" providerId="LiveId" clId="{5274C55E-8A35-47BD-924D-80EEE3D3ED4E}" dt="2025-03-28T17:57:11.295" v="8"/>
        <pc:sldMkLst>
          <pc:docMk/>
          <pc:sldMk cId="3322844998" sldId="1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DB958-8490-4AF1-8693-FB7B3EE13966}" type="datetimeFigureOut">
              <a:rPr lang="pt-BR" smtClean="0"/>
              <a:t>28/03/2025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EA7BB-6BE8-4A94-AFC3-EF04338ED7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348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49DD-0BAA-41C2-A705-508263AA4A04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4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EE34-2ADB-48CD-9193-3E64F1065D2A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53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D874-35CB-44E6-B8BF-60F388006369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1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321F-03FA-4BAD-8888-B1B4AE56349A}" type="datetime1">
              <a:rPr lang="pt-BR" smtClean="0"/>
              <a:t>28/03/2025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963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86408-DBF2-4312-AD71-F57EC8AFEE97}" type="datetime1">
              <a:rPr lang="pt-BR" smtClean="0"/>
              <a:t>28/03/2025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935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BA5C-E97E-4C33-8D12-249D8E9C7430}" type="datetime1">
              <a:rPr lang="pt-BR" smtClean="0"/>
              <a:t>28/03/2025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39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F1BD-D69F-4FA9-8D66-B557A5F33301}" type="datetime1">
              <a:rPr lang="pt-BR" smtClean="0"/>
              <a:t>28/03/2025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223E16-EC5C-4DCF-985E-D25AFC89DE71}" type="datetime1">
              <a:rPr lang="pt-BR" smtClean="0"/>
              <a:t>28/03/2025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130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664EF-0FAC-45F8-8FFF-18EA1FA18BE0}" type="datetime1">
              <a:rPr lang="pt-BR" smtClean="0"/>
              <a:t>28/03/2025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08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E3497-93CF-4F19-97D0-5D563F7559CC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14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170F-BA78-4ED1-8FB7-0E9FE44F4472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7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81CC8B-ADB5-4558-8086-E1E5319B09D0}" type="datetime1">
              <a:rPr lang="pt-BR" smtClean="0"/>
              <a:t>28/03/2025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87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hade val="92000"/>
                <a:satMod val="160000"/>
              </a:schemeClr>
            </a:gs>
            <a:gs pos="77000">
              <a:schemeClr val="bg1">
                <a:tint val="100000"/>
                <a:shade val="73000"/>
                <a:satMod val="155000"/>
              </a:schemeClr>
            </a:gs>
            <a:gs pos="100000">
              <a:schemeClr val="bg1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71F40-5A18-AF9D-9E9A-466D546EC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852057"/>
          </a:xfrm>
        </p:spPr>
        <p:txBody>
          <a:bodyPr anchor="ctr">
            <a:normAutofit/>
          </a:bodyPr>
          <a:lstStyle/>
          <a:p>
            <a:pPr algn="ctr"/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Aula 3:</a:t>
            </a: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Introdução ao Equilíbrio de neutralização</a:t>
            </a:r>
            <a:b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9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de pH e </a:t>
            </a:r>
            <a:r>
              <a:rPr lang="pt-BR" sz="29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pOH</a:t>
            </a:r>
            <a:endParaRPr lang="pt-BR" sz="24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DB1AB-D6ED-A338-A639-BD0898FCF5C4}"/>
              </a:ext>
            </a:extLst>
          </p:cNvPr>
          <p:cNvSpPr/>
          <p:nvPr/>
        </p:nvSpPr>
        <p:spPr>
          <a:xfrm>
            <a:off x="478971" y="62913"/>
            <a:ext cx="11713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Universidade do Estado do Rio de Janeiro – UERJ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Instituto de Química – IQ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Departamento de Química Analítica – DQA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Universidade do Estado do Rio de Janeiro – Wikipédia, a enciclopédia livre">
            <a:extLst>
              <a:ext uri="{FF2B5EF4-FFF2-40B4-BE49-F238E27FC236}">
                <a16:creationId xmlns:a16="http://schemas.microsoft.com/office/drawing/2014/main" id="{7EEC36F7-1FDF-F637-B2BA-6B48C8E4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1491623"/>
            <a:ext cx="2362200" cy="260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tituto de Quimica - UERJ :.">
            <a:extLst>
              <a:ext uri="{FF2B5EF4-FFF2-40B4-BE49-F238E27FC236}">
                <a16:creationId xmlns:a16="http://schemas.microsoft.com/office/drawing/2014/main" id="{E49894DD-2AD0-D24D-855A-12419B6F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829" y="2322115"/>
            <a:ext cx="2362200" cy="94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021ABE5-EFA7-D61E-894A-C2F1EB4437CC}"/>
              </a:ext>
            </a:extLst>
          </p:cNvPr>
          <p:cNvSpPr/>
          <p:nvPr/>
        </p:nvSpPr>
        <p:spPr>
          <a:xfrm>
            <a:off x="0" y="4967062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Professora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 err="1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ª Alene Dutra Nascimento</a:t>
            </a: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rgbClr val="0000F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alene.dn@hotmail.com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0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1F2A-5FC0-A3AC-6436-D9B9805B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49936B-2CAC-7786-4FBD-0B54E1254C8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77592C-3F23-5238-FC51-4C6E0D851F90}"/>
              </a:ext>
            </a:extLst>
          </p:cNvPr>
          <p:cNvSpPr/>
          <p:nvPr/>
        </p:nvSpPr>
        <p:spPr>
          <a:xfrm>
            <a:off x="91126" y="5143075"/>
            <a:ext cx="120097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Ácidos: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gosto azedo e causa mudança de cor em pigmentos.</a:t>
            </a:r>
          </a:p>
          <a:p>
            <a:pPr algn="just"/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Bases: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gosto amargo e sensação escorregadia ao tocar.</a:t>
            </a: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360AAD-E470-55DE-BF41-B16871BA8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75" y="765651"/>
            <a:ext cx="10131047" cy="412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8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4466-781E-6D6A-DF8F-03CDB777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39DD30-B03A-84ED-4B40-5AAF74D854F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D58883-E582-6AFB-5572-515E91995874}"/>
              </a:ext>
            </a:extLst>
          </p:cNvPr>
          <p:cNvSpPr txBox="1"/>
          <p:nvPr/>
        </p:nvSpPr>
        <p:spPr>
          <a:xfrm>
            <a:off x="332403" y="997565"/>
            <a:ext cx="1152719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Teorias ácido-base</a:t>
            </a:r>
          </a:p>
          <a:p>
            <a:pPr marL="114300" indent="0" algn="just">
              <a:buNone/>
            </a:pPr>
            <a:endParaRPr lang="pt-BR" altLang="pt-BR" sz="2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indent="0" algn="just">
              <a:buNone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Teoria de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Arrhenius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(1887)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algn="just">
              <a:buClr>
                <a:schemeClr val="accent1">
                  <a:lumMod val="75000"/>
                </a:schemeClr>
              </a:buClr>
            </a:pPr>
            <a:r>
              <a:rPr lang="pt-BR" altLang="pt-BR" sz="2400" dirty="0">
                <a:latin typeface="Aptos" panose="020B0004020202020204" pitchFamily="34" charset="0"/>
              </a:rPr>
              <a:t>O químico sueco </a:t>
            </a:r>
            <a:r>
              <a:rPr lang="pt-BR" altLang="pt-BR" sz="2400" dirty="0" err="1">
                <a:latin typeface="Aptos" panose="020B0004020202020204" pitchFamily="34" charset="0"/>
              </a:rPr>
              <a:t>Svante</a:t>
            </a:r>
            <a:r>
              <a:rPr lang="pt-BR" altLang="pt-BR" sz="2400" dirty="0">
                <a:latin typeface="Aptos" panose="020B0004020202020204" pitchFamily="34" charset="0"/>
              </a:rPr>
              <a:t> </a:t>
            </a:r>
            <a:r>
              <a:rPr lang="pt-BR" altLang="pt-BR" sz="2400" dirty="0" err="1">
                <a:latin typeface="Aptos" panose="020B0004020202020204" pitchFamily="34" charset="0"/>
              </a:rPr>
              <a:t>Arrhenius</a:t>
            </a:r>
            <a:r>
              <a:rPr lang="pt-BR" altLang="pt-BR" sz="2400" dirty="0">
                <a:latin typeface="Aptos" panose="020B0004020202020204" pitchFamily="34" charset="0"/>
              </a:rPr>
              <a:t>, a partir de sua teoria da dissociação eletrolítica, estabelece que: </a:t>
            </a:r>
          </a:p>
          <a:p>
            <a:pPr marL="114300" algn="just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Um ácido toda substância que em água produz íons 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;</a:t>
            </a: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Uma base é aquela substância que em água produz 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;</a:t>
            </a: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A neutralização seria a reação entre essas duas espécies iônicas, produzindo água.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 algn="ctr">
              <a:buNone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Limitação: a definição só se aplica a soluções aquosas.</a:t>
            </a:r>
          </a:p>
        </p:txBody>
      </p:sp>
    </p:spTree>
    <p:extLst>
      <p:ext uri="{BB962C8B-B14F-4D97-AF65-F5344CB8AC3E}">
        <p14:creationId xmlns:p14="http://schemas.microsoft.com/office/powerpoint/2010/main" val="18682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DFB8-3667-CAAC-6A00-0240D216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E7E957-3630-C282-FC1F-CF67BFD901D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773731-0243-E087-795F-2F5634BDEA0D}"/>
              </a:ext>
            </a:extLst>
          </p:cNvPr>
          <p:cNvSpPr txBox="1"/>
          <p:nvPr/>
        </p:nvSpPr>
        <p:spPr>
          <a:xfrm>
            <a:off x="332403" y="573020"/>
            <a:ext cx="11527192" cy="245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30000"/>
              </a:lnSpc>
              <a:defRPr/>
            </a:pP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)  + H</a:t>
            </a:r>
            <a:r>
              <a:rPr lang="pt-BR" alt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)     ↔     H</a:t>
            </a:r>
            <a:r>
              <a:rPr lang="pt-BR" alt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)   + Cl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algn="ctr">
              <a:lnSpc>
                <a:spcPct val="130000"/>
              </a:lnSpc>
              <a:defRPr/>
            </a:pP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água =  ácido forte (≈100% dissociado) </a:t>
            </a:r>
          </a:p>
          <a:p>
            <a:pPr algn="just" eaLnBrk="1" hangingPunct="1">
              <a:lnSpc>
                <a:spcPct val="130000"/>
              </a:lnSpc>
              <a:defRPr/>
            </a:pPr>
            <a:endParaRPr lang="pt-BR" altLang="pt-BR" sz="2400" b="1" dirty="0">
              <a:solidFill>
                <a:srgbClr val="CC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defRPr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NaOH(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 + H</a:t>
            </a:r>
            <a:r>
              <a:rPr lang="pt-BR" alt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O(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↔ Na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  + OH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</a:t>
            </a:r>
            <a:r>
              <a:rPr lang="pt-BR" alt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algn="ctr">
              <a:lnSpc>
                <a:spcPct val="130000"/>
              </a:lnSpc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NaOH em água =  base forte (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≈ </a:t>
            </a:r>
            <a:r>
              <a:rPr lang="pt-BR" altLang="pt-BR" sz="2400" dirty="0">
                <a:latin typeface="Aptos" panose="020B0004020202020204" pitchFamily="34" charset="0"/>
              </a:rPr>
              <a:t>100% dissociada) </a:t>
            </a:r>
            <a:endParaRPr lang="pt-BR" altLang="pt-BR" sz="2400" dirty="0">
              <a:solidFill>
                <a:srgbClr val="CC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986E7E-6D79-A247-4761-6E80AEA6558F}"/>
              </a:ext>
            </a:extLst>
          </p:cNvPr>
          <p:cNvSpPr txBox="1"/>
          <p:nvPr/>
        </p:nvSpPr>
        <p:spPr>
          <a:xfrm>
            <a:off x="441259" y="3194478"/>
            <a:ext cx="5431192" cy="2938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água,  o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forma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clusters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O </a:t>
            </a:r>
            <a:r>
              <a:rPr lang="pt-BR" altLang="pt-BR" sz="2400" i="1" dirty="0">
                <a:latin typeface="Aptos" panose="020B0004020202020204" pitchFamily="34" charset="0"/>
                <a:cs typeface="Arial" panose="020B0604020202020204" pitchFamily="34" charset="0"/>
              </a:rPr>
              <a:t>cluster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mais simples é o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ctr" eaLnBrk="1" hangingPunct="1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Usa-se ou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ou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6" name="Picture 2" descr="D:\MATTER\CHAP16\FIGURES\FG16_001.PCT">
            <a:extLst>
              <a:ext uri="{FF2B5EF4-FFF2-40B4-BE49-F238E27FC236}">
                <a16:creationId xmlns:a16="http://schemas.microsoft.com/office/drawing/2014/main" id="{855FFE0D-A64D-E86E-E821-7B20D6097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"/>
          <a:stretch/>
        </p:blipFill>
        <p:spPr bwMode="auto">
          <a:xfrm>
            <a:off x="6319551" y="3194478"/>
            <a:ext cx="5461910" cy="2932969"/>
          </a:xfrm>
          <a:prstGeom prst="rect">
            <a:avLst/>
          </a:prstGeom>
          <a:solidFill>
            <a:srgbClr val="FFFFFF"/>
          </a:solidFill>
          <a:ln w="9525">
            <a:solidFill>
              <a:srgbClr val="B2B2B2"/>
            </a:solidFill>
            <a:miter lim="800000"/>
            <a:headEnd/>
            <a:tailEnd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1D1D391-064A-41B2-EA9A-C236EAC2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272" y="4314803"/>
            <a:ext cx="12384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0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A631-D300-C030-9BB7-9D50B307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DFDBFB-7975-380E-5B71-3CBA5BA141E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1A0AD8-2868-44AC-ADA7-CADA966D2C27}"/>
              </a:ext>
            </a:extLst>
          </p:cNvPr>
          <p:cNvSpPr txBox="1"/>
          <p:nvPr/>
        </p:nvSpPr>
        <p:spPr>
          <a:xfrm>
            <a:off x="332403" y="681879"/>
            <a:ext cx="1152719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just">
              <a:buNone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Teoria de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Brønsted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-Lowry (1923)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algn="just">
              <a:buClr>
                <a:schemeClr val="accent1">
                  <a:lumMod val="75000"/>
                </a:schemeClr>
              </a:buClr>
            </a:pPr>
            <a:r>
              <a:rPr lang="pt-BR" altLang="pt-BR" sz="2400" dirty="0">
                <a:latin typeface="Aptos" panose="020B0004020202020204" pitchFamily="34" charset="0"/>
              </a:rPr>
              <a:t>Reações de transferência de 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:</a:t>
            </a:r>
          </a:p>
          <a:p>
            <a:pPr marL="114300" algn="just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Ácido doa 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 e  base aceita 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.</a:t>
            </a: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Base de </a:t>
            </a:r>
            <a:r>
              <a:rPr lang="pt-BR" altLang="pt-BR" sz="2400" dirty="0" err="1">
                <a:latin typeface="Aptos" panose="020B0004020202020204" pitchFamily="34" charset="0"/>
              </a:rPr>
              <a:t>Brønsted</a:t>
            </a:r>
            <a:r>
              <a:rPr lang="pt-BR" altLang="pt-BR" sz="2400" dirty="0">
                <a:latin typeface="Aptos" panose="020B0004020202020204" pitchFamily="34" charset="0"/>
              </a:rPr>
              <a:t>-Lowry não necessita conter 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.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algn="just"/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Água: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comportamento de ácido ou de base.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 algn="ctr">
              <a:buNone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Substâncias Anfóteras: comportam-se como ácidos ou bases.</a:t>
            </a:r>
          </a:p>
          <a:p>
            <a:pPr marL="114300" indent="0" algn="ctr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/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Exemplo: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+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O(l)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+ Cl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114300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800100" lvl="1" indent="-342900" algn="just" eaLnBrk="1" hangingPunct="1">
              <a:buClr>
                <a:srgbClr val="800000"/>
              </a:buClr>
              <a:buSzPct val="70000"/>
              <a:buFont typeface="Wingdings" panose="05000000000000000000" pitchFamily="2" charset="2"/>
              <a:buChar char="v"/>
            </a:pP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doa um próton a água.  Portanto,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é um ácido.</a:t>
            </a:r>
          </a:p>
          <a:p>
            <a:pPr marL="800100" lvl="1" indent="-342900" algn="just" eaLnBrk="1" hangingPunct="1">
              <a:buClr>
                <a:srgbClr val="800000"/>
              </a:buClr>
              <a:buSzPct val="70000"/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aceita um próton do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  Portanto,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é uma base.</a:t>
            </a:r>
          </a:p>
          <a:p>
            <a:pPr marL="114300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6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E934-91F4-4794-DEE1-3BE03832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8D11B1-7370-41D2-BE73-F0F1A360063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1009D8-A501-7AE5-C680-5CA1988D33E6}"/>
              </a:ext>
            </a:extLst>
          </p:cNvPr>
          <p:cNvSpPr txBox="1"/>
          <p:nvPr/>
        </p:nvSpPr>
        <p:spPr>
          <a:xfrm>
            <a:off x="332403" y="740364"/>
            <a:ext cx="115271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Conceito de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Bronsted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-Lowry: </a:t>
            </a:r>
            <a:r>
              <a:rPr lang="pt-BR" altLang="pt-BR" sz="2400" dirty="0">
                <a:latin typeface="Aptos" panose="020B0004020202020204" pitchFamily="34" charset="0"/>
              </a:rPr>
              <a:t>conceito de pares conjugados (mais abrangente e pode ser aplicado a outros solventes, além da água).</a:t>
            </a:r>
          </a:p>
          <a:p>
            <a:pPr marL="114300" indent="0" algn="ctr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 algn="ctr">
              <a:buNone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Equilíbrio da água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algn="ctr" eaLnBrk="1" hangingPunct="1"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+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   ↔   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 +  OH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altLang="pt-BR" sz="2400" dirty="0">
                <a:solidFill>
                  <a:srgbClr val="CC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Ácidos: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doadores de prótons.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Bases: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receptores de prótons.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6428F867-5386-C2C1-1053-AC17B5FDC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529" y="3403378"/>
            <a:ext cx="26747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latin typeface="Aptos" panose="020B0004020202020204" pitchFamily="34" charset="0"/>
                <a:cs typeface="Arial" panose="020B0604020202020204" pitchFamily="34" charset="0"/>
              </a:rPr>
              <a:t>espécie que doa H</a:t>
            </a:r>
            <a:r>
              <a:rPr lang="pt-BR" altLang="pt-BR" sz="20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</a:p>
          <a:p>
            <a:pPr algn="ctr" eaLnBrk="1" hangingPunct="1">
              <a:defRPr/>
            </a:pPr>
            <a:r>
              <a:rPr lang="pt-BR" altLang="pt-BR" sz="20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(ácido 1)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F55E6B18-D2E3-1548-6674-E66FB867A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074" y="4041819"/>
            <a:ext cx="357050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latin typeface="Aptos" panose="020B0004020202020204" pitchFamily="34" charset="0"/>
                <a:cs typeface="Arial" panose="020B0604020202020204" pitchFamily="34" charset="0"/>
              </a:rPr>
              <a:t>espécie receptora de prótons</a:t>
            </a:r>
            <a:r>
              <a:rPr lang="pt-BR" altLang="pt-BR" sz="2000" baseline="30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(base 2)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8BEBC0DF-9BB1-A72E-6612-C19C8B115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780" y="4041819"/>
            <a:ext cx="256288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latin typeface="Aptos" panose="020B0004020202020204" pitchFamily="34" charset="0"/>
                <a:cs typeface="Arial" panose="020B0604020202020204" pitchFamily="34" charset="0"/>
              </a:rPr>
              <a:t>derivado da base 2</a:t>
            </a:r>
          </a:p>
          <a:p>
            <a:pPr algn="ctr" eaLnBrk="1" hangingPunct="1">
              <a:defRPr/>
            </a:pPr>
            <a:r>
              <a:rPr lang="pt-BR" altLang="pt-BR" sz="20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(ácido conjugado)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479380DC-4267-DA74-9791-4DD4B6F9E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396" y="3222077"/>
            <a:ext cx="31241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latin typeface="Aptos" panose="020B0004020202020204" pitchFamily="34" charset="0"/>
                <a:cs typeface="Arial" panose="020B0604020202020204" pitchFamily="34" charset="0"/>
              </a:rPr>
              <a:t>derivado do ácido 1</a:t>
            </a:r>
          </a:p>
          <a:p>
            <a:pPr algn="ctr" eaLnBrk="1" hangingPunct="1">
              <a:defRPr/>
            </a:pPr>
            <a:r>
              <a:rPr lang="pt-BR" altLang="pt-BR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(base conjugada)</a:t>
            </a:r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856AF444-F5FB-FBFE-AF7F-51A91D1F11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8532" y="3026337"/>
            <a:ext cx="762000" cy="494516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 sz="200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4D0528AA-138F-3177-BF61-796DEC61D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9171" y="2991245"/>
            <a:ext cx="970029" cy="46166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 sz="200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604A11C-11F6-AC1D-A0C2-E6D92EBAD1D1}"/>
              </a:ext>
            </a:extLst>
          </p:cNvPr>
          <p:cNvCxnSpPr/>
          <p:nvPr/>
        </p:nvCxnSpPr>
        <p:spPr>
          <a:xfrm>
            <a:off x="4891355" y="3059188"/>
            <a:ext cx="0" cy="790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DDBD95F-CABB-F715-3D3B-AA70BBF2DF42}"/>
              </a:ext>
            </a:extLst>
          </p:cNvPr>
          <p:cNvCxnSpPr/>
          <p:nvPr/>
        </p:nvCxnSpPr>
        <p:spPr>
          <a:xfrm>
            <a:off x="6720066" y="2991245"/>
            <a:ext cx="0" cy="790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37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027A-8F04-301D-B5BA-AB060DF3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99285E-52FE-E523-DD37-984E34341E3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6B082B-8F6F-8A0C-B4C0-F77701377ACC}"/>
              </a:ext>
            </a:extLst>
          </p:cNvPr>
          <p:cNvSpPr txBox="1"/>
          <p:nvPr/>
        </p:nvSpPr>
        <p:spPr>
          <a:xfrm>
            <a:off x="332403" y="1166842"/>
            <a:ext cx="11527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just">
              <a:buNone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Teoria de Lewis (1923)</a:t>
            </a:r>
          </a:p>
          <a:p>
            <a:pPr marL="114300" indent="0" algn="just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Um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ácido</a:t>
            </a:r>
            <a:r>
              <a:rPr lang="pt-BR" altLang="pt-BR" sz="2400" dirty="0">
                <a:latin typeface="Aptos" panose="020B0004020202020204" pitchFamily="34" charset="0"/>
              </a:rPr>
              <a:t> é toda espécie química capaz de receber um par eletrônico.</a:t>
            </a: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</a:rPr>
              <a:t>Uma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base</a:t>
            </a:r>
            <a:r>
              <a:rPr lang="pt-BR" altLang="pt-BR" sz="2400" dirty="0">
                <a:latin typeface="Aptos" panose="020B0004020202020204" pitchFamily="34" charset="0"/>
              </a:rPr>
              <a:t> é toda espécie química capaz de doar um par eletrônico.</a:t>
            </a:r>
          </a:p>
          <a:p>
            <a:pPr marL="4572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 +  :OH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    ↔    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ctr">
              <a:buClr>
                <a:schemeClr val="accent1">
                  <a:lumMod val="75000"/>
                </a:schemeClr>
              </a:buClr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Ácidos e bases de Lewis não necessitam conter prótons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Line 2055">
            <a:extLst>
              <a:ext uri="{FF2B5EF4-FFF2-40B4-BE49-F238E27FC236}">
                <a16:creationId xmlns:a16="http://schemas.microsoft.com/office/drawing/2014/main" id="{AC34AD79-D8C7-340D-C29C-52A6C67BED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6465" y="3479401"/>
            <a:ext cx="697707" cy="59312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9" name="Text Box 2056">
            <a:extLst>
              <a:ext uri="{FF2B5EF4-FFF2-40B4-BE49-F238E27FC236}">
                <a16:creationId xmlns:a16="http://schemas.microsoft.com/office/drawing/2014/main" id="{D296543A-AFBD-C29D-C7C3-F3E6A38E7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897" y="4072525"/>
            <a:ext cx="36798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rgbClr val="CC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 de Lewis: aceptor pares de elétrons</a:t>
            </a:r>
          </a:p>
        </p:txBody>
      </p:sp>
      <p:sp>
        <p:nvSpPr>
          <p:cNvPr id="10" name="Text Box 2057">
            <a:extLst>
              <a:ext uri="{FF2B5EF4-FFF2-40B4-BE49-F238E27FC236}">
                <a16:creationId xmlns:a16="http://schemas.microsoft.com/office/drawing/2014/main" id="{1570B6CA-0E35-CF4E-7D1B-821E03F4D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954" y="4044163"/>
            <a:ext cx="39528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 de Lewis: doador de pares de elétrons</a:t>
            </a:r>
          </a:p>
        </p:txBody>
      </p:sp>
      <p:sp>
        <p:nvSpPr>
          <p:cNvPr id="11" name="Line 2055">
            <a:extLst>
              <a:ext uri="{FF2B5EF4-FFF2-40B4-BE49-F238E27FC236}">
                <a16:creationId xmlns:a16="http://schemas.microsoft.com/office/drawing/2014/main" id="{8279112E-25AD-12EA-9BA8-0EE1D14E2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999" y="3479401"/>
            <a:ext cx="697707" cy="59312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109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E454-0A85-9278-0858-4EB1A196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B80B55-788C-2882-19FA-0C674E49A36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69DFF4-8400-2C0B-F09D-2602564D622D}"/>
              </a:ext>
            </a:extLst>
          </p:cNvPr>
          <p:cNvSpPr txBox="1"/>
          <p:nvPr/>
        </p:nvSpPr>
        <p:spPr>
          <a:xfrm>
            <a:off x="408604" y="1351508"/>
            <a:ext cx="115271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just"/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1: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Fe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3+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 +  SCN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↔ [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FeSCN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2+(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Todos os íons metálicos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ácidos de Lewis (diferente afinidade por ligante)</a:t>
            </a:r>
          </a:p>
          <a:p>
            <a:pPr marL="4572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Os ligantes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bases de Lewis</a:t>
            </a: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just"/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2: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N +  BF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↔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N:BF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algn="just"/>
            <a:endParaRPr lang="pt-BR" altLang="pt-BR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pt-BR" alt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Box 2056">
            <a:extLst>
              <a:ext uri="{FF2B5EF4-FFF2-40B4-BE49-F238E27FC236}">
                <a16:creationId xmlns:a16="http://schemas.microsoft.com/office/drawing/2014/main" id="{4AF12C07-9E54-A631-42F8-B681F7180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14" y="2118958"/>
            <a:ext cx="36798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rgbClr val="CC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 de Lewis: aceptor pares de elétrons</a:t>
            </a:r>
          </a:p>
        </p:txBody>
      </p:sp>
      <p:sp>
        <p:nvSpPr>
          <p:cNvPr id="10" name="Text Box 2057">
            <a:extLst>
              <a:ext uri="{FF2B5EF4-FFF2-40B4-BE49-F238E27FC236}">
                <a16:creationId xmlns:a16="http://schemas.microsoft.com/office/drawing/2014/main" id="{9CFDE80F-F6DF-AACB-C69D-FA066FDB3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742" y="2118958"/>
            <a:ext cx="39528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 de Lewis: doador de pares de elétrons</a:t>
            </a:r>
          </a:p>
        </p:txBody>
      </p:sp>
      <p:sp>
        <p:nvSpPr>
          <p:cNvPr id="11" name="Line 2055">
            <a:extLst>
              <a:ext uri="{FF2B5EF4-FFF2-40B4-BE49-F238E27FC236}">
                <a16:creationId xmlns:a16="http://schemas.microsoft.com/office/drawing/2014/main" id="{AA8B9FAB-D82F-BD5B-3AD1-6BB1F71B7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3915" y="1793194"/>
            <a:ext cx="697707" cy="360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F857E54-0687-A412-1E30-0C5E30871391}"/>
              </a:ext>
            </a:extLst>
          </p:cNvPr>
          <p:cNvCxnSpPr>
            <a:cxnSpLocks/>
          </p:cNvCxnSpPr>
          <p:nvPr/>
        </p:nvCxnSpPr>
        <p:spPr>
          <a:xfrm>
            <a:off x="2663453" y="1826960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056">
            <a:extLst>
              <a:ext uri="{FF2B5EF4-FFF2-40B4-BE49-F238E27FC236}">
                <a16:creationId xmlns:a16="http://schemas.microsoft.com/office/drawing/2014/main" id="{A6CBD5AB-4050-BF05-9778-638106B7B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435" y="5152549"/>
            <a:ext cx="196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rgbClr val="CC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 de Lewis</a:t>
            </a:r>
          </a:p>
        </p:txBody>
      </p:sp>
      <p:sp>
        <p:nvSpPr>
          <p:cNvPr id="7" name="Text Box 2057">
            <a:extLst>
              <a:ext uri="{FF2B5EF4-FFF2-40B4-BE49-F238E27FC236}">
                <a16:creationId xmlns:a16="http://schemas.microsoft.com/office/drawing/2014/main" id="{C97CF332-138C-62A8-7DC2-24D72C2EF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04" y="5152549"/>
            <a:ext cx="18906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 de Lewis</a:t>
            </a:r>
          </a:p>
        </p:txBody>
      </p:sp>
      <p:sp>
        <p:nvSpPr>
          <p:cNvPr id="12" name="Line 2055">
            <a:extLst>
              <a:ext uri="{FF2B5EF4-FFF2-40B4-BE49-F238E27FC236}">
                <a16:creationId xmlns:a16="http://schemas.microsoft.com/office/drawing/2014/main" id="{2C47F3D5-63E5-9E39-F2B1-3DA6EE7B5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1395" y="4744187"/>
            <a:ext cx="697707" cy="360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36A2171-616B-347C-322B-C8CA6637C81E}"/>
              </a:ext>
            </a:extLst>
          </p:cNvPr>
          <p:cNvCxnSpPr>
            <a:cxnSpLocks/>
          </p:cNvCxnSpPr>
          <p:nvPr/>
        </p:nvCxnSpPr>
        <p:spPr>
          <a:xfrm flipH="1">
            <a:off x="1491343" y="4744187"/>
            <a:ext cx="976167" cy="36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Boron trifluoride, BF3, and ammonia, NH3, react to produce BF3 : NH3. A  coordinate covalent bond is formed between the boron atom on BF3 and the  nitrogen atom on NH3. Write the">
            <a:extLst>
              <a:ext uri="{FF2B5EF4-FFF2-40B4-BE49-F238E27FC236}">
                <a16:creationId xmlns:a16="http://schemas.microsoft.com/office/drawing/2014/main" id="{1C86E3A7-8480-E742-FFBA-28C259FC6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220" y="4145592"/>
            <a:ext cx="6607176" cy="191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60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1809-A819-BBD5-43DD-1B659BE1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9429FA-7598-A68A-41B4-4108CD55F92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2B5BC2C-485D-3318-00B7-7785623D9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159" y="846530"/>
            <a:ext cx="5185682" cy="516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22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CE1C-4BF2-CB2B-7F7E-ADCDDA1A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F0C3DBA-9B7C-B234-A4B8-C6B0A05EA23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4C8869C6-51C6-9767-330E-EF7D2B2B1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852279"/>
              </p:ext>
            </p:extLst>
          </p:nvPr>
        </p:nvGraphicFramePr>
        <p:xfrm>
          <a:off x="446313" y="1975072"/>
          <a:ext cx="11299371" cy="2907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398366516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1006152097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307023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Aptos" panose="020B0004020202020204" pitchFamily="34" charset="0"/>
                        </a:rPr>
                        <a:t>Ácido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Aptos" panose="020B0004020202020204" pitchFamily="34" charset="0"/>
                        </a:rPr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41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Arrhenius</a:t>
                      </a:r>
                      <a:endParaRPr lang="pt-BR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10000"/>
                        </a:lnSpc>
                      </a:pP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Produzem íons H</a:t>
                      </a:r>
                      <a:r>
                        <a:rPr lang="pt-BR" altLang="pt-BR" sz="1800" b="0" baseline="-25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(H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) em solução aquosa</a:t>
                      </a:r>
                      <a:endParaRPr lang="pt-BR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10000"/>
                        </a:lnSpc>
                      </a:pP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Produzem íons OH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  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em solução aquosa</a:t>
                      </a:r>
                      <a:endParaRPr lang="pt-BR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8883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Bronsted</a:t>
                      </a:r>
                      <a:r>
                        <a:rPr 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 - Lowry</a:t>
                      </a:r>
                    </a:p>
                    <a:p>
                      <a:pPr algn="ctr"/>
                      <a:endParaRPr lang="pt-BR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eaLnBrk="1" hangingPunct="1"/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Doa próton [H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] =[H</a:t>
                      </a:r>
                      <a:r>
                        <a:rPr lang="pt-BR" altLang="pt-BR" sz="1800" b="0" baseline="-25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Aceita um próton [H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] =[H</a:t>
                      </a:r>
                      <a:r>
                        <a:rPr lang="pt-BR" altLang="pt-BR" sz="1800" b="0" baseline="-25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altLang="pt-BR" sz="1800" b="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]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949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H</a:t>
                      </a:r>
                      <a:r>
                        <a:rPr lang="pt-BR" alt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O + H</a:t>
                      </a:r>
                      <a:r>
                        <a:rPr lang="pt-BR" alt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O  ↔  H</a:t>
                      </a:r>
                      <a:r>
                        <a:rPr lang="pt-BR" alt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altLang="pt-BR" b="0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(</a:t>
                      </a:r>
                      <a:r>
                        <a:rPr lang="pt-BR" altLang="pt-BR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aq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) + OH</a:t>
                      </a:r>
                      <a:r>
                        <a:rPr lang="pt-BR" altLang="pt-BR" b="0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-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(</a:t>
                      </a:r>
                      <a:r>
                        <a:rPr lang="pt-BR" altLang="pt-BR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aq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9125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</a:t>
                      </a:r>
                      <a:r>
                        <a:rPr 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1</a:t>
                      </a:r>
                      <a:r>
                        <a:rPr 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 + b</a:t>
                      </a:r>
                      <a:r>
                        <a:rPr 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↔ a</a:t>
                      </a:r>
                      <a:r>
                        <a:rPr lang="pt-BR" alt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altLang="pt-BR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 + b</a:t>
                      </a:r>
                      <a:r>
                        <a:rPr lang="pt-BR" altLang="pt-BR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1</a:t>
                      </a:r>
                      <a:endParaRPr lang="pt-BR" b="0" baseline="-25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3527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ptos" panose="020B0004020202020204" pitchFamily="34" charset="0"/>
                        </a:rPr>
                        <a:t>Lewis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Aceita pares de elétrons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8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Doa pares de elétrons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0429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                    H</a:t>
                      </a:r>
                      <a:r>
                        <a:rPr lang="pt-BR" altLang="pt-BR" sz="1800" b="0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(</a:t>
                      </a:r>
                      <a:r>
                        <a:rPr lang="pt-BR" altLang="pt-BR" sz="18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aq</a:t>
                      </a: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)  + :OH</a:t>
                      </a:r>
                      <a:r>
                        <a:rPr lang="pt-BR" altLang="pt-BR" sz="1800" b="0" baseline="30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-</a:t>
                      </a: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(</a:t>
                      </a:r>
                      <a:r>
                        <a:rPr lang="pt-BR" altLang="pt-BR" sz="18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aq</a:t>
                      </a: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)  ↔  H</a:t>
                      </a:r>
                      <a:r>
                        <a:rPr lang="pt-BR" altLang="pt-BR" sz="1800" b="0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altLang="pt-B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614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162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503FE-24A9-C553-E894-6C0AC5DD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C895EE-E88A-A29B-599B-F85214E6547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3CC7D4E-6E1B-761D-CDB9-33D57CCB098B}"/>
                  </a:ext>
                </a:extLst>
              </p:cNvPr>
              <p:cNvSpPr txBox="1"/>
              <p:nvPr/>
            </p:nvSpPr>
            <p:spPr>
              <a:xfrm>
                <a:off x="332403" y="620621"/>
                <a:ext cx="11527192" cy="5636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4300" indent="0" algn="ctr"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Auto ionização da água</a:t>
                </a:r>
              </a:p>
              <a:p>
                <a:pPr marL="114300" indent="0" algn="just"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algn="ctr">
                  <a:defRPr/>
                </a:pP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2H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O    ↔    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)  +  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ctr">
                  <a:defRPr/>
                </a:pP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2H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O (l)   ↔   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) + 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O(l)  +  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ctr">
                  <a:defRPr/>
                </a:pP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O    ↔    H</a:t>
                </a:r>
                <a:r>
                  <a:rPr lang="pt-BR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)  +  OH</a:t>
                </a:r>
                <a:r>
                  <a:rPr lang="pt-BR" altLang="pt-BR" sz="2400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aq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) (1)</a:t>
                </a:r>
              </a:p>
              <a:p>
                <a:pPr algn="ctr">
                  <a:defRPr/>
                </a:pPr>
                <a:endParaRPr lang="pt-BR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Aplicando a lei da ação das massas em (1):</a:t>
                </a:r>
              </a:p>
              <a:p>
                <a:pPr>
                  <a:defRPr/>
                </a:pP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pt-BR" altLang="pt-BR" sz="2400" i="0" baseline="3000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] [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OH</m:t>
                          </m:r>
                          <m:r>
                            <m:rPr>
                              <m:nor/>
                            </m:rPr>
                            <a:rPr lang="pt-BR" altLang="pt-BR" sz="2400" i="0" baseline="3000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pt-BR" altLang="pt-BR" sz="2400" i="0" baseline="-2500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pt-BR" altLang="pt-BR" sz="2400" i="0" dirty="0">
                              <a:latin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pt-BR" altLang="pt-BR" sz="24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altLang="pt-BR" sz="2400" kern="0" dirty="0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</m:t>
                      </m:r>
                      <m:r>
                        <m:rPr>
                          <m:nor/>
                        </m:rPr>
                        <a:rPr lang="pt-BR" altLang="pt-BR" sz="2400" b="0" i="0" kern="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pt-BR" altLang="pt-BR" sz="24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pt-BR" altLang="pt-BR" sz="240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pt-BR" altLang="pt-BR" sz="240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pt-BR" altLang="pt-BR" sz="2400" baseline="-2500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pt-BR" altLang="pt-BR" sz="240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pt-BR" altLang="pt-BR" sz="2400" dirty="0" smtClean="0">
                          <a:solidFill>
                            <a:srgbClr val="C00000"/>
                          </a:solidFill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] = [</m:t>
                      </m:r>
                      <m:r>
                        <m:rPr>
                          <m:nor/>
                        </m:rPr>
                        <a:rPr lang="pt-BR" altLang="pt-BR" sz="24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pt-BR" altLang="pt-BR" sz="2400" baseline="300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pt-BR" altLang="pt-BR" sz="24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] [</m:t>
                      </m:r>
                      <m:r>
                        <m:rPr>
                          <m:nor/>
                        </m:rPr>
                        <a:rPr lang="pt-BR" altLang="pt-BR" sz="24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OH</m:t>
                      </m:r>
                      <m:r>
                        <m:rPr>
                          <m:nor/>
                        </m:rPr>
                        <a:rPr lang="pt-BR" altLang="pt-BR" sz="2400" baseline="300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pt-BR" altLang="pt-BR" sz="24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/>
                </a:pP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A constante de auto ionização da água ou produto iônico da água, Kw, pode ser escrita como: </a:t>
                </a:r>
              </a:p>
              <a:p>
                <a:pPr>
                  <a:defRPr/>
                </a:pP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K</a:t>
                </a:r>
                <a:r>
                  <a:rPr lang="pt-BR" altLang="pt-BR" sz="24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= [H</a:t>
                </a:r>
                <a:r>
                  <a:rPr lang="pt-BR" altLang="pt-BR" sz="2400" b="1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] [OH</a:t>
                </a:r>
                <a:r>
                  <a:rPr lang="pt-BR" altLang="pt-BR" sz="2400" b="1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3CC7D4E-6E1B-761D-CDB9-33D57CCB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3" y="620621"/>
                <a:ext cx="11527192" cy="5636671"/>
              </a:xfrm>
              <a:prstGeom prst="rect">
                <a:avLst/>
              </a:prstGeom>
              <a:blipFill>
                <a:blip r:embed="rId2"/>
                <a:stretch>
                  <a:fillRect l="-847" t="-866" r="-1005" b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089FA3-5B71-455C-82DA-C2E91EDEA7AA}"/>
              </a:ext>
            </a:extLst>
          </p:cNvPr>
          <p:cNvCxnSpPr/>
          <p:nvPr/>
        </p:nvCxnSpPr>
        <p:spPr>
          <a:xfrm flipV="1">
            <a:off x="3526971" y="1709057"/>
            <a:ext cx="304800" cy="42454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8A014D-BE5F-DD0D-BDAB-87951A4DF2EA}"/>
              </a:ext>
            </a:extLst>
          </p:cNvPr>
          <p:cNvSpPr txBox="1"/>
          <p:nvPr/>
        </p:nvSpPr>
        <p:spPr>
          <a:xfrm>
            <a:off x="5921828" y="4177620"/>
            <a:ext cx="11211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388455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91F0-8229-ACB6-92EB-5AA0B50D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A0424B-37DA-240C-CFC7-35C9052E100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C51EDB-B872-5D3D-FFD3-658433F06207}"/>
              </a:ext>
            </a:extLst>
          </p:cNvPr>
          <p:cNvSpPr txBox="1"/>
          <p:nvPr/>
        </p:nvSpPr>
        <p:spPr>
          <a:xfrm>
            <a:off x="332403" y="1177137"/>
            <a:ext cx="11527192" cy="483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pt-BR" altLang="pt-BR" sz="2400" dirty="0">
                <a:latin typeface="Aptos" panose="020B0004020202020204" pitchFamily="34" charset="0"/>
              </a:rPr>
              <a:t>Variação do produto iônico da água (K</a:t>
            </a:r>
            <a:r>
              <a:rPr lang="pt-BR" altLang="pt-BR" sz="2400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dirty="0">
                <a:latin typeface="Aptos" panose="020B0004020202020204" pitchFamily="34" charset="0"/>
              </a:rPr>
              <a:t>) com a temperatura:</a:t>
            </a: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À 25°C, K</a:t>
            </a:r>
            <a:r>
              <a:rPr lang="pt-BR" altLang="pt-BR" sz="2400" kern="0" baseline="-25000" dirty="0">
                <a:latin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1,00 x 10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-14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 água pura:</a:t>
            </a:r>
            <a:r>
              <a:rPr lang="pt-BR" altLang="pt-BR" sz="2400" b="1" kern="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= [OH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</a:t>
            </a:r>
            <a:endParaRPr lang="pt-BR" altLang="pt-BR" sz="2400" kern="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=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mol L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-1 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- log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= - log 1,00 x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 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pH = 7,000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51EBEF4-09AF-69DE-3DFA-2801EDA8370A}"/>
              </a:ext>
            </a:extLst>
          </p:cNvPr>
          <p:cNvGraphicFramePr>
            <a:graphicFrameLocks noGrp="1"/>
          </p:cNvGraphicFramePr>
          <p:nvPr/>
        </p:nvGraphicFramePr>
        <p:xfrm>
          <a:off x="2862942" y="1838198"/>
          <a:ext cx="6466114" cy="185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90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  (°C)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 dirty="0" err="1"/>
                        <a:t>K</a:t>
                      </a:r>
                      <a:r>
                        <a:rPr lang="pt-BR" sz="2000" baseline="-25000" dirty="0" err="1"/>
                        <a:t>w</a:t>
                      </a:r>
                      <a:r>
                        <a:rPr lang="pt-BR" sz="2000" baseline="-25000" dirty="0"/>
                        <a:t> 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/>
                        <a:t>T (°C)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aseline="0" dirty="0" err="1"/>
                        <a:t>K</a:t>
                      </a:r>
                      <a:r>
                        <a:rPr lang="pt-BR" sz="2000" baseline="-25000" dirty="0" err="1"/>
                        <a:t>w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0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1,14 x 10</a:t>
                      </a:r>
                      <a:r>
                        <a:rPr lang="pt-BR" sz="2000" baseline="30000" dirty="0"/>
                        <a:t>-15</a:t>
                      </a:r>
                      <a:endParaRPr lang="en-US" sz="200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30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1,47 x 10</a:t>
                      </a:r>
                      <a:r>
                        <a:rPr lang="pt-BR" sz="2000" baseline="30000" dirty="0"/>
                        <a:t>-14</a:t>
                      </a:r>
                      <a:endParaRPr lang="en-US" sz="200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0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20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6,81 x 10</a:t>
                      </a:r>
                      <a:r>
                        <a:rPr lang="pt-BR" sz="2000" baseline="30000" dirty="0"/>
                        <a:t>-15</a:t>
                      </a:r>
                      <a:endParaRPr lang="en-US" sz="200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50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5,47 x 10</a:t>
                      </a:r>
                      <a:r>
                        <a:rPr lang="pt-BR" sz="2000" baseline="30000" dirty="0"/>
                        <a:t>-14</a:t>
                      </a:r>
                      <a:endParaRPr lang="en-US" sz="200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09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25</a:t>
                      </a:r>
                      <a:endParaRPr lang="en-US" sz="2000" b="1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/>
                        <a:t>1,00 x 10</a:t>
                      </a:r>
                      <a:r>
                        <a:rPr lang="pt-BR" sz="2000" b="1" baseline="30000" dirty="0"/>
                        <a:t>-14</a:t>
                      </a:r>
                      <a:endParaRPr lang="en-US" sz="2000" b="1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100</a:t>
                      </a:r>
                      <a:endParaRPr lang="en-US" sz="2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5,51 x 10</a:t>
                      </a:r>
                      <a:r>
                        <a:rPr lang="pt-BR" sz="2000" baseline="30000" dirty="0"/>
                        <a:t>-13</a:t>
                      </a:r>
                      <a:endParaRPr lang="en-US" sz="2000" baseline="30000" dirty="0">
                        <a:latin typeface="Aptos" panose="020B0004020202020204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10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C50A-D6C0-130D-933D-5EAF80A2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938F040-3488-83E2-399E-9D0424470ED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8366D1-2028-698E-3A05-3186C339FD10}"/>
              </a:ext>
            </a:extLst>
          </p:cNvPr>
          <p:cNvSpPr txBox="1"/>
          <p:nvPr/>
        </p:nvSpPr>
        <p:spPr>
          <a:xfrm>
            <a:off x="332403" y="918569"/>
            <a:ext cx="11527192" cy="502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À 25°C, K</a:t>
            </a:r>
            <a:r>
              <a:rPr lang="pt-BR" altLang="pt-BR" sz="2400" kern="0" baseline="-25000" dirty="0">
                <a:latin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1,00 x 10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-14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pt-BR" altLang="pt-BR" sz="2400" kern="0" dirty="0"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 meio ácido:</a:t>
            </a:r>
            <a:r>
              <a:rPr lang="pt-BR" altLang="pt-BR" sz="2400" b="1" kern="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&gt; [OH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</a:t>
            </a:r>
            <a:endParaRPr lang="pt-BR" altLang="pt-BR" sz="2400" kern="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&gt;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mol L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-1   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log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&gt; log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x (-1)</a:t>
            </a:r>
            <a:endParaRPr lang="pt-BR" altLang="pt-BR" sz="2400" kern="0" dirty="0"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- log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&lt; - log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pH &lt; 7,000</a:t>
            </a:r>
            <a:endParaRPr lang="pt-BR" altLang="pt-BR" sz="2400" b="1" kern="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altLang="pt-BR" sz="2400" b="1" kern="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 meio básico: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&lt; [OH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</a:t>
            </a:r>
            <a:endParaRPr lang="pt-BR" altLang="pt-BR" sz="2400" kern="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&lt;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mol L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-1   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log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&lt; log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x (-1) </a:t>
            </a:r>
          </a:p>
          <a:p>
            <a:pPr algn="ctr">
              <a:lnSpc>
                <a:spcPct val="150000"/>
              </a:lnSpc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log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] &gt; - log 1,00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-7 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pH &gt; 7,000</a:t>
            </a:r>
          </a:p>
        </p:txBody>
      </p:sp>
    </p:spTree>
    <p:extLst>
      <p:ext uri="{BB962C8B-B14F-4D97-AF65-F5344CB8AC3E}">
        <p14:creationId xmlns:p14="http://schemas.microsoft.com/office/powerpoint/2010/main" val="156841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984C5-2B11-CAB5-0495-0684539F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1800C4-4C7E-5376-87B3-C3F4320432B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DD661D-CC4B-B907-931D-EA39ADCDAC6B}"/>
              </a:ext>
            </a:extLst>
          </p:cNvPr>
          <p:cNvSpPr txBox="1"/>
          <p:nvPr/>
        </p:nvSpPr>
        <p:spPr>
          <a:xfrm>
            <a:off x="332403" y="732314"/>
            <a:ext cx="11527192" cy="520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kern="0" dirty="0">
                <a:latin typeface="Aptos" panose="020B0004020202020204" pitchFamily="34" charset="0"/>
              </a:rPr>
              <a:t>K</a:t>
            </a:r>
            <a:r>
              <a:rPr lang="pt-BR" sz="2400" kern="0" baseline="-25000" dirty="0">
                <a:latin typeface="Aptos" panose="020B0004020202020204" pitchFamily="34" charset="0"/>
              </a:rPr>
              <a:t>w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= 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][OH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kern="0" dirty="0">
                <a:latin typeface="Aptos" panose="020B0004020202020204" pitchFamily="34" charset="0"/>
              </a:rPr>
              <a:t>1,00 x 10</a:t>
            </a:r>
            <a:r>
              <a:rPr lang="pt-BR" sz="2400" kern="0" baseline="30000" dirty="0">
                <a:latin typeface="Aptos" panose="020B0004020202020204" pitchFamily="34" charset="0"/>
              </a:rPr>
              <a:t>-14 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= 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][OH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log ([H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][OH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]) = log </a:t>
            </a:r>
            <a:r>
              <a:rPr lang="pt-BR" sz="2400" kern="0" dirty="0">
                <a:latin typeface="Aptos" panose="020B0004020202020204" pitchFamily="34" charset="0"/>
              </a:rPr>
              <a:t>1,00 x 10</a:t>
            </a:r>
            <a:r>
              <a:rPr lang="pt-BR" sz="2400" kern="0" baseline="30000" dirty="0">
                <a:latin typeface="Aptos" panose="020B0004020202020204" pitchFamily="34" charset="0"/>
              </a:rPr>
              <a:t>-14 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log 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 + log [OH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 = - 14,000   x (-1)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- log [H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+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 - log [OH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] = 14,000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pH + </a:t>
            </a:r>
            <a:r>
              <a:rPr lang="pt-BR" sz="24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pOH</a:t>
            </a: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 = 14,000</a:t>
            </a: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/>
            </a:endParaRPr>
          </a:p>
          <a:p>
            <a:pPr algn="ctr"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Exemplo 1: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Considerando que K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w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= f (T) e que, </a:t>
            </a:r>
            <a:r>
              <a:rPr 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30°C, K</a:t>
            </a:r>
            <a:r>
              <a:rPr lang="pt-BR" altLang="pt-BR" sz="2400" kern="0" baseline="-25000" dirty="0">
                <a:latin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= 1,47 x 10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-14</a:t>
            </a:r>
            <a:r>
              <a:rPr lang="pt-BR" altLang="pt-BR" sz="2400" kern="0" baseline="-25000" dirty="0">
                <a:latin typeface="Aptos" panose="020B0004020202020204" pitchFamily="34" charset="0"/>
                <a:cs typeface="Arial" panose="020B0604020202020204" pitchFamily="34" charset="0"/>
              </a:rPr>
              <a:t>,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qual o valor da soma de pH + </a:t>
            </a:r>
            <a:r>
              <a:rPr lang="pt-BR" altLang="pt-BR" sz="2400" kern="0" dirty="0" err="1">
                <a:latin typeface="Aptos" panose="020B0004020202020204" pitchFamily="34" charset="0"/>
                <a:cs typeface="Arial" panose="020B0604020202020204" pitchFamily="34" charset="0"/>
              </a:rPr>
              <a:t>pOH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a 30° C? </a:t>
            </a:r>
            <a:endParaRPr lang="pt-BR" altLang="pt-BR" sz="2400" kern="0" dirty="0"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E59D07-D99B-0DD3-EA80-D0AEB76E0B60}"/>
              </a:ext>
            </a:extLst>
          </p:cNvPr>
          <p:cNvSpPr txBox="1"/>
          <p:nvPr/>
        </p:nvSpPr>
        <p:spPr>
          <a:xfrm>
            <a:off x="3973284" y="5463410"/>
            <a:ext cx="424542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+ </a:t>
            </a:r>
            <a:r>
              <a:rPr lang="pt-BR" sz="24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pOH</a:t>
            </a: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 = 13,800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6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9866-5262-BE2D-FDEB-5EF16FF7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7B85C4-2043-502B-183E-D82F2A5E03F4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C4710A-1163-FC0F-A892-DA1444F630AF}"/>
              </a:ext>
            </a:extLst>
          </p:cNvPr>
          <p:cNvSpPr txBox="1"/>
          <p:nvPr/>
        </p:nvSpPr>
        <p:spPr>
          <a:xfrm>
            <a:off x="332403" y="561085"/>
            <a:ext cx="115271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Força de ácidos e bases</a:t>
            </a:r>
          </a:p>
          <a:p>
            <a:pPr algn="ctr">
              <a:defRPr/>
            </a:pP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pt-BR" altLang="pt-BR" sz="2400" kern="0" dirty="0"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Em uma solução, o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ácido forte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é usualmente a única fonte de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+.</a:t>
            </a:r>
          </a:p>
          <a:p>
            <a:pPr>
              <a:lnSpc>
                <a:spcPct val="150000"/>
              </a:lnSpc>
              <a:defRPr/>
            </a:pPr>
            <a:endParaRPr lang="pt-BR" altLang="pt-BR" sz="240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(-log [H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]) da solução é dado pela concentração inicial em mol.L</a:t>
            </a:r>
            <a:r>
              <a:rPr lang="pt-BR" alt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do ácido.</a:t>
            </a:r>
          </a:p>
          <a:p>
            <a:pPr algn="ctr">
              <a:lnSpc>
                <a:spcPct val="150000"/>
              </a:lnSpc>
              <a:defRPr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Ácidos fortes mais comuns: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HBr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HI, HNO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HClO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HClO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SO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4.</a:t>
            </a: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Ácidos fortes são eletrólitos fortes. 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Ácidos fortes em solução ionizam-se completamente.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Em uma solução o ácido forte usualmente é a única fonte de 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mas se a concentração em mol.L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do ácido for menor que  10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-6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mol.L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deve-se considerar a </a:t>
            </a: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auto-ionização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da água:</a:t>
            </a: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pH de uma solução contendo 10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-8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de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= 8</a:t>
            </a:r>
            <a:endParaRPr lang="pt-BR" alt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14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0CC9E-5379-4CDE-4B4B-139584D4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27CF10-F49E-1072-4E11-6C83B87F3B6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5898CB-B049-FEDF-9E64-41D655C29134}"/>
              </a:ext>
            </a:extLst>
          </p:cNvPr>
          <p:cNvSpPr txBox="1"/>
          <p:nvPr/>
        </p:nvSpPr>
        <p:spPr>
          <a:xfrm>
            <a:off x="256203" y="839881"/>
            <a:ext cx="11527192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pt-BR" altLang="pt-BR" sz="2400" b="1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Ácido mais forte</a:t>
            </a: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endParaRPr lang="pt-BR" altLang="pt-BR" sz="11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endParaRPr lang="pt-BR" altLang="pt-BR" sz="2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pt-BR" altLang="pt-BR" sz="24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    1%</a:t>
            </a: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endParaRPr lang="pt-BR" altLang="pt-BR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pt-BR" altLang="pt-BR" sz="24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    0,01 %</a:t>
            </a:r>
          </a:p>
          <a:p>
            <a:pPr algn="r">
              <a:lnSpc>
                <a:spcPct val="150000"/>
              </a:lnSpc>
              <a:buFont typeface="Arial" charset="0"/>
              <a:buNone/>
              <a:defRPr/>
            </a:pPr>
            <a:r>
              <a:rPr lang="pt-BR" altLang="pt-BR" sz="24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 mais forte</a:t>
            </a:r>
          </a:p>
          <a:p>
            <a:pPr>
              <a:buFont typeface="Arial" charset="0"/>
              <a:buNone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buFont typeface="Arial" charset="0"/>
              <a:buNone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força do ácido é inversamente relacionada com a força da sua base conjugada; quanto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mais forte o ácido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mais fraca será sua base conjugada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17D8D08-DE1D-0C1F-2F27-BF0CEC2D2D94}"/>
              </a:ext>
            </a:extLst>
          </p:cNvPr>
          <p:cNvGraphicFramePr>
            <a:graphicFrameLocks noGrp="1"/>
          </p:cNvGraphicFramePr>
          <p:nvPr/>
        </p:nvGraphicFramePr>
        <p:xfrm>
          <a:off x="3448957" y="1453609"/>
          <a:ext cx="5294086" cy="2651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94086">
                  <a:extLst>
                    <a:ext uri="{9D8B030D-6E8A-4147-A177-3AD203B41FA5}">
                      <a16:colId xmlns:a16="http://schemas.microsoft.com/office/drawing/2014/main" val="190594606"/>
                    </a:ext>
                  </a:extLst>
                </a:gridCol>
              </a:tblGrid>
              <a:tr h="2087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HClO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ClO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baseline="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pt-BR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HCl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 </a:t>
                      </a:r>
                      <a:r>
                        <a:rPr lang="pt-BR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 Cl</a:t>
                      </a:r>
                      <a:r>
                        <a:rPr lang="pt-BR" sz="2400" baseline="30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pt-BR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PO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PO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endParaRPr lang="pt-BR" sz="24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5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COOH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COO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pt-BR" sz="24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59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PO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HPO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2-</a:t>
                      </a:r>
                      <a:endParaRPr lang="pt-BR" sz="24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3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NH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⇆ 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+ NH</a:t>
                      </a:r>
                      <a:r>
                        <a:rPr lang="pt-BR" sz="2400" baseline="-30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380129"/>
                  </a:ext>
                </a:extLst>
              </a:tr>
            </a:tbl>
          </a:graphicData>
        </a:graphic>
      </p:graphicFrame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A1A2D678-28F9-3E96-1A55-C80F3666003C}"/>
              </a:ext>
            </a:extLst>
          </p:cNvPr>
          <p:cNvCxnSpPr>
            <a:cxnSpLocks/>
          </p:cNvCxnSpPr>
          <p:nvPr/>
        </p:nvCxnSpPr>
        <p:spPr>
          <a:xfrm>
            <a:off x="8850086" y="1453609"/>
            <a:ext cx="0" cy="265176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8B13116-A603-88E7-6DE3-B21B0C46431F}"/>
              </a:ext>
            </a:extLst>
          </p:cNvPr>
          <p:cNvCxnSpPr>
            <a:cxnSpLocks/>
          </p:cNvCxnSpPr>
          <p:nvPr/>
        </p:nvCxnSpPr>
        <p:spPr>
          <a:xfrm flipV="1">
            <a:off x="3298371" y="1453609"/>
            <a:ext cx="0" cy="265176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1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2449-D7C4-75FE-4588-88E00BAE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95159A4-ECF9-C49F-FD37-5485156865C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53367F-B4FA-5998-AF48-E26AF6A86768}"/>
              </a:ext>
            </a:extLst>
          </p:cNvPr>
          <p:cNvSpPr txBox="1"/>
          <p:nvPr/>
        </p:nvSpPr>
        <p:spPr>
          <a:xfrm>
            <a:off x="332404" y="601682"/>
            <a:ext cx="11527192" cy="539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1. pH de ácidos fortes (HA)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Ácido forte HA (C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mol.L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)</a:t>
            </a: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HA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</a:t>
            </a:r>
            <a:r>
              <a:rPr lang="pt-BR" altLang="pt-BR" sz="2400" kern="0" dirty="0">
                <a:latin typeface="Aptos" panose="020B0004020202020204" pitchFamily="34" charset="0"/>
              </a:rPr>
              <a:t>  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A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</a:t>
            </a:r>
            <a:endParaRPr lang="pt-BR" altLang="pt-BR" sz="2400" kern="0" baseline="30000" dirty="0">
              <a:latin typeface="Aptos" panose="020B00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</a:rPr>
              <a:t>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  </a:t>
            </a:r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+  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endParaRPr lang="pt-BR" altLang="pt-BR" sz="2400" kern="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= [HA] +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pt-BR" altLang="pt-BR" sz="2400" dirty="0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=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               (1) </a:t>
            </a:r>
          </a:p>
          <a:p>
            <a:pPr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 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 </a:t>
            </a:r>
            <a:r>
              <a:rPr lang="en-US" altLang="pt-BR" sz="2400" dirty="0">
                <a:latin typeface="Aptos" panose="020B0004020202020204" pitchFamily="34" charset="0"/>
              </a:rPr>
              <a:t>=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                                  (2)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 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(1)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(2):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</a:t>
            </a:r>
            <a:r>
              <a:rPr lang="en-US" altLang="pt-BR" sz="2400" dirty="0">
                <a:latin typeface="Aptos" panose="020B0004020202020204" pitchFamily="34" charset="0"/>
              </a:rPr>
              <a:t>= </a:t>
            </a:r>
            <a:r>
              <a:rPr lang="pt-BR" altLang="pt-BR" sz="2400" dirty="0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                                                                                            </a:t>
            </a:r>
            <a:r>
              <a:rPr lang="en-US" altLang="pt-BR" sz="2400" dirty="0">
                <a:latin typeface="Aptos" panose="020B0004020202020204" pitchFamily="34" charset="0"/>
              </a:rPr>
              <a:t>(3)</a:t>
            </a:r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1D96A2B-7FA5-A4E8-1C3E-E9753C3EFD91}"/>
              </a:ext>
            </a:extLst>
          </p:cNvPr>
          <p:cNvCxnSpPr/>
          <p:nvPr/>
        </p:nvCxnSpPr>
        <p:spPr>
          <a:xfrm flipV="1">
            <a:off x="3842658" y="3776936"/>
            <a:ext cx="424543" cy="6313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20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FAEE-36B4-98D7-F1EA-940EB602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6EF941-2F60-2867-4CF9-FD471A6C739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A935B7-1A32-3308-08DD-A9D0FA529B36}"/>
              </a:ext>
            </a:extLst>
          </p:cNvPr>
          <p:cNvSpPr txBox="1"/>
          <p:nvPr/>
        </p:nvSpPr>
        <p:spPr>
          <a:xfrm>
            <a:off x="332402" y="539538"/>
            <a:ext cx="11527192" cy="520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Constante de equilíbrio da água:</a:t>
            </a:r>
            <a:r>
              <a:rPr lang="pt-BR" alt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l-PL" altLang="pt-BR" sz="2400" dirty="0">
                <a:latin typeface="Aptos" panose="020B0004020202020204" pitchFamily="34" charset="0"/>
              </a:rPr>
              <a:t>K</a:t>
            </a:r>
            <a:r>
              <a:rPr lang="pl-PL" altLang="pt-BR" sz="2400" baseline="-25000" dirty="0">
                <a:latin typeface="Aptos" panose="020B0004020202020204" pitchFamily="34" charset="0"/>
              </a:rPr>
              <a:t>w</a:t>
            </a:r>
            <a:r>
              <a:rPr lang="pl-PL" altLang="pt-BR" sz="2400" dirty="0">
                <a:latin typeface="Aptos" panose="020B0004020202020204" pitchFamily="34" charset="0"/>
              </a:rPr>
              <a:t> = [H</a:t>
            </a:r>
            <a:r>
              <a:rPr lang="pl-PL" altLang="pt-BR" sz="2400" baseline="30000" dirty="0">
                <a:latin typeface="Aptos" panose="020B0004020202020204" pitchFamily="34" charset="0"/>
              </a:rPr>
              <a:t>+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</a:t>
            </a:r>
            <a:r>
              <a:rPr lang="pl-PL" altLang="pt-BR" sz="2400" dirty="0">
                <a:latin typeface="Aptos" panose="020B0004020202020204" pitchFamily="34" charset="0"/>
              </a:rPr>
              <a:t>[OH</a:t>
            </a:r>
            <a:r>
              <a:rPr lang="pl-PL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pl-PL" altLang="pt-BR" sz="2400" dirty="0">
                <a:latin typeface="Aptos" panose="020B0004020202020204" pitchFamily="34" charset="0"/>
              </a:rPr>
              <a:t>[OH</a:t>
            </a:r>
            <a:r>
              <a:rPr lang="pl-PL" altLang="pt-BR" sz="2400" baseline="30000" dirty="0">
                <a:latin typeface="Aptos" panose="020B0004020202020204" pitchFamily="34" charset="0"/>
              </a:rPr>
              <a:t>-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= </a:t>
            </a:r>
            <a:r>
              <a:rPr lang="pl-PL" altLang="pt-BR" sz="2400" dirty="0">
                <a:latin typeface="Aptos" panose="020B0004020202020204" pitchFamily="34" charset="0"/>
              </a:rPr>
              <a:t>K</a:t>
            </a:r>
            <a:r>
              <a:rPr lang="pl-PL" altLang="pt-BR" sz="2400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</a:rPr>
              <a:t>/</a:t>
            </a:r>
            <a:r>
              <a:rPr lang="pl-PL" altLang="pt-BR" sz="2400" dirty="0">
                <a:latin typeface="Aptos" panose="020B0004020202020204" pitchFamily="34" charset="0"/>
              </a:rPr>
              <a:t>[H</a:t>
            </a:r>
            <a:r>
              <a:rPr lang="pl-PL" altLang="pt-BR" sz="2400" baseline="30000" dirty="0">
                <a:latin typeface="Aptos" panose="020B0004020202020204" pitchFamily="34" charset="0"/>
              </a:rPr>
              <a:t>+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                                                                                                                                                 (4)</a:t>
            </a:r>
            <a:endParaRPr lang="pt-BR" sz="2400" b="1" kern="0" baseline="30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pt-BR" alt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 (4) em (3):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kern="0" baseline="300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kern="0" dirty="0">
                <a:latin typeface="Aptos" panose="020B0004020202020204" pitchFamily="34" charset="0"/>
              </a:rPr>
              <a:t>[H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b="1" kern="0" dirty="0">
                <a:latin typeface="Aptos" panose="020B0004020202020204" pitchFamily="34" charset="0"/>
              </a:rPr>
              <a:t>] </a:t>
            </a:r>
            <a:r>
              <a:rPr lang="en-US" altLang="pt-BR" sz="2400" b="1" dirty="0">
                <a:latin typeface="Aptos" panose="020B0004020202020204" pitchFamily="34" charset="0"/>
              </a:rPr>
              <a:t>= </a:t>
            </a:r>
            <a:r>
              <a:rPr lang="pt-BR" altLang="pt-BR" sz="2400" b="1" dirty="0">
                <a:latin typeface="Aptos" panose="020B0004020202020204" pitchFamily="34" charset="0"/>
              </a:rPr>
              <a:t>C</a:t>
            </a:r>
            <a:r>
              <a:rPr lang="pt-BR" altLang="pt-BR" sz="2400" b="1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b="1" dirty="0">
                <a:latin typeface="Aptos" panose="020B0004020202020204" pitchFamily="34" charset="0"/>
              </a:rPr>
              <a:t>+ </a:t>
            </a:r>
            <a:r>
              <a:rPr lang="pl-PL" altLang="pt-BR" sz="2400" b="1" dirty="0">
                <a:latin typeface="Aptos" panose="020B0004020202020204" pitchFamily="34" charset="0"/>
              </a:rPr>
              <a:t>K</a:t>
            </a:r>
            <a:r>
              <a:rPr lang="pl-PL" altLang="pt-BR" sz="2400" b="1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b="1" baseline="-25000" dirty="0">
                <a:latin typeface="Aptos" panose="020B00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</a:rPr>
              <a:t>/</a:t>
            </a:r>
            <a:r>
              <a:rPr lang="pl-PL" altLang="pt-BR" sz="2400" b="1" dirty="0">
                <a:latin typeface="Aptos" panose="020B0004020202020204" pitchFamily="34" charset="0"/>
              </a:rPr>
              <a:t>[H</a:t>
            </a:r>
            <a:r>
              <a:rPr lang="pl-PL" altLang="pt-BR" sz="2400" b="1" baseline="30000" dirty="0">
                <a:latin typeface="Aptos" panose="020B0004020202020204" pitchFamily="34" charset="0"/>
              </a:rPr>
              <a:t>+</a:t>
            </a:r>
            <a:r>
              <a:rPr lang="pl-PL" altLang="pt-BR" sz="2400" b="1" dirty="0">
                <a:latin typeface="Aptos" panose="020B0004020202020204" pitchFamily="34" charset="0"/>
              </a:rPr>
              <a:t>]</a:t>
            </a:r>
            <a:r>
              <a:rPr lang="pt-BR" sz="2400" b="1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 </a:t>
            </a:r>
            <a:r>
              <a:rPr lang="pt-BR" sz="2400" b="1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</a:t>
            </a:r>
            <a:r>
              <a:rPr lang="pt-BR" altLang="pt-BR" sz="2400" b="1" dirty="0">
                <a:latin typeface="Aptos" panose="020B0004020202020204" pitchFamily="34" charset="0"/>
              </a:rPr>
              <a:t>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Equação geral</a:t>
            </a:r>
          </a:p>
          <a:p>
            <a:pPr>
              <a:lnSpc>
                <a:spcPct val="150000"/>
              </a:lnSpc>
            </a:pPr>
            <a:endParaRPr lang="pt-BR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</a:rPr>
              <a:t>Para um ácido forte, considera-se: [OH</a:t>
            </a:r>
            <a:r>
              <a:rPr lang="pt-BR" altLang="pt-BR" sz="240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dirty="0">
                <a:latin typeface="Aptos" panose="020B0004020202020204" pitchFamily="34" charset="0"/>
              </a:rPr>
              <a:t>] « 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] ≈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pt-BR" altLang="pt-BR" sz="2400" baseline="-25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2: </a:t>
            </a:r>
            <a:r>
              <a:rPr lang="pt-BR" sz="2400" dirty="0">
                <a:latin typeface="Aptos" panose="020B0004020202020204" pitchFamily="34" charset="0"/>
              </a:rPr>
              <a:t>Calcule o pH de uma solução de </a:t>
            </a:r>
            <a:r>
              <a:rPr lang="pt-BR" sz="2400" dirty="0" err="1">
                <a:latin typeface="Aptos" panose="020B0004020202020204" pitchFamily="34" charset="0"/>
              </a:rPr>
              <a:t>HCl</a:t>
            </a:r>
            <a:r>
              <a:rPr lang="pt-BR" sz="2400" dirty="0">
                <a:latin typeface="Aptos" panose="020B0004020202020204" pitchFamily="34" charset="0"/>
              </a:rPr>
              <a:t> com </a:t>
            </a:r>
            <a:r>
              <a:rPr lang="pt-BR" altLang="pt-BR" sz="2400" dirty="0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= 0,1000 mol.L</a:t>
            </a:r>
            <a:r>
              <a:rPr lang="en-US" altLang="pt-BR" sz="2400" baseline="30000" dirty="0">
                <a:latin typeface="Aptos" panose="020B0004020202020204" pitchFamily="34" charset="0"/>
              </a:rPr>
              <a:t>-1</a:t>
            </a:r>
            <a:r>
              <a:rPr lang="en-US" altLang="pt-BR" sz="2400" baseline="-25000" dirty="0">
                <a:latin typeface="Aptos" panose="020B0004020202020204" pitchFamily="34" charset="0"/>
              </a:rPr>
              <a:t>.</a:t>
            </a:r>
            <a:endParaRPr lang="pt-BR" sz="2400" baseline="-25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F56355F-1D51-23A9-264B-34ACA7C78FA7}"/>
              </a:ext>
            </a:extLst>
          </p:cNvPr>
          <p:cNvSpPr txBox="1"/>
          <p:nvPr/>
        </p:nvSpPr>
        <p:spPr>
          <a:xfrm>
            <a:off x="3973283" y="5749234"/>
            <a:ext cx="424542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1,0000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37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80E8-1084-286A-8190-49A6ACC3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7CB07B-250B-6C35-460A-D2629BBC1C0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F9C94E-E612-03F9-A662-61DBA156C285}"/>
              </a:ext>
            </a:extLst>
          </p:cNvPr>
          <p:cNvSpPr txBox="1"/>
          <p:nvPr/>
        </p:nvSpPr>
        <p:spPr>
          <a:xfrm>
            <a:off x="332403" y="638204"/>
            <a:ext cx="11527192" cy="558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grande maioria dos hidróxidos iônicos são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bases fortes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 (p.ex. NaOH, KOH, Ca(OH)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Bases fortes são eletrólitos fortes e se dissociam completamente em solução.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pOH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(e portanto o pH) de uma base forte é dado pela concentração mol.L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inicial da base. Cuidado com a estequiometria.</a:t>
            </a:r>
          </a:p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Bases não precisam ter o íon OH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na fórmula:</a:t>
            </a:r>
          </a:p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alt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+ H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pt-BR" alt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2OH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+ H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pt-BR" alt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+ OH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+ H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pt-BR" alt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HN</a:t>
            </a:r>
            <a:r>
              <a:rPr lang="pt-BR" altLang="pt-B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+ OH</a:t>
            </a:r>
            <a:r>
              <a:rPr lang="pt-BR" alt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265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9C31-B59F-7A03-EABA-36F26B76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96C6EE-E40D-43F8-4AF1-CAA61A042BF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6C53D1-7DDD-2C54-1F3B-F3FEB0394C53}"/>
              </a:ext>
            </a:extLst>
          </p:cNvPr>
          <p:cNvSpPr txBox="1"/>
          <p:nvPr/>
        </p:nvSpPr>
        <p:spPr>
          <a:xfrm>
            <a:off x="332404" y="731819"/>
            <a:ext cx="11527192" cy="539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2. pH de bases fortes (BOH)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Base forte BOH (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C</a:t>
            </a:r>
            <a:r>
              <a:rPr lang="pt-BR" sz="2400" kern="0" baseline="-25000" dirty="0" err="1">
                <a:latin typeface="Aptos" panose="020B0004020202020204" pitchFamily="34" charset="0"/>
                <a:cs typeface="Arial"/>
              </a:rPr>
              <a:t>b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mol L-1)</a:t>
            </a: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BOH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↔  B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OH+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</a:t>
            </a: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  </a:t>
            </a:r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+  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endParaRPr lang="pt-BR" altLang="pt-BR" sz="2400" kern="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= [BOH] + [B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[B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          (1) </a:t>
            </a:r>
          </a:p>
          <a:p>
            <a:pPr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 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latin typeface="Aptos" panose="020B0004020202020204" pitchFamily="34" charset="0"/>
              </a:rPr>
              <a:t> + [B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kern="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                                  (2)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 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(1)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(2):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+</a:t>
            </a:r>
            <a:r>
              <a:rPr lang="en-US" altLang="pt-BR" sz="2400" dirty="0">
                <a:latin typeface="Aptos" panose="020B0004020202020204" pitchFamily="34" charset="0"/>
              </a:rPr>
              <a:t>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                                                                                            </a:t>
            </a:r>
            <a:r>
              <a:rPr lang="en-US" altLang="pt-BR" sz="2400" dirty="0">
                <a:latin typeface="Aptos" panose="020B0004020202020204" pitchFamily="34" charset="0"/>
              </a:rPr>
              <a:t>(3)</a:t>
            </a:r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0350267-10B2-35F7-B915-24178FBD2CDF}"/>
              </a:ext>
            </a:extLst>
          </p:cNvPr>
          <p:cNvCxnSpPr>
            <a:cxnSpLocks/>
          </p:cNvCxnSpPr>
          <p:nvPr/>
        </p:nvCxnSpPr>
        <p:spPr>
          <a:xfrm flipV="1">
            <a:off x="3963427" y="3985404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12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B615-2FC7-3A30-27F0-2AA81C8E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E7ACAD2-FE90-39FE-546A-8C846F393DB4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A3FA72-F58B-190C-CE2A-800FB68AAA99}"/>
              </a:ext>
            </a:extLst>
          </p:cNvPr>
          <p:cNvSpPr txBox="1"/>
          <p:nvPr/>
        </p:nvSpPr>
        <p:spPr>
          <a:xfrm>
            <a:off x="332402" y="539538"/>
            <a:ext cx="11527192" cy="5579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Constante de equilíbrio da água:</a:t>
            </a:r>
            <a:r>
              <a:rPr lang="pt-BR" alt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l-PL" altLang="pt-BR" sz="2400" dirty="0">
                <a:latin typeface="Aptos" panose="020B0004020202020204" pitchFamily="34" charset="0"/>
              </a:rPr>
              <a:t>K</a:t>
            </a:r>
            <a:r>
              <a:rPr lang="pl-PL" altLang="pt-BR" sz="2400" baseline="-25000" dirty="0">
                <a:latin typeface="Aptos" panose="020B0004020202020204" pitchFamily="34" charset="0"/>
              </a:rPr>
              <a:t>w</a:t>
            </a:r>
            <a:r>
              <a:rPr lang="pl-PL" altLang="pt-BR" sz="2400" dirty="0">
                <a:latin typeface="Aptos" panose="020B0004020202020204" pitchFamily="34" charset="0"/>
              </a:rPr>
              <a:t> = [H</a:t>
            </a:r>
            <a:r>
              <a:rPr lang="pl-PL" altLang="pt-BR" sz="2400" baseline="30000" dirty="0">
                <a:latin typeface="Aptos" panose="020B0004020202020204" pitchFamily="34" charset="0"/>
              </a:rPr>
              <a:t>+</a:t>
            </a:r>
            <a:r>
              <a:rPr lang="pl-PL" altLang="pt-BR" sz="2400" dirty="0">
                <a:latin typeface="Aptos" panose="020B0004020202020204" pitchFamily="34" charset="0"/>
              </a:rPr>
              <a:t>][OH</a:t>
            </a:r>
            <a:r>
              <a:rPr lang="pl-PL" altLang="pt-BR" sz="2400" baseline="30000" dirty="0">
                <a:latin typeface="Aptos" panose="020B0004020202020204" pitchFamily="34" charset="0"/>
              </a:rPr>
              <a:t>-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                                                                            (4)</a:t>
            </a:r>
          </a:p>
          <a:p>
            <a:pPr>
              <a:lnSpc>
                <a:spcPct val="150000"/>
              </a:lnSpc>
            </a:pPr>
            <a:r>
              <a:rPr lang="pl-PL" altLang="pt-BR" sz="2400" dirty="0">
                <a:latin typeface="Aptos" panose="020B0004020202020204" pitchFamily="34" charset="0"/>
              </a:rPr>
              <a:t>[H</a:t>
            </a:r>
            <a:r>
              <a:rPr lang="pl-PL" altLang="pt-BR" sz="2400" baseline="30000" dirty="0">
                <a:latin typeface="Aptos" panose="020B0004020202020204" pitchFamily="34" charset="0"/>
              </a:rPr>
              <a:t>+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= </a:t>
            </a:r>
            <a:r>
              <a:rPr lang="pl-PL" altLang="pt-BR" sz="2400" dirty="0">
                <a:latin typeface="Aptos" panose="020B0004020202020204" pitchFamily="34" charset="0"/>
              </a:rPr>
              <a:t>K</a:t>
            </a:r>
            <a:r>
              <a:rPr lang="pl-PL" altLang="pt-BR" sz="2400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pt-BR" altLang="pt-BR" sz="2400" dirty="0">
                <a:latin typeface="Aptos" panose="020B0004020202020204" pitchFamily="34" charset="0"/>
              </a:rPr>
              <a:t>/</a:t>
            </a:r>
            <a:r>
              <a:rPr lang="pl-PL" altLang="pt-BR" sz="2400" dirty="0">
                <a:latin typeface="Aptos" panose="020B0004020202020204" pitchFamily="34" charset="0"/>
              </a:rPr>
              <a:t>[OH</a:t>
            </a:r>
            <a:r>
              <a:rPr lang="pl-PL" altLang="pt-BR" sz="2400" baseline="30000" dirty="0">
                <a:latin typeface="Aptos" panose="020B0004020202020204" pitchFamily="34" charset="0"/>
              </a:rPr>
              <a:t>-</a:t>
            </a:r>
            <a:r>
              <a:rPr lang="pl-PL" altLang="pt-BR" sz="2400" dirty="0">
                <a:latin typeface="Aptos" panose="020B0004020202020204" pitchFamily="34" charset="0"/>
              </a:rPr>
              <a:t>]</a:t>
            </a:r>
            <a:r>
              <a:rPr lang="pt-BR" altLang="pt-BR" sz="2400" dirty="0">
                <a:latin typeface="Aptos" panose="020B0004020202020204" pitchFamily="34" charset="0"/>
              </a:rPr>
              <a:t>                                                                                                                                               (4a)</a:t>
            </a:r>
            <a:endParaRPr lang="en-US" sz="2400" b="1" kern="0" baseline="30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pt-BR" sz="2400" b="1" kern="0" baseline="30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 (4a) em (3):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kern="0" baseline="300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kern="0" dirty="0">
                <a:latin typeface="Aptos" panose="020B0004020202020204" pitchFamily="34" charset="0"/>
              </a:rPr>
              <a:t>[OH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b="1" kern="0" dirty="0">
                <a:latin typeface="Aptos" panose="020B0004020202020204" pitchFamily="34" charset="0"/>
              </a:rPr>
              <a:t>] </a:t>
            </a:r>
            <a:r>
              <a:rPr lang="en-US" altLang="pt-BR" sz="2400" b="1" dirty="0">
                <a:latin typeface="Aptos" panose="020B0004020202020204" pitchFamily="34" charset="0"/>
              </a:rPr>
              <a:t>= </a:t>
            </a:r>
            <a:r>
              <a:rPr lang="pt-BR" altLang="pt-BR" sz="2400" b="1" dirty="0" err="1">
                <a:latin typeface="Aptos" panose="020B0004020202020204" pitchFamily="34" charset="0"/>
              </a:rPr>
              <a:t>C</a:t>
            </a:r>
            <a:r>
              <a:rPr lang="pt-BR" altLang="pt-BR" sz="2400" b="1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="1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b="1" dirty="0">
                <a:latin typeface="Aptos" panose="020B0004020202020204" pitchFamily="34" charset="0"/>
              </a:rPr>
              <a:t>+ </a:t>
            </a:r>
            <a:r>
              <a:rPr lang="pl-PL" altLang="pt-BR" sz="2400" b="1" dirty="0">
                <a:latin typeface="Aptos" panose="020B0004020202020204" pitchFamily="34" charset="0"/>
              </a:rPr>
              <a:t>K</a:t>
            </a:r>
            <a:r>
              <a:rPr lang="pl-PL" altLang="pt-BR" sz="2400" b="1" baseline="-25000" dirty="0">
                <a:latin typeface="Aptos" panose="020B0004020202020204" pitchFamily="34" charset="0"/>
              </a:rPr>
              <a:t>w</a:t>
            </a:r>
            <a:r>
              <a:rPr lang="pt-BR" altLang="pt-BR" sz="2400" b="1" baseline="-25000" dirty="0">
                <a:latin typeface="Aptos" panose="020B0004020202020204" pitchFamily="34" charset="0"/>
              </a:rPr>
              <a:t> </a:t>
            </a:r>
            <a:r>
              <a:rPr lang="pt-BR" altLang="pt-BR" sz="2400" b="1" dirty="0">
                <a:latin typeface="Aptos" panose="020B0004020202020204" pitchFamily="34" charset="0"/>
              </a:rPr>
              <a:t>/</a:t>
            </a:r>
            <a:r>
              <a:rPr lang="pt-BR" altLang="pt-BR" sz="2400" b="1" kern="0" dirty="0">
                <a:latin typeface="Aptos" panose="020B0004020202020204" pitchFamily="34" charset="0"/>
              </a:rPr>
              <a:t> [OH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b="1" kern="0" dirty="0">
                <a:latin typeface="Aptos" panose="020B0004020202020204" pitchFamily="34" charset="0"/>
              </a:rPr>
              <a:t>]</a:t>
            </a:r>
            <a:r>
              <a:rPr lang="pt-BR" sz="2400" b="1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 </a:t>
            </a:r>
            <a:r>
              <a:rPr lang="pt-BR" sz="2400" b="1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</a:t>
            </a:r>
            <a:r>
              <a:rPr lang="pt-BR" altLang="pt-BR" sz="2400" b="1" dirty="0">
                <a:latin typeface="Aptos" panose="020B0004020202020204" pitchFamily="34" charset="0"/>
              </a:rPr>
              <a:t> </a:t>
            </a: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Equação geral</a:t>
            </a:r>
          </a:p>
          <a:p>
            <a:pPr>
              <a:lnSpc>
                <a:spcPct val="150000"/>
              </a:lnSpc>
            </a:pPr>
            <a:endParaRPr lang="pt-BR" altLang="pt-BR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</a:rPr>
              <a:t>Para uma base forte, considera-se: [H</a:t>
            </a:r>
            <a:r>
              <a:rPr lang="pt-BR" altLang="pt-BR" sz="240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</a:rPr>
              <a:t>] «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[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OH</a:t>
            </a:r>
            <a:r>
              <a:rPr lang="pt-BR" altLang="pt-BR" sz="2400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] ≈ </a:t>
            </a:r>
            <a:r>
              <a:rPr lang="pt-BR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pt-BR" altLang="pt-BR" sz="2400" baseline="-25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3: </a:t>
            </a:r>
            <a:r>
              <a:rPr lang="pt-BR" sz="2400" dirty="0">
                <a:latin typeface="Aptos" panose="020B0004020202020204" pitchFamily="34" charset="0"/>
              </a:rPr>
              <a:t>Calcule o </a:t>
            </a:r>
            <a:r>
              <a:rPr lang="pt-BR" sz="2400" dirty="0" err="1">
                <a:latin typeface="Aptos" panose="020B0004020202020204" pitchFamily="34" charset="0"/>
              </a:rPr>
              <a:t>pOH</a:t>
            </a:r>
            <a:r>
              <a:rPr lang="pt-BR" sz="2400" dirty="0">
                <a:latin typeface="Aptos" panose="020B0004020202020204" pitchFamily="34" charset="0"/>
              </a:rPr>
              <a:t> e o pH de uma solução de NaOH com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0,1000 mol.L</a:t>
            </a:r>
            <a:r>
              <a:rPr lang="en-US" altLang="pt-BR" sz="2400" baseline="30000" dirty="0">
                <a:latin typeface="Aptos" panose="020B0004020202020204" pitchFamily="34" charset="0"/>
              </a:rPr>
              <a:t>-1</a:t>
            </a:r>
            <a:r>
              <a:rPr lang="en-US" altLang="pt-BR" sz="2400" dirty="0">
                <a:latin typeface="Aptos" panose="020B0004020202020204" pitchFamily="34" charset="0"/>
              </a:rPr>
              <a:t> à 25 °C.</a:t>
            </a:r>
            <a:endParaRPr lang="pt-BR" sz="2400" baseline="30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3583AB-A82E-778F-AE71-F042D1F58E1F}"/>
              </a:ext>
            </a:extLst>
          </p:cNvPr>
          <p:cNvSpPr txBox="1"/>
          <p:nvPr/>
        </p:nvSpPr>
        <p:spPr>
          <a:xfrm>
            <a:off x="3200092" y="5501624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</a:t>
            </a:r>
            <a:r>
              <a:rPr lang="pt-BR" sz="24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pOH</a:t>
            </a: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 = 1,0000; pH = 13,0000 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2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384D906-947A-4815-A283-EE36DE3FBBF5}"/>
                  </a:ext>
                </a:extLst>
              </p:cNvPr>
              <p:cNvSpPr txBox="1"/>
              <p:nvPr/>
            </p:nvSpPr>
            <p:spPr>
              <a:xfrm>
                <a:off x="241110" y="1195983"/>
                <a:ext cx="11709778" cy="4466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eaLnBrk="1" hangingPunct="1">
                  <a:lnSpc>
                    <a:spcPct val="14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v"/>
                </a:pP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Ácidos fracos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estão apenas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parcialmente ionizados</a:t>
                </a:r>
                <a:r>
                  <a:rPr lang="pt-BR" altLang="pt-BR" sz="2400" b="1" dirty="0">
                    <a:solidFill>
                      <a:srgbClr val="C00000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em solução. </a:t>
                </a:r>
              </a:p>
              <a:p>
                <a:pPr marL="342900" indent="-342900" algn="just">
                  <a:lnSpc>
                    <a:spcPct val="14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v"/>
                </a:pP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Há uma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mistura de íons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ácido não ionizado</a:t>
                </a:r>
                <a:r>
                  <a:rPr lang="pt-BR" altLang="pt-BR" sz="2400" b="1" dirty="0">
                    <a:solidFill>
                      <a:srgbClr val="C00000"/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na solução. </a:t>
                </a:r>
              </a:p>
              <a:p>
                <a:pPr marL="342900" indent="-342900" algn="just">
                  <a:lnSpc>
                    <a:spcPct val="14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v"/>
                </a:pPr>
                <a:endParaRPr lang="pt-BR" sz="2400" b="1" dirty="0">
                  <a:solidFill>
                    <a:srgbClr val="000000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↔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+</m:t>
                          </m:r>
                        </m:sup>
                      </m:sSubSup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 </m:t>
                      </m:r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  <a:p>
                <a:pPr algn="just">
                  <a:lnSpc>
                    <a:spcPct val="140000"/>
                  </a:lnSpc>
                </a:pPr>
                <a:endParaRPr lang="pt-BR" sz="2400" b="1" dirty="0">
                  <a:latin typeface="Aptos" panose="020B0004020202020204" pitchFamily="34" charset="0"/>
                </a:endParaRPr>
              </a:p>
              <a:p>
                <a:pPr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pt-BR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p>
                              <m: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][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</a:rPr>
                            <m:t>HA</m:t>
                          </m:r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pt-BR" sz="24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ou</m:t>
                      </m:r>
                      <m:r>
                        <a:rPr lang="pt-BR" sz="24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pt-BR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][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pt-BR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pt-BR" sz="24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</a:rPr>
                            <m:t>HA</m:t>
                          </m:r>
                          <m:r>
                            <a:rPr lang="pt-BR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pt-BR" sz="2400" b="1" dirty="0">
                  <a:latin typeface="Aptos" panose="020B0004020202020204" pitchFamily="34" charset="0"/>
                </a:endParaRPr>
              </a:p>
              <a:p>
                <a:pPr algn="just">
                  <a:lnSpc>
                    <a:spcPct val="140000"/>
                  </a:lnSpc>
                </a:pPr>
                <a:endParaRPr lang="pt-BR" sz="2400" b="1" dirty="0">
                  <a:solidFill>
                    <a:srgbClr val="C00000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384D906-947A-4815-A283-EE36DE3FB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0" y="1195983"/>
                <a:ext cx="11709778" cy="4466031"/>
              </a:xfrm>
              <a:prstGeom prst="rect">
                <a:avLst/>
              </a:prstGeom>
              <a:blipFill>
                <a:blip r:embed="rId2"/>
                <a:stretch>
                  <a:fillRect l="-7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B73F78FF-5784-5B9A-CC9D-67EE6E5ECB2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</p:spTree>
    <p:extLst>
      <p:ext uri="{BB962C8B-B14F-4D97-AF65-F5344CB8AC3E}">
        <p14:creationId xmlns:p14="http://schemas.microsoft.com/office/powerpoint/2010/main" val="4288356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A9BBFC8-ACB6-4AE0-85C5-B53DC885FD4F}"/>
                  </a:ext>
                </a:extLst>
              </p:cNvPr>
              <p:cNvSpPr txBox="1"/>
              <p:nvPr/>
            </p:nvSpPr>
            <p:spPr>
              <a:xfrm>
                <a:off x="76200" y="906795"/>
                <a:ext cx="12115800" cy="156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 diluição e o grau de dissociação  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40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400">
                                <a:latin typeface="Cambria Math" panose="02040503050406030204" pitchFamily="18" charset="0"/>
                              </a:rPr>
                              <m:t>dissociado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40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40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pt-BR" sz="2400" smtClean="0">
                                <a:latin typeface="Cambria Math" panose="02040503050406030204" pitchFamily="18" charset="0"/>
                              </a:rPr>
                              <m:t>ã</m:t>
                            </m:r>
                            <m:r>
                              <m:rPr>
                                <m:sty m:val="p"/>
                              </m:rPr>
                              <a:rPr lang="pt-BR" sz="240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pt-BR" sz="240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pt-BR" sz="2400" smtClean="0">
                                <a:latin typeface="Cambria Math" panose="02040503050406030204" pitchFamily="18" charset="0"/>
                              </a:rPr>
                              <m:t>dissociado</m:t>
                            </m:r>
                          </m:sub>
                        </m:sSub>
                      </m:den>
                    </m:f>
                  </m:oMath>
                </a14:m>
                <a:endParaRPr lang="pt-BR" sz="2400" dirty="0">
                  <a:latin typeface="Aptos" panose="020B0004020202020204" pitchFamily="34" charset="0"/>
                </a:endParaRPr>
              </a:p>
              <a:p>
                <a:pPr algn="just"/>
                <a:endParaRPr lang="pt-BR" sz="2400" dirty="0">
                  <a:latin typeface="Aptos" panose="020B00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↔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+</m:t>
                          </m:r>
                        </m:sup>
                      </m:sSubSup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 </m:t>
                      </m:r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A9BBFC8-ACB6-4AE0-85C5-B53DC885F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906795"/>
                <a:ext cx="12115800" cy="1561261"/>
              </a:xfrm>
              <a:prstGeom prst="rect">
                <a:avLst/>
              </a:prstGeom>
              <a:blipFill>
                <a:blip r:embed="rId2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4F9F498C-ADA7-43E1-97A6-E5512AB8F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863" y="3147580"/>
            <a:ext cx="2484730" cy="248473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165D357-75C7-42DC-89E2-E043391DA61F}"/>
              </a:ext>
            </a:extLst>
          </p:cNvPr>
          <p:cNvSpPr txBox="1"/>
          <p:nvPr/>
        </p:nvSpPr>
        <p:spPr>
          <a:xfrm>
            <a:off x="5610666" y="296828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43625EC-B62C-40A0-836C-458EB2F8BF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78" t="2374" r="2160" b="4892"/>
          <a:stretch/>
        </p:blipFill>
        <p:spPr>
          <a:xfrm>
            <a:off x="600651" y="2756326"/>
            <a:ext cx="7034283" cy="3267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FFE13CD-828E-D9B8-90CA-0B8B24ED393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</p:spTree>
    <p:extLst>
      <p:ext uri="{BB962C8B-B14F-4D97-AF65-F5344CB8AC3E}">
        <p14:creationId xmlns:p14="http://schemas.microsoft.com/office/powerpoint/2010/main" val="2877755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>
            <a:extLst>
              <a:ext uri="{FF2B5EF4-FFF2-40B4-BE49-F238E27FC236}">
                <a16:creationId xmlns:a16="http://schemas.microsoft.com/office/drawing/2014/main" id="{ABF1F39C-59CD-4355-82D7-C45E5BEAA13A}"/>
              </a:ext>
            </a:extLst>
          </p:cNvPr>
          <p:cNvGrpSpPr>
            <a:grpSpLocks/>
          </p:cNvGrpSpPr>
          <p:nvPr/>
        </p:nvGrpSpPr>
        <p:grpSpPr bwMode="auto">
          <a:xfrm>
            <a:off x="5669978" y="706529"/>
            <a:ext cx="6399229" cy="5444942"/>
            <a:chOff x="433" y="1391"/>
            <a:chExt cx="3888" cy="3868"/>
          </a:xfrm>
        </p:grpSpPr>
        <p:pic>
          <p:nvPicPr>
            <p:cNvPr id="5" name="Picture 2" descr="D:\MATTER\CHAP16\FIGURES\FG16_009.PCT">
              <a:extLst>
                <a:ext uri="{FF2B5EF4-FFF2-40B4-BE49-F238E27FC236}">
                  <a16:creationId xmlns:a16="http://schemas.microsoft.com/office/drawing/2014/main" id="{3E6A656B-CECD-43EF-9373-28A51143C0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" y="1391"/>
              <a:ext cx="3888" cy="36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</p:pic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F68FC4DE-3D95-4644-B3DB-0381635D5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5000"/>
              <a:ext cx="2091" cy="2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6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Concentração do ácido (mol/L)</a:t>
              </a: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E009D005-053A-4840-8FC1-6DFC24259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46766">
              <a:off x="86" y="3124"/>
              <a:ext cx="1202" cy="2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pt-BR" altLang="pt-BR" sz="16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 ionização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53D35918-E269-48A7-B7F4-49F793D2E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729"/>
              <a:ext cx="2628" cy="8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%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ionização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de um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ácido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fraco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diminui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com o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aumento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da 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concentração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mol</a:t>
              </a:r>
              <a:r>
                <a:rPr lang="en-US" alt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/L) da </a:t>
              </a:r>
              <a:r>
                <a:rPr lang="en-US" alt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solução</a:t>
              </a:r>
              <a:endParaRPr lang="pt-BR" altLang="pt-BR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3D788C-0E33-BAD2-8EF3-62A70A4DC8C4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86F1707-E163-853C-87C9-B388E445BA74}"/>
              </a:ext>
            </a:extLst>
          </p:cNvPr>
          <p:cNvSpPr txBox="1"/>
          <p:nvPr/>
        </p:nvSpPr>
        <p:spPr>
          <a:xfrm>
            <a:off x="76200" y="625594"/>
            <a:ext cx="1211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 diluição e o grau de dissociação</a:t>
            </a:r>
            <a:endParaRPr lang="pt-BR" sz="2400" dirty="0">
              <a:latin typeface="Aptos" panose="020B0004020202020204" pitchFamily="34" charset="0"/>
            </a:endParaRPr>
          </a:p>
          <a:p>
            <a:pPr algn="just"/>
            <a:endParaRPr lang="pt-BR" sz="24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3321F7A-1CC5-7C31-D4D5-C29A2BA22ECE}"/>
                  </a:ext>
                </a:extLst>
              </p:cNvPr>
              <p:cNvSpPr txBox="1"/>
              <p:nvPr/>
            </p:nvSpPr>
            <p:spPr>
              <a:xfrm>
                <a:off x="-437394" y="3001739"/>
                <a:ext cx="6107372" cy="605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↔</m:t>
                      </m:r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+</m:t>
                          </m:r>
                        </m:sup>
                      </m:sSubSup>
                      <m:r>
                        <m:rPr>
                          <m:nor/>
                        </m:rPr>
                        <a:rPr lang="pt-BR" sz="2400" i="0">
                          <a:latin typeface="Aptos" panose="020B0004020202020204" pitchFamily="34" charset="0"/>
                        </a:rPr>
                        <m:t>+ </m:t>
                      </m:r>
                      <m:sSubSup>
                        <m:sSub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aq</m:t>
                          </m:r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pt-BR" sz="2400" i="0">
                              <a:latin typeface="Aptos" panose="020B0004020202020204" pitchFamily="3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3321F7A-1CC5-7C31-D4D5-C29A2BA22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7394" y="3001739"/>
                <a:ext cx="6107372" cy="6053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493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BBA1-CEFF-3503-CABE-52639499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62D94C-715F-2439-E194-CE3E946298B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D8445445-A032-144B-3ABE-2CDCDE424B72}"/>
              </a:ext>
            </a:extLst>
          </p:cNvPr>
          <p:cNvGrpSpPr>
            <a:grpSpLocks/>
          </p:cNvGrpSpPr>
          <p:nvPr/>
        </p:nvGrpSpPr>
        <p:grpSpPr bwMode="auto">
          <a:xfrm>
            <a:off x="2523762" y="614950"/>
            <a:ext cx="7144477" cy="5628101"/>
            <a:chOff x="336" y="1728"/>
            <a:chExt cx="3744" cy="3168"/>
          </a:xfrm>
        </p:grpSpPr>
        <p:grpSp>
          <p:nvGrpSpPr>
            <p:cNvPr id="5" name="Group 35">
              <a:extLst>
                <a:ext uri="{FF2B5EF4-FFF2-40B4-BE49-F238E27FC236}">
                  <a16:creationId xmlns:a16="http://schemas.microsoft.com/office/drawing/2014/main" id="{4808F748-08C5-D763-2746-AB72AAE31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" y="1824"/>
              <a:ext cx="3661" cy="3072"/>
              <a:chOff x="419" y="1824"/>
              <a:chExt cx="3661" cy="3072"/>
            </a:xfrm>
          </p:grpSpPr>
          <p:pic>
            <p:nvPicPr>
              <p:cNvPr id="8" name="Picture 2" descr="D:\MATTER\CHAP16\TABLES\TB16_002.PCT">
                <a:extLst>
                  <a:ext uri="{FF2B5EF4-FFF2-40B4-BE49-F238E27FC236}">
                    <a16:creationId xmlns:a16="http://schemas.microsoft.com/office/drawing/2014/main" id="{24D04CE3-E478-1828-1FB3-23F1333035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9" y="1824"/>
                <a:ext cx="3661" cy="307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</p:pic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3B366B1B-F37B-B9B1-0F69-346E27B85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872"/>
                <a:ext cx="1584" cy="1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B06DE6E4-A34F-15D7-3534-FC2729FAD4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824"/>
                <a:ext cx="1175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pt-BR" altLang="pt-BR" sz="14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panose="020B0604030504040204" pitchFamily="34" charset="0"/>
                  </a:rPr>
                  <a:t>Ácidos fracos em água</a:t>
                </a: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ECDDF08F-C8F4-3739-627B-9120EEB78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" y="2159"/>
                <a:ext cx="267" cy="126"/>
              </a:xfrm>
              <a:prstGeom prst="rect">
                <a:avLst/>
              </a:prstGeom>
              <a:solidFill>
                <a:srgbClr val="FFFFFF"/>
              </a:solidFill>
              <a:ln w="762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BA08A826-31F4-BA6A-43A6-192E4262D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" y="2134"/>
                <a:ext cx="362" cy="171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Ácido</a:t>
                </a: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90870CC5-A5DD-BA46-5B60-8F6D3DF3C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" y="2033"/>
                <a:ext cx="532" cy="29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4" name="Text Box 7">
                <a:extLst>
                  <a:ext uri="{FF2B5EF4-FFF2-40B4-BE49-F238E27FC236}">
                    <a16:creationId xmlns:a16="http://schemas.microsoft.com/office/drawing/2014/main" id="{61436429-75A5-DD27-4DC6-4292A35DC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8" y="2033"/>
                <a:ext cx="6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200" b="1" dirty="0">
                    <a:latin typeface="Tahoma" panose="020B0604030504040204" pitchFamily="34" charset="0"/>
                  </a:rPr>
                  <a:t>Fórmula</a:t>
                </a:r>
                <a:r>
                  <a:rPr lang="pt-BR" altLang="pt-BR" sz="1400" b="1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200" b="1" dirty="0">
                    <a:latin typeface="Tahoma" panose="020B0604030504040204" pitchFamily="34" charset="0"/>
                  </a:rPr>
                  <a:t>molecular</a:t>
                </a:r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EC498C7B-4DAB-E8FB-B288-4A071403A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0" y="2033"/>
                <a:ext cx="532" cy="2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6" name="Text Box 9">
                <a:extLst>
                  <a:ext uri="{FF2B5EF4-FFF2-40B4-BE49-F238E27FC236}">
                    <a16:creationId xmlns:a16="http://schemas.microsoft.com/office/drawing/2014/main" id="{A7187D3C-DB27-1449-069C-A4026F8DF8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3" y="2033"/>
                <a:ext cx="673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200" b="1">
                    <a:latin typeface="Tahoma" panose="020B0604030504040204" pitchFamily="34" charset="0"/>
                  </a:rPr>
                  <a:t>Fórmula estrutural</a:t>
                </a:r>
              </a:p>
            </p:txBody>
          </p:sp>
          <p:sp>
            <p:nvSpPr>
              <p:cNvPr id="17" name="Rectangle 12">
                <a:extLst>
                  <a:ext uri="{FF2B5EF4-FFF2-40B4-BE49-F238E27FC236}">
                    <a16:creationId xmlns:a16="http://schemas.microsoft.com/office/drawing/2014/main" id="{750BFB1E-8F2C-B0B6-9797-47CFA5314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9" y="2033"/>
                <a:ext cx="632" cy="2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8" name="Text Box 11">
                <a:extLst>
                  <a:ext uri="{FF2B5EF4-FFF2-40B4-BE49-F238E27FC236}">
                    <a16:creationId xmlns:a16="http://schemas.microsoft.com/office/drawing/2014/main" id="{F70D7D9C-199F-ED54-2912-516827532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9" y="2033"/>
                <a:ext cx="672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200" b="1">
                    <a:latin typeface="Tahoma" panose="020B0604030504040204" pitchFamily="34" charset="0"/>
                  </a:rPr>
                  <a:t>Base conjugada</a:t>
                </a:r>
              </a:p>
            </p:txBody>
          </p:sp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1440ADD5-6159-D42B-87A8-CE5AE6365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" y="4547"/>
                <a:ext cx="1597" cy="2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D57A7DDB-0BFE-C018-76D1-2DAEC5E08B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" y="4606"/>
                <a:ext cx="1281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Próton ionizável em azul</a:t>
                </a:r>
              </a:p>
            </p:txBody>
          </p:sp>
          <p:sp>
            <p:nvSpPr>
              <p:cNvPr id="21" name="Text Box 15">
                <a:extLst>
                  <a:ext uri="{FF2B5EF4-FFF2-40B4-BE49-F238E27FC236}">
                    <a16:creationId xmlns:a16="http://schemas.microsoft.com/office/drawing/2014/main" id="{50F56373-EDD5-064C-F85F-450B38994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" y="4313"/>
                <a:ext cx="389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Fenol </a:t>
                </a:r>
              </a:p>
            </p:txBody>
          </p:sp>
          <p:sp>
            <p:nvSpPr>
              <p:cNvPr id="22" name="Text Box 16">
                <a:extLst>
                  <a:ext uri="{FF2B5EF4-FFF2-40B4-BE49-F238E27FC236}">
                    <a16:creationId xmlns:a16="http://schemas.microsoft.com/office/drawing/2014/main" id="{AE6DB14E-F2DB-F064-FADD-7CF2DCD9A0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" y="4002"/>
                <a:ext cx="566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Ciânico </a:t>
                </a:r>
              </a:p>
            </p:txBody>
          </p:sp>
          <p:sp>
            <p:nvSpPr>
              <p:cNvPr id="23" name="Text Box 17">
                <a:extLst>
                  <a:ext uri="{FF2B5EF4-FFF2-40B4-BE49-F238E27FC236}">
                    <a16:creationId xmlns:a16="http://schemas.microsoft.com/office/drawing/2014/main" id="{9555DA23-0E9B-289C-7152-4E5273DDC5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" y="3852"/>
                <a:ext cx="695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Hipocloroso </a:t>
                </a:r>
              </a:p>
            </p:txBody>
          </p:sp>
          <p:sp>
            <p:nvSpPr>
              <p:cNvPr id="24" name="Text Box 18">
                <a:extLst>
                  <a:ext uri="{FF2B5EF4-FFF2-40B4-BE49-F238E27FC236}">
                    <a16:creationId xmlns:a16="http://schemas.microsoft.com/office/drawing/2014/main" id="{C6F40108-697A-0BA1-AF10-58E138C27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" y="3441"/>
                <a:ext cx="450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Acético</a:t>
                </a:r>
              </a:p>
            </p:txBody>
          </p:sp>
          <p:sp>
            <p:nvSpPr>
              <p:cNvPr id="25" name="Text Box 19">
                <a:extLst>
                  <a:ext uri="{FF2B5EF4-FFF2-40B4-BE49-F238E27FC236}">
                    <a16:creationId xmlns:a16="http://schemas.microsoft.com/office/drawing/2014/main" id="{28C888B3-7BD3-76B6-EE77-899A5BA427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" y="2877"/>
                <a:ext cx="530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Benzóico</a:t>
                </a:r>
              </a:p>
            </p:txBody>
          </p:sp>
          <p:sp>
            <p:nvSpPr>
              <p:cNvPr id="26" name="Text Box 20">
                <a:extLst>
                  <a:ext uri="{FF2B5EF4-FFF2-40B4-BE49-F238E27FC236}">
                    <a16:creationId xmlns:a16="http://schemas.microsoft.com/office/drawing/2014/main" id="{D858DEBF-06B8-7E32-088F-4EFFFAA0B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" y="2561"/>
                <a:ext cx="478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Nitroso </a:t>
                </a:r>
              </a:p>
            </p:txBody>
          </p:sp>
          <p:sp>
            <p:nvSpPr>
              <p:cNvPr id="27" name="Text Box 21">
                <a:extLst>
                  <a:ext uri="{FF2B5EF4-FFF2-40B4-BE49-F238E27FC236}">
                    <a16:creationId xmlns:a16="http://schemas.microsoft.com/office/drawing/2014/main" id="{EEB9FB08-F0D3-296D-5045-85DA73CD04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" y="2386"/>
                <a:ext cx="614" cy="1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pt-BR" altLang="pt-BR" sz="1400" b="1">
                    <a:latin typeface="Tahoma" panose="020B0604030504040204" pitchFamily="34" charset="0"/>
                  </a:rPr>
                  <a:t>Fluorídrico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0B5279B-BEB1-8322-CFBB-07D488DC3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96" cy="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29" name="Text Box 26">
                <a:extLst>
                  <a:ext uri="{FF2B5EF4-FFF2-40B4-BE49-F238E27FC236}">
                    <a16:creationId xmlns:a16="http://schemas.microsoft.com/office/drawing/2014/main" id="{7B75D831-771C-02A0-1287-663E479080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" y="2352"/>
                <a:ext cx="148" cy="17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 dirty="0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25D9B20-2BC8-2DE3-4929-D392A2F3F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7" y="2575"/>
                <a:ext cx="113" cy="184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31" name="Text Box 28">
                <a:extLst>
                  <a:ext uri="{FF2B5EF4-FFF2-40B4-BE49-F238E27FC236}">
                    <a16:creationId xmlns:a16="http://schemas.microsoft.com/office/drawing/2014/main" id="{FFD57F32-63DA-1B94-7294-1D00DE806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544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2" name="Text Box 30">
                <a:extLst>
                  <a:ext uri="{FF2B5EF4-FFF2-40B4-BE49-F238E27FC236}">
                    <a16:creationId xmlns:a16="http://schemas.microsoft.com/office/drawing/2014/main" id="{7EEB25F6-D387-EE67-9CB3-7DF889A15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906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3" name="Text Box 31">
                <a:extLst>
                  <a:ext uri="{FF2B5EF4-FFF2-40B4-BE49-F238E27FC236}">
                    <a16:creationId xmlns:a16="http://schemas.microsoft.com/office/drawing/2014/main" id="{633DDBEC-86CF-DB1E-6781-350213FC5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384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4" name="Text Box 32">
                <a:extLst>
                  <a:ext uri="{FF2B5EF4-FFF2-40B4-BE49-F238E27FC236}">
                    <a16:creationId xmlns:a16="http://schemas.microsoft.com/office/drawing/2014/main" id="{347BA0C6-A11C-47D8-ED53-1B8CA5CC19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767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5" name="Text Box 33">
                <a:extLst>
                  <a:ext uri="{FF2B5EF4-FFF2-40B4-BE49-F238E27FC236}">
                    <a16:creationId xmlns:a16="http://schemas.microsoft.com/office/drawing/2014/main" id="{049AFAF4-435D-4F6D-CAE3-02DFC1E26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936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BF810F78-55F9-5DA5-9EC3-F7AF6B3A1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4246"/>
                <a:ext cx="203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pt-BR" altLang="pt-BR" sz="1400" b="1">
                    <a:solidFill>
                      <a:srgbClr val="0000FF"/>
                    </a:solidFill>
                  </a:rPr>
                  <a:t>H</a:t>
                </a:r>
              </a:p>
            </p:txBody>
          </p:sp>
        </p:grpSp>
        <p:sp>
          <p:nvSpPr>
            <p:cNvPr id="7" name="Rectangle 36">
              <a:extLst>
                <a:ext uri="{FF2B5EF4-FFF2-40B4-BE49-F238E27FC236}">
                  <a16:creationId xmlns:a16="http://schemas.microsoft.com/office/drawing/2014/main" id="{50883886-BF0E-3A85-4E13-C5401723A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728"/>
              <a:ext cx="3744" cy="31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</p:spTree>
    <p:extLst>
      <p:ext uri="{BB962C8B-B14F-4D97-AF65-F5344CB8AC3E}">
        <p14:creationId xmlns:p14="http://schemas.microsoft.com/office/powerpoint/2010/main" val="2726431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C6AC-F590-AA00-73EB-0B1C0C5C3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29AC37A-9550-68C5-6BDE-76D0728CAF4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8EB4CE-4411-9A9A-73DB-6F6FD0EBF28E}"/>
              </a:ext>
            </a:extLst>
          </p:cNvPr>
          <p:cNvSpPr txBox="1"/>
          <p:nvPr/>
        </p:nvSpPr>
        <p:spPr>
          <a:xfrm>
            <a:off x="332403" y="731819"/>
            <a:ext cx="11527192" cy="539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3. pH de ácidos fracos (HA)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Ácido fraco HA (C</a:t>
            </a:r>
            <a:r>
              <a:rPr lang="pt-BR" sz="2400" kern="0" baseline="-25000" dirty="0">
                <a:latin typeface="Aptos" panose="020B0004020202020204" pitchFamily="34" charset="0"/>
                <a:cs typeface="Arial"/>
              </a:rPr>
              <a:t>a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mol.L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)</a:t>
            </a: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HA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</a:t>
            </a:r>
            <a:r>
              <a:rPr lang="pt-BR" altLang="pt-BR" sz="2400" kern="0" dirty="0">
                <a:latin typeface="Aptos" panose="020B0004020202020204" pitchFamily="34" charset="0"/>
              </a:rPr>
              <a:t>  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A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</a:t>
            </a:r>
            <a:endParaRPr lang="pt-BR" altLang="pt-BR" sz="2400" kern="0" baseline="30000" dirty="0">
              <a:latin typeface="Aptos" panose="020B00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</a:rPr>
              <a:t>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  </a:t>
            </a:r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+  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endParaRPr lang="pt-BR" altLang="pt-BR" sz="2400" kern="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= [HA] +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[HA]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a</a:t>
            </a:r>
            <a:r>
              <a:rPr lang="en-US" altLang="pt-BR" sz="2400" dirty="0">
                <a:latin typeface="Aptos" panose="020B0004020202020204" pitchFamily="34" charset="0"/>
              </a:rPr>
              <a:t> -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 (1) </a:t>
            </a:r>
          </a:p>
          <a:p>
            <a:pPr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 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 </a:t>
            </a:r>
            <a:r>
              <a:rPr lang="en-US" altLang="pt-BR" sz="2400" dirty="0">
                <a:latin typeface="Aptos" panose="020B0004020202020204" pitchFamily="34" charset="0"/>
              </a:rPr>
              <a:t>=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+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</a:t>
            </a:r>
            <a:r>
              <a:rPr lang="en-US" altLang="pt-BR" sz="2400" dirty="0">
                <a:latin typeface="Aptos" panose="020B0004020202020204" pitchFamily="34" charset="0"/>
              </a:rPr>
              <a:t> [A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=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- </a:t>
            </a:r>
            <a:r>
              <a:rPr lang="en-US" altLang="pt-BR" sz="2400" dirty="0">
                <a:latin typeface="Aptos" panose="020B0004020202020204" pitchFamily="34" charset="0"/>
              </a:rPr>
              <a:t>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(2)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 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(2)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(1):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[HA] </a:t>
            </a:r>
            <a:r>
              <a:rPr lang="en-US" altLang="pt-BR" sz="2400" dirty="0">
                <a:latin typeface="Aptos" panose="020B0004020202020204" pitchFamily="34" charset="0"/>
              </a:rPr>
              <a:t>= </a:t>
            </a:r>
            <a:r>
              <a:rPr lang="pt-BR" altLang="pt-BR" sz="2400" dirty="0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- (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 - </a:t>
            </a:r>
            <a:r>
              <a:rPr lang="en-US" altLang="pt-BR" sz="2400" dirty="0">
                <a:latin typeface="Aptos" panose="020B0004020202020204" pitchFamily="34" charset="0"/>
              </a:rPr>
              <a:t>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])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                                                                              </a:t>
            </a:r>
            <a:r>
              <a:rPr lang="en-US" altLang="pt-BR" sz="2400" dirty="0">
                <a:latin typeface="Aptos" panose="020B0004020202020204" pitchFamily="34" charset="0"/>
              </a:rPr>
              <a:t>(3)</a:t>
            </a:r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42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5368-BC93-E83C-F338-187AC1B9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4C0B52-1D83-DCC9-A728-DFA88D81C47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C74F147-BEB4-4557-F50A-3105EBC7883F}"/>
                  </a:ext>
                </a:extLst>
              </p:cNvPr>
              <p:cNvSpPr txBox="1"/>
              <p:nvPr/>
            </p:nvSpPr>
            <p:spPr>
              <a:xfrm>
                <a:off x="332402" y="601431"/>
                <a:ext cx="11527192" cy="5655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altLang="pt-BR" sz="2400" kern="0" dirty="0">
                    <a:latin typeface="Aptos" panose="020B0004020202020204" pitchFamily="34" charset="0"/>
                  </a:rPr>
                  <a:t>HA 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 </a:t>
                </a:r>
                <a:r>
                  <a:rPr lang="pt-BR" altLang="pt-BR" sz="2400" kern="0" dirty="0">
                    <a:latin typeface="Aptos" panose="020B0004020202020204" pitchFamily="34" charset="0"/>
                    <a:cs typeface="Arial" panose="020B0604020202020204" pitchFamily="34" charset="0"/>
                  </a:rPr>
                  <a:t>↔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 H</a:t>
                </a:r>
                <a:r>
                  <a:rPr lang="pt-BR" altLang="pt-BR" sz="2400" kern="0" baseline="30000" dirty="0">
                    <a:latin typeface="Aptos" panose="020B0004020202020204" pitchFamily="34" charset="0"/>
                  </a:rPr>
                  <a:t>+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 + A</a:t>
                </a:r>
                <a:r>
                  <a:rPr lang="pt-BR" altLang="pt-BR" sz="2400" kern="0" baseline="30000" dirty="0">
                    <a:latin typeface="Aptos" panose="020B0004020202020204" pitchFamily="34" charset="0"/>
                  </a:rPr>
                  <a:t>-</a:t>
                </a:r>
                <a:r>
                  <a:rPr lang="pt-BR" altLang="pt-BR" sz="2400" b="1" kern="0" baseline="30000" dirty="0">
                    <a:latin typeface="Aptos" panose="020B0004020202020204" pitchFamily="34" charset="0"/>
                  </a:rPr>
                  <a:t> 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pt-BR" sz="2400">
                            <a:latin typeface="Aptos" panose="020B0004020202020204" pitchFamily="34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pt-BR" sz="2400">
                        <a:latin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HA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sz="2400" baseline="30000" dirty="0">
                    <a:latin typeface="Aptos" panose="020B0004020202020204" pitchFamily="34" charset="0"/>
                  </a:rPr>
                  <a:t>                                                                                                                                  </a:t>
                </a:r>
                <a:r>
                  <a:rPr lang="pt-BR" sz="2400" dirty="0">
                    <a:latin typeface="Aptos" panose="020B0004020202020204" pitchFamily="34" charset="0"/>
                  </a:rPr>
                  <a:t> (4)</a:t>
                </a:r>
              </a:p>
              <a:p>
                <a:pPr>
                  <a:lnSpc>
                    <a:spcPct val="150000"/>
                  </a:lnSpc>
                </a:pPr>
                <a:endParaRPr lang="en-US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(2) e (3)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(4):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24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pt-BR" sz="2400">
                            <a:latin typeface="Aptos" panose="020B0004020202020204" pitchFamily="34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pt-BR" sz="2400">
                        <a:latin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] </m:t>
                        </m:r>
                        <m:r>
                          <m:rPr>
                            <m:nor/>
                          </m:rPr>
                          <a:rPr lang="pt-BR" altLang="pt-BR" sz="240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([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]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 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])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="0" i="0" baseline="-2500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]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 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                                                                                                                                 </a:t>
                </a:r>
                <a:r>
                  <a:rPr lang="pt-BR" sz="2400" dirty="0">
                    <a:latin typeface="Aptos" panose="020B0004020202020204" pitchFamily="34" charset="0"/>
                  </a:rPr>
                  <a:t>(5)</a:t>
                </a:r>
              </a:p>
              <a:p>
                <a:pPr algn="ctr">
                  <a:lnSpc>
                    <a:spcPct val="150000"/>
                  </a:lnSpc>
                </a:pPr>
                <a:endParaRPr lang="pt-BR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Se K</a:t>
                </a:r>
                <a:r>
                  <a:rPr lang="pt-BR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a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&gt;&gt;&gt; K</a:t>
                </a:r>
                <a:r>
                  <a:rPr lang="pt-BR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w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</a:t>
                </a: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[OH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 é desprezível em (5) </a:t>
                </a:r>
                <a:endParaRPr lang="pt-BR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K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]([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])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="0" i="0" baseline="-25000" dirty="0" smtClean="0">
                            <a:latin typeface="Aptos" panose="020B0004020202020204" pitchFamily="34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 smtClean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 smtClean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 smtClean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[H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K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(C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C74F147-BEB4-4557-F50A-3105EBC78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2" y="601431"/>
                <a:ext cx="11527192" cy="5655138"/>
              </a:xfrm>
              <a:prstGeom prst="rect">
                <a:avLst/>
              </a:prstGeom>
              <a:blipFill>
                <a:blip r:embed="rId2"/>
                <a:stretch>
                  <a:fillRect l="-847" r="-5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7EF21273-B88A-EF8D-261B-5B35B2A79675}"/>
              </a:ext>
            </a:extLst>
          </p:cNvPr>
          <p:cNvCxnSpPr>
            <a:cxnSpLocks/>
          </p:cNvCxnSpPr>
          <p:nvPr/>
        </p:nvCxnSpPr>
        <p:spPr>
          <a:xfrm flipV="1">
            <a:off x="2686718" y="3381552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D98DDDF-C923-DCE4-00FE-2A5A47E8E951}"/>
              </a:ext>
            </a:extLst>
          </p:cNvPr>
          <p:cNvCxnSpPr>
            <a:cxnSpLocks/>
          </p:cNvCxnSpPr>
          <p:nvPr/>
        </p:nvCxnSpPr>
        <p:spPr>
          <a:xfrm flipV="1">
            <a:off x="2686718" y="3762758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24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658D-D8FC-C135-989B-56A38AB5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D8BF50-9CFA-330A-74B9-C5818A5E473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18D7C4-5FC3-62D2-7C55-3F6DE49D76E2}"/>
              </a:ext>
            </a:extLst>
          </p:cNvPr>
          <p:cNvSpPr txBox="1"/>
          <p:nvPr/>
        </p:nvSpPr>
        <p:spPr>
          <a:xfrm>
            <a:off x="332403" y="1010902"/>
            <a:ext cx="11527192" cy="483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</a:rPr>
              <a:t>Se C</a:t>
            </a:r>
            <a:r>
              <a:rPr lang="pt-BR" sz="2400" baseline="-25000" dirty="0">
                <a:latin typeface="Aptos" panose="020B00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</a:rPr>
              <a:t>/K</a:t>
            </a:r>
            <a:r>
              <a:rPr lang="pt-BR" sz="2400" baseline="-25000" dirty="0">
                <a:latin typeface="Aptos" panose="020B00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</a:rPr>
              <a:t> &gt; 10</a:t>
            </a:r>
            <a:r>
              <a:rPr lang="pt-BR" sz="2400" baseline="30000" dirty="0">
                <a:latin typeface="Aptos" panose="020B0004020202020204" pitchFamily="34" charset="0"/>
              </a:rPr>
              <a:t>3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A dissociação do ácido é muito pouco favorável: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K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(C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- [H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])</a:t>
            </a: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 = (K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1/2</a:t>
            </a:r>
          </a:p>
          <a:p>
            <a:pPr algn="ctr">
              <a:lnSpc>
                <a:spcPct val="150000"/>
              </a:lnSpc>
            </a:pPr>
            <a:endParaRPr lang="pt-BR" sz="2400" b="1" baseline="30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</a:rPr>
              <a:t>Se C</a:t>
            </a:r>
            <a:r>
              <a:rPr lang="pt-BR" sz="2400" baseline="-25000" dirty="0">
                <a:latin typeface="Aptos" panose="020B00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</a:rPr>
              <a:t>/K</a:t>
            </a:r>
            <a:r>
              <a:rPr lang="pt-BR" sz="2400" baseline="-25000" dirty="0">
                <a:latin typeface="Aptos" panose="020B0004020202020204" pitchFamily="34" charset="0"/>
              </a:rPr>
              <a:t>a</a:t>
            </a:r>
            <a:r>
              <a:rPr lang="pt-BR" sz="2400" dirty="0">
                <a:latin typeface="Aptos" panose="020B0004020202020204" pitchFamily="34" charset="0"/>
              </a:rPr>
              <a:t> &lt; 10</a:t>
            </a:r>
            <a:r>
              <a:rPr lang="pt-BR" sz="2400" baseline="30000" dirty="0">
                <a:latin typeface="Aptos" panose="020B0004020202020204" pitchFamily="34" charset="0"/>
              </a:rPr>
              <a:t>3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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 A dissociação do ácido é favorável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K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(C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- [H</a:t>
            </a:r>
            <a:r>
              <a:rPr lang="pt-BR" alt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])</a:t>
            </a: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2 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+  K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[H</a:t>
            </a:r>
            <a:r>
              <a:rPr lang="pt-BR" altLang="pt-BR" sz="2400" b="1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] - K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altLang="pt-BR" sz="2400" b="1" baseline="-25000" dirty="0">
                <a:latin typeface="Aptos" panose="020B00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 = 0 </a:t>
            </a:r>
            <a:r>
              <a:rPr 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Equação Geral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6F433A6E-1E9C-47BD-3587-08C8D1BD8597}"/>
              </a:ext>
            </a:extLst>
          </p:cNvPr>
          <p:cNvCxnSpPr>
            <a:cxnSpLocks/>
          </p:cNvCxnSpPr>
          <p:nvPr/>
        </p:nvCxnSpPr>
        <p:spPr>
          <a:xfrm flipV="1">
            <a:off x="6792894" y="2248444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6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D8030-63DD-EB41-C36A-2B44A766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EAC2514-B8B6-AFFF-7BDE-E5FD0905CB2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5DF02E-1F81-F48A-68B8-D726462B8C3D}"/>
              </a:ext>
            </a:extLst>
          </p:cNvPr>
          <p:cNvSpPr txBox="1"/>
          <p:nvPr/>
        </p:nvSpPr>
        <p:spPr>
          <a:xfrm>
            <a:off x="332403" y="1724263"/>
            <a:ext cx="11527192" cy="2624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4: </a:t>
            </a:r>
            <a:r>
              <a:rPr lang="pt-BR" sz="2400" dirty="0">
                <a:latin typeface="Aptos" panose="020B0004020202020204" pitchFamily="34" charset="0"/>
              </a:rPr>
              <a:t>Calcule o pH de uma solução de ácido acético (</a:t>
            </a:r>
            <a:r>
              <a:rPr lang="pt-BR" sz="2400" dirty="0" err="1">
                <a:latin typeface="Aptos" panose="020B0004020202020204" pitchFamily="34" charset="0"/>
              </a:rPr>
              <a:t>HOAc</a:t>
            </a:r>
            <a:r>
              <a:rPr lang="pt-BR" sz="2400" dirty="0">
                <a:latin typeface="Aptos" panose="020B0004020202020204" pitchFamily="34" charset="0"/>
              </a:rPr>
              <a:t>) com </a:t>
            </a:r>
            <a:r>
              <a:rPr lang="pt-BR" altLang="pt-BR" sz="2400" dirty="0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>
                <a:latin typeface="Aptos" panose="020B0004020202020204" pitchFamily="34" charset="0"/>
              </a:rPr>
              <a:t>a </a:t>
            </a:r>
            <a:r>
              <a:rPr lang="en-US" altLang="pt-BR" sz="2400" dirty="0">
                <a:latin typeface="Aptos" panose="020B0004020202020204" pitchFamily="34" charset="0"/>
              </a:rPr>
              <a:t>= 0,1000 mol.L</a:t>
            </a:r>
            <a:r>
              <a:rPr lang="en-US" altLang="pt-BR" sz="2400" baseline="30000" dirty="0">
                <a:latin typeface="Aptos" panose="020B0004020202020204" pitchFamily="34" charset="0"/>
              </a:rPr>
              <a:t>-1</a:t>
            </a:r>
            <a:r>
              <a:rPr lang="en-US" altLang="pt-BR" sz="2400" dirty="0">
                <a:latin typeface="Aptos" panose="020B00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baseline="300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HOAc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↔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  H</a:t>
            </a:r>
            <a:r>
              <a:rPr lang="en-US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 + </a:t>
            </a:r>
            <a:r>
              <a:rPr lang="en-US" altLang="pt-BR" sz="2400" dirty="0" err="1">
                <a:solidFill>
                  <a:srgbClr val="000000"/>
                </a:solidFill>
                <a:latin typeface="Aptos" panose="020B0004020202020204" pitchFamily="34" charset="0"/>
              </a:rPr>
              <a:t>OAc</a:t>
            </a:r>
            <a:r>
              <a:rPr lang="en-US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         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="1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a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= 1,75 x 10</a:t>
            </a:r>
            <a:r>
              <a:rPr lang="pt-BR" altLang="pt-BR" sz="2400" b="1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-5</a:t>
            </a:r>
            <a:endParaRPr lang="en-US" altLang="pt-BR" sz="2400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44450" indent="0" algn="ctr">
              <a:lnSpc>
                <a:spcPct val="150000"/>
              </a:lnSpc>
              <a:buFontTx/>
              <a:buNone/>
            </a:pP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  <a:r>
              <a:rPr lang="pt-BR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O  ↔ H</a:t>
            </a:r>
            <a:r>
              <a:rPr lang="pt-BR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 + OH</a:t>
            </a:r>
            <a:r>
              <a:rPr lang="pt-BR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         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="1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w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= 1,00 x 10</a:t>
            </a:r>
            <a:r>
              <a:rPr lang="pt-BR" altLang="pt-BR" sz="2400" b="1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-14</a:t>
            </a:r>
            <a:endParaRPr lang="en-US" altLang="pt-BR" sz="24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4D3927-25A2-D5F9-0CF9-A81400E3C208}"/>
              </a:ext>
            </a:extLst>
          </p:cNvPr>
          <p:cNvSpPr txBox="1"/>
          <p:nvPr/>
        </p:nvSpPr>
        <p:spPr>
          <a:xfrm>
            <a:off x="3200091" y="4348636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2,879 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5DC1D02-0584-4421-9B9C-4EA0276C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30BA1-34E2-45E0-940F-FB5E813872B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7">
                <a:extLst>
                  <a:ext uri="{FF2B5EF4-FFF2-40B4-BE49-F238E27FC236}">
                    <a16:creationId xmlns:a16="http://schemas.microsoft.com/office/drawing/2014/main" id="{A8789CEE-7410-4A08-87B7-1162190BE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301" y="983715"/>
                <a:ext cx="11881396" cy="48905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342900" indent="-342900" algn="just" eaLnBrk="1" hangingPunct="1">
                  <a:lnSpc>
                    <a:spcPct val="12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v"/>
                  <a:defRPr/>
                </a:pP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Bases fracas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removem prótons das substâncias e há um equilíbrio entre a base e os íons resultantes.</a:t>
                </a:r>
              </a:p>
              <a:p>
                <a:pPr algn="just" eaLnBrk="1" hangingPunct="1">
                  <a:lnSpc>
                    <a:spcPct val="120000"/>
                  </a:lnSpc>
                  <a:defRPr/>
                </a:pP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pt-BR" sz="2400" dirty="0">
                    <a:latin typeface="Aptos" panose="020B0004020202020204" pitchFamily="34" charset="0"/>
                  </a:rPr>
                  <a:t>Base fraca + 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sz="2400" dirty="0">
                    <a:latin typeface="Aptos" panose="020B0004020202020204" pitchFamily="34" charset="0"/>
                  </a:rPr>
                  <a:t>O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(l)</a:t>
                </a:r>
                <a:r>
                  <a:rPr lang="pt-BR" sz="2400" dirty="0">
                    <a:latin typeface="Aptos" panose="020B0004020202020204" pitchFamily="34" charset="0"/>
                  </a:rPr>
                  <a:t>  ↔  Ácido conjugado + OH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(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aq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)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-</a:t>
                </a:r>
              </a:p>
              <a:p>
                <a:pPr algn="just">
                  <a:lnSpc>
                    <a:spcPct val="120000"/>
                  </a:lnSpc>
                  <a:defRPr/>
                </a:pPr>
                <a:endParaRPr lang="pt-BR" sz="2400" baseline="30000" dirty="0">
                  <a:latin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  <a:defRPr/>
                </a:pP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Exemplo: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a constante de dissociação da base NH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(K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algn="just">
                  <a:lnSpc>
                    <a:spcPct val="120000"/>
                  </a:lnSpc>
                  <a:defRPr/>
                </a:pPr>
                <a:endParaRPr lang="pt-BR" altLang="pt-BR" sz="2400" dirty="0"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pt-BR" sz="2400" dirty="0">
                    <a:latin typeface="Aptos" panose="020B0004020202020204" pitchFamily="34" charset="0"/>
                  </a:rPr>
                  <a:t>NH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3(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aq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)</a:t>
                </a:r>
                <a:r>
                  <a:rPr lang="pt-BR" sz="2400" dirty="0">
                    <a:latin typeface="Aptos" panose="020B0004020202020204" pitchFamily="34" charset="0"/>
                  </a:rPr>
                  <a:t> + 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sz="2400" dirty="0">
                    <a:latin typeface="Aptos" panose="020B0004020202020204" pitchFamily="34" charset="0"/>
                  </a:rPr>
                  <a:t>O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(l)</a:t>
                </a:r>
                <a:r>
                  <a:rPr lang="pt-BR" sz="2400" dirty="0">
                    <a:latin typeface="Aptos" panose="020B0004020202020204" pitchFamily="34" charset="0"/>
                  </a:rPr>
                  <a:t>  ↔ NH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4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+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(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aq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)</a:t>
                </a:r>
                <a:r>
                  <a:rPr lang="pt-BR" sz="2400" dirty="0">
                    <a:latin typeface="Aptos" panose="020B0004020202020204" pitchFamily="34" charset="0"/>
                  </a:rPr>
                  <a:t> + OH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-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(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aq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pt-BR" sz="2400" b="0" i="0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pt-BR" sz="24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⌈"/>
                              <m:endChr m:val="⌉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NH</m:t>
                                  </m:r>
                                </m:e>
                                <m:sub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⌈"/>
                              <m:endChr m:val="⌉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OH</m:t>
                                  </m:r>
                                </m:e>
                                <m:sup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⌈"/>
                              <m:endChr m:val="⌉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NH</m:t>
                                  </m:r>
                                </m:e>
                                <m:sub>
                                  <m: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 Box 27">
                <a:extLst>
                  <a:ext uri="{FF2B5EF4-FFF2-40B4-BE49-F238E27FC236}">
                    <a16:creationId xmlns:a16="http://schemas.microsoft.com/office/drawing/2014/main" id="{A8789CEE-7410-4A08-87B7-1162190BE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301" y="983715"/>
                <a:ext cx="11881396" cy="4890570"/>
              </a:xfrm>
              <a:prstGeom prst="rect">
                <a:avLst/>
              </a:prstGeom>
              <a:blipFill>
                <a:blip r:embed="rId2"/>
                <a:stretch>
                  <a:fillRect l="-769" r="-7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7B4B0FC2-70EB-43CB-A172-B6886CD2814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</p:spTree>
    <p:extLst>
      <p:ext uri="{BB962C8B-B14F-4D97-AF65-F5344CB8AC3E}">
        <p14:creationId xmlns:p14="http://schemas.microsoft.com/office/powerpoint/2010/main" val="2624806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7">
            <a:extLst>
              <a:ext uri="{FF2B5EF4-FFF2-40B4-BE49-F238E27FC236}">
                <a16:creationId xmlns:a16="http://schemas.microsoft.com/office/drawing/2014/main" id="{4BFEC2C4-DD6B-45F1-B940-DF0D78843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6" y="1351508"/>
            <a:ext cx="120804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Bases fracas:</a:t>
            </a:r>
          </a:p>
          <a:p>
            <a:pPr algn="just" eaLnBrk="1" hangingPunct="1">
              <a:defRPr/>
            </a:pPr>
            <a:endParaRPr lang="pt-BR" altLang="pt-BR" sz="2400" b="1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Bases geralmente tem </a:t>
            </a:r>
            <a:r>
              <a:rPr lang="pt-BR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pares de elétrons isolados ou cargas negativas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para poderem atacar os prótons. 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Muitas bases fracas neutras contém nitrogênio (NH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pt-BR" alt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Aminas são relacionadas com a amônia e tem uma ou mais ligações N-H trocador por ligações N-C (p.ex. CH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NH</a:t>
            </a:r>
            <a:r>
              <a:rPr lang="pt-BR" alt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metilamina).</a:t>
            </a:r>
            <a:endParaRPr lang="pt-BR" altLang="pt-BR" sz="2400" b="1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6B47B9-2FE3-DE19-6EC0-F78AF07857B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</p:spTree>
    <p:extLst>
      <p:ext uri="{BB962C8B-B14F-4D97-AF65-F5344CB8AC3E}">
        <p14:creationId xmlns:p14="http://schemas.microsoft.com/office/powerpoint/2010/main" val="3322844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F895-09C8-1804-78B8-2D0D6FC4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DF29C147-9DE2-B04B-F1A9-C16D6E33FC74}"/>
              </a:ext>
            </a:extLst>
          </p:cNvPr>
          <p:cNvGrpSpPr/>
          <p:nvPr/>
        </p:nvGrpSpPr>
        <p:grpSpPr>
          <a:xfrm>
            <a:off x="2586094" y="547493"/>
            <a:ext cx="7019813" cy="5763014"/>
            <a:chOff x="304800" y="1600200"/>
            <a:chExt cx="6172200" cy="5030788"/>
          </a:xfrm>
        </p:grpSpPr>
        <p:pic>
          <p:nvPicPr>
            <p:cNvPr id="6" name="Picture 14" descr="D:\MATTER\CHAP16\TABLES\TB16_004.PCT">
              <a:extLst>
                <a:ext uri="{FF2B5EF4-FFF2-40B4-BE49-F238E27FC236}">
                  <a16:creationId xmlns:a16="http://schemas.microsoft.com/office/drawing/2014/main" id="{E21BBA74-5F47-8E61-80F3-8288478CE6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1600200"/>
              <a:ext cx="6172200" cy="5030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818A14C3-D2B4-512F-A96C-68F3DB229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2438400"/>
              <a:ext cx="682455" cy="456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Amônia</a:t>
              </a:r>
            </a:p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(NH</a:t>
              </a:r>
              <a:r>
                <a:rPr lang="pt-BR" altLang="pt-BR" sz="1400" baseline="-25000">
                  <a:solidFill>
                    <a:schemeClr val="tx2"/>
                  </a:solidFill>
                  <a:latin typeface="Tahoma" panose="020B0604030504040204" pitchFamily="34" charset="0"/>
                </a:rPr>
                <a:t>3</a:t>
              </a:r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38" name="Text Box 16">
              <a:extLst>
                <a:ext uri="{FF2B5EF4-FFF2-40B4-BE49-F238E27FC236}">
                  <a16:creationId xmlns:a16="http://schemas.microsoft.com/office/drawing/2014/main" id="{4176B1DD-24E0-0EC7-BD05-31A3FA8F2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3067050"/>
              <a:ext cx="706415" cy="456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Piridina</a:t>
              </a:r>
            </a:p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(C</a:t>
              </a:r>
              <a:r>
                <a:rPr lang="pt-BR" altLang="pt-BR" sz="1400" baseline="-25000">
                  <a:solidFill>
                    <a:schemeClr val="tx2"/>
                  </a:solidFill>
                  <a:latin typeface="Tahoma" panose="020B0604030504040204" pitchFamily="34" charset="0"/>
                </a:rPr>
                <a:t>5</a:t>
              </a:r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H</a:t>
              </a:r>
              <a:r>
                <a:rPr lang="pt-BR" altLang="pt-BR" sz="1400" baseline="-25000">
                  <a:solidFill>
                    <a:schemeClr val="tx2"/>
                  </a:solidFill>
                  <a:latin typeface="Tahoma" panose="020B0604030504040204" pitchFamily="34" charset="0"/>
                </a:rPr>
                <a:t>5</a:t>
              </a:r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N)</a:t>
              </a: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9EFC53C6-B8E3-DFDC-6DA4-6F599541F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50" y="3556000"/>
              <a:ext cx="1107487" cy="456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Hidroxilamina</a:t>
              </a:r>
            </a:p>
            <a:p>
              <a:pPr eaLnBrk="1" hangingPunct="1"/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(H</a:t>
              </a:r>
              <a:r>
                <a:rPr lang="pt-BR" altLang="pt-BR" sz="1400" baseline="-25000">
                  <a:solidFill>
                    <a:schemeClr val="tx2"/>
                  </a:solidFill>
                  <a:latin typeface="Tahoma" panose="020B0604030504040204" pitchFamily="34" charset="0"/>
                </a:rPr>
                <a:t>2</a:t>
              </a:r>
              <a:r>
                <a:rPr lang="pt-BR" altLang="pt-BR" sz="1400">
                  <a:solidFill>
                    <a:schemeClr val="tx2"/>
                  </a:solidFill>
                  <a:latin typeface="Tahoma" panose="020B0604030504040204" pitchFamily="34" charset="0"/>
                </a:rPr>
                <a:t>NOH)</a:t>
              </a:r>
            </a:p>
          </p:txBody>
        </p:sp>
        <p:sp>
          <p:nvSpPr>
            <p:cNvPr id="40" name="Text Box 18">
              <a:extLst>
                <a:ext uri="{FF2B5EF4-FFF2-40B4-BE49-F238E27FC236}">
                  <a16:creationId xmlns:a16="http://schemas.microsoft.com/office/drawing/2014/main" id="{A8C996E3-B319-4A71-1BF4-B4B451A8F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50" y="4114800"/>
              <a:ext cx="915182" cy="456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400" dirty="0" err="1">
                  <a:solidFill>
                    <a:schemeClr val="tx2"/>
                  </a:solidFill>
                  <a:latin typeface="Tahoma" panose="020B0604030504040204" pitchFamily="34" charset="0"/>
                </a:rPr>
                <a:t>Metilamina</a:t>
              </a:r>
              <a:endParaRPr lang="pt-BR" altLang="pt-BR" sz="1400" dirty="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 eaLnBrk="1" hangingPunct="1"/>
              <a:r>
                <a:rPr lang="pt-BR" altLang="pt-BR" sz="1400" dirty="0">
                  <a:solidFill>
                    <a:schemeClr val="tx2"/>
                  </a:solidFill>
                  <a:latin typeface="Tahoma" panose="020B0604030504040204" pitchFamily="34" charset="0"/>
                </a:rPr>
                <a:t>(NH</a:t>
              </a:r>
              <a:r>
                <a:rPr lang="pt-BR" altLang="pt-BR" sz="1400" baseline="-25000" dirty="0">
                  <a:solidFill>
                    <a:schemeClr val="tx2"/>
                  </a:solidFill>
                  <a:latin typeface="Tahoma" panose="020B0604030504040204" pitchFamily="34" charset="0"/>
                </a:rPr>
                <a:t>2</a:t>
              </a:r>
              <a:r>
                <a:rPr lang="pt-BR" altLang="pt-BR" sz="1400" dirty="0">
                  <a:solidFill>
                    <a:schemeClr val="tx2"/>
                  </a:solidFill>
                  <a:latin typeface="Tahoma" panose="020B0604030504040204" pitchFamily="34" charset="0"/>
                </a:rPr>
                <a:t>CH</a:t>
              </a:r>
              <a:r>
                <a:rPr lang="pt-BR" altLang="pt-BR" sz="1400" baseline="-25000" dirty="0">
                  <a:solidFill>
                    <a:schemeClr val="tx2"/>
                  </a:solidFill>
                  <a:latin typeface="Tahoma" panose="020B0604030504040204" pitchFamily="34" charset="0"/>
                </a:rPr>
                <a:t>3</a:t>
              </a:r>
              <a:r>
                <a:rPr lang="pt-BR" altLang="pt-BR" sz="1400" dirty="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41" name="Text Box 20">
              <a:extLst>
                <a:ext uri="{FF2B5EF4-FFF2-40B4-BE49-F238E27FC236}">
                  <a16:creationId xmlns:a16="http://schemas.microsoft.com/office/drawing/2014/main" id="{11B765C6-7A0E-42F8-EECC-65DBBCDED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50" y="5257800"/>
              <a:ext cx="979848" cy="4030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íon carbonato</a:t>
              </a:r>
            </a:p>
            <a:p>
              <a:pPr eaLnBrk="1" hangingPunct="1"/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(CO</a:t>
              </a:r>
              <a:r>
                <a:rPr lang="pt-BR" altLang="pt-BR" sz="1200" baseline="-25000">
                  <a:solidFill>
                    <a:schemeClr val="tx2"/>
                  </a:solidFill>
                  <a:latin typeface="Tahoma" panose="020B0604030504040204" pitchFamily="34" charset="0"/>
                </a:rPr>
                <a:t>3</a:t>
              </a:r>
              <a:r>
                <a:rPr lang="pt-BR" altLang="pt-BR" sz="1200" baseline="30000">
                  <a:solidFill>
                    <a:schemeClr val="tx2"/>
                  </a:solidFill>
                  <a:latin typeface="Tahoma" panose="020B0604030504040204" pitchFamily="34" charset="0"/>
                </a:rPr>
                <a:t>2-</a:t>
              </a:r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42" name="Rectangle 21">
              <a:extLst>
                <a:ext uri="{FF2B5EF4-FFF2-40B4-BE49-F238E27FC236}">
                  <a16:creationId xmlns:a16="http://schemas.microsoft.com/office/drawing/2014/main" id="{6CA3F317-F98F-EFF7-9109-CC246E3D8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" y="5930900"/>
              <a:ext cx="914400" cy="34925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3" name="Text Box 22">
              <a:extLst>
                <a:ext uri="{FF2B5EF4-FFF2-40B4-BE49-F238E27FC236}">
                  <a16:creationId xmlns:a16="http://schemas.microsoft.com/office/drawing/2014/main" id="{624D4AA6-F2D3-0514-755F-C8D351D03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5816600"/>
              <a:ext cx="1062329" cy="403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íon hipocloroso</a:t>
              </a:r>
            </a:p>
            <a:p>
              <a:pPr eaLnBrk="1" hangingPunct="1"/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(ClO</a:t>
              </a:r>
              <a:r>
                <a:rPr lang="pt-BR" altLang="pt-BR" sz="1200" baseline="30000">
                  <a:solidFill>
                    <a:schemeClr val="tx2"/>
                  </a:solidFill>
                  <a:latin typeface="Tahoma" panose="020B0604030504040204" pitchFamily="34" charset="0"/>
                </a:rPr>
                <a:t>-</a:t>
              </a:r>
              <a:r>
                <a:rPr lang="pt-BR" altLang="pt-BR" sz="12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44" name="Text Box 23">
              <a:extLst>
                <a:ext uri="{FF2B5EF4-FFF2-40B4-BE49-F238E27FC236}">
                  <a16:creationId xmlns:a16="http://schemas.microsoft.com/office/drawing/2014/main" id="{A3220C05-D065-6F87-2542-D91F5BEB6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1949450"/>
              <a:ext cx="837494" cy="370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pt-BR" altLang="pt-BR" sz="1200" b="1">
                  <a:solidFill>
                    <a:schemeClr val="tx2"/>
                  </a:solidFill>
                  <a:latin typeface="Tahoma" panose="020B0604030504040204" pitchFamily="34" charset="0"/>
                </a:rPr>
                <a:t>Estrutura </a:t>
              </a:r>
            </a:p>
            <a:p>
              <a:pPr eaLnBrk="1" hangingPunct="1">
                <a:lnSpc>
                  <a:spcPct val="90000"/>
                </a:lnSpc>
              </a:pPr>
              <a:r>
                <a:rPr lang="pt-BR" altLang="pt-BR" sz="1200" b="1">
                  <a:solidFill>
                    <a:schemeClr val="tx2"/>
                  </a:solidFill>
                  <a:latin typeface="Tahoma" panose="020B0604030504040204" pitchFamily="34" charset="0"/>
                </a:rPr>
                <a:t>Lewis</a:t>
              </a:r>
            </a:p>
          </p:txBody>
        </p:sp>
        <p:sp>
          <p:nvSpPr>
            <p:cNvPr id="45" name="Text Box 24">
              <a:extLst>
                <a:ext uri="{FF2B5EF4-FFF2-40B4-BE49-F238E27FC236}">
                  <a16:creationId xmlns:a16="http://schemas.microsoft.com/office/drawing/2014/main" id="{B3DD7EB4-C48C-2F71-C9B7-A80E3A5DA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250" y="1949450"/>
              <a:ext cx="871321" cy="3707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pt-BR" altLang="pt-BR" sz="1200" b="1">
                  <a:solidFill>
                    <a:schemeClr val="tx2"/>
                  </a:solidFill>
                  <a:latin typeface="Tahoma" panose="020B0604030504040204" pitchFamily="34" charset="0"/>
                </a:rPr>
                <a:t>ácido </a:t>
              </a:r>
            </a:p>
            <a:p>
              <a:pPr eaLnBrk="1" hangingPunct="1">
                <a:lnSpc>
                  <a:spcPct val="90000"/>
                </a:lnSpc>
              </a:pPr>
              <a:r>
                <a:rPr lang="pt-BR" altLang="pt-BR" sz="1200" b="1">
                  <a:solidFill>
                    <a:schemeClr val="tx2"/>
                  </a:solidFill>
                  <a:latin typeface="Tahoma" panose="020B0604030504040204" pitchFamily="34" charset="0"/>
                </a:rPr>
                <a:t>conjugado</a:t>
              </a:r>
            </a:p>
          </p:txBody>
        </p:sp>
        <p:sp>
          <p:nvSpPr>
            <p:cNvPr id="46" name="Text Box 25">
              <a:extLst>
                <a:ext uri="{FF2B5EF4-FFF2-40B4-BE49-F238E27FC236}">
                  <a16:creationId xmlns:a16="http://schemas.microsoft.com/office/drawing/2014/main" id="{DBD0F32A-1DCF-7938-F340-61D498669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057400"/>
              <a:ext cx="1773238" cy="2418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pt-BR" altLang="pt-BR" sz="1200" b="1">
                  <a:solidFill>
                    <a:schemeClr val="tx2"/>
                  </a:solidFill>
                  <a:latin typeface="Tahoma" panose="020B0604030504040204" pitchFamily="34" charset="0"/>
                </a:rPr>
                <a:t>Reação de equilíbrio</a:t>
              </a:r>
            </a:p>
          </p:txBody>
        </p:sp>
        <p:sp>
          <p:nvSpPr>
            <p:cNvPr id="47" name="Text Box 26">
              <a:extLst>
                <a:ext uri="{FF2B5EF4-FFF2-40B4-BE49-F238E27FC236}">
                  <a16:creationId xmlns:a16="http://schemas.microsoft.com/office/drawing/2014/main" id="{00F4C0A5-B23B-16DB-4C44-29C71DD6C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1600200"/>
              <a:ext cx="5676900" cy="2955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pt-BR" altLang="pt-BR" sz="16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Algumas bases fracas e seus equilíbrios em solução aquosa</a:t>
              </a:r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770B530F-88C1-E75F-F83E-7829FA493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724400"/>
              <a:ext cx="1143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217DF8F9-70C7-5249-4405-A480A1EC8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53" y="4612988"/>
              <a:ext cx="1314450" cy="6448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pt-BR" altLang="pt-BR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íon </a:t>
              </a:r>
              <a:r>
                <a:rPr lang="pt-BR" altLang="pt-BR" sz="14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hidrogenosulfito</a:t>
              </a:r>
              <a:endParaRPr lang="pt-BR" altLang="pt-BR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1" hangingPunct="1"/>
              <a:r>
                <a:rPr lang="pt-BR" altLang="pt-BR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(HS</a:t>
              </a:r>
              <a:r>
                <a:rPr lang="pt-BR" altLang="pt-BR" sz="1400" baseline="300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pt-BR" altLang="pt-BR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FE3A66-97D5-C4C0-7EDE-D4CCB52E4DE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Ácido-Base</a:t>
            </a:r>
          </a:p>
        </p:txBody>
      </p:sp>
    </p:spTree>
    <p:extLst>
      <p:ext uri="{BB962C8B-B14F-4D97-AF65-F5344CB8AC3E}">
        <p14:creationId xmlns:p14="http://schemas.microsoft.com/office/powerpoint/2010/main" val="1618713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5564-D235-7D65-64FD-A5CF2EA0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036D7DC-40EB-159D-FC27-F196DA90BE0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BE1ED1-FB6A-1B29-031A-1FCDE0267FD0}"/>
              </a:ext>
            </a:extLst>
          </p:cNvPr>
          <p:cNvSpPr txBox="1"/>
          <p:nvPr/>
        </p:nvSpPr>
        <p:spPr>
          <a:xfrm>
            <a:off x="332403" y="731819"/>
            <a:ext cx="11527192" cy="539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4. pH de bases fracas (B)</a:t>
            </a:r>
          </a:p>
          <a:p>
            <a:pPr algn="r"/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Base fraca B (</a:t>
            </a:r>
            <a:r>
              <a:rPr lang="pt-BR" sz="2400" kern="0" dirty="0" err="1">
                <a:latin typeface="Aptos" panose="020B0004020202020204" pitchFamily="34" charset="0"/>
                <a:cs typeface="Arial"/>
              </a:rPr>
              <a:t>C</a:t>
            </a:r>
            <a:r>
              <a:rPr lang="pt-BR" sz="2400" kern="0" baseline="-25000" dirty="0" err="1">
                <a:latin typeface="Aptos" panose="020B0004020202020204" pitchFamily="34" charset="0"/>
                <a:cs typeface="Arial"/>
              </a:rPr>
              <a:t>b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mol.L</a:t>
            </a:r>
            <a:r>
              <a:rPr lang="pt-BR" sz="2400" kern="0" baseline="30000" dirty="0">
                <a:latin typeface="Aptos" panose="020B0004020202020204" pitchFamily="34" charset="0"/>
                <a:cs typeface="Arial"/>
              </a:rPr>
              <a:t>-1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)</a:t>
            </a: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B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</a:t>
            </a:r>
            <a:r>
              <a:rPr lang="pt-BR" altLang="pt-BR" sz="2400" kern="0" dirty="0">
                <a:latin typeface="Aptos" panose="020B0004020202020204" pitchFamily="34" charset="0"/>
              </a:rPr>
              <a:t>  BH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+  OH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- </a:t>
            </a:r>
            <a:r>
              <a:rPr lang="pt-BR" altLang="pt-BR" sz="2400" kern="0" dirty="0">
                <a:latin typeface="Aptos" panose="020B0004020202020204" pitchFamily="34" charset="0"/>
              </a:rPr>
              <a:t>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2400" kern="0" dirty="0">
                <a:latin typeface="Aptos" panose="020B0004020202020204" pitchFamily="34" charset="0"/>
              </a:rPr>
              <a:t>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(l)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  </a:t>
            </a:r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+  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</a:rPr>
              <a:t> (</a:t>
            </a:r>
            <a:r>
              <a:rPr lang="pt-BR" altLang="pt-BR" sz="2400" kern="0" dirty="0" err="1">
                <a:latin typeface="Aptos" panose="020B0004020202020204" pitchFamily="34" charset="0"/>
              </a:rPr>
              <a:t>aq</a:t>
            </a:r>
            <a:r>
              <a:rPr lang="pt-BR" altLang="pt-BR" sz="2400" kern="0" dirty="0">
                <a:latin typeface="Aptos" panose="020B0004020202020204" pitchFamily="34" charset="0"/>
              </a:rPr>
              <a:t>) </a:t>
            </a:r>
            <a:endParaRPr lang="pt-BR" altLang="pt-BR" sz="2400" kern="0" baseline="30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sz="2400" kern="0" dirty="0">
              <a:latin typeface="Aptos" panose="020B0004020202020204" pitchFamily="34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massas: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altLang="pt-BR" sz="2400" dirty="0" err="1">
                <a:latin typeface="Aptos" panose="020B0004020202020204" pitchFamily="34" charset="0"/>
              </a:rPr>
              <a:t>C</a:t>
            </a:r>
            <a:r>
              <a:rPr lang="en-US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= [B] + [BH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 </a:t>
            </a:r>
            <a:r>
              <a:rPr lang="en-US" altLang="pt-BR" sz="2400" dirty="0">
                <a:latin typeface="Aptos" panose="020B0004020202020204" pitchFamily="34" charset="0"/>
              </a:rPr>
              <a:t> [B]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C</a:t>
            </a:r>
            <a:r>
              <a:rPr lang="en-US" altLang="pt-BR" sz="2400" baseline="-25000" dirty="0">
                <a:latin typeface="Aptos" panose="020B0004020202020204" pitchFamily="34" charset="0"/>
              </a:rPr>
              <a:t>B</a:t>
            </a:r>
            <a:r>
              <a:rPr lang="en-US" altLang="pt-BR" sz="2400" dirty="0">
                <a:latin typeface="Aptos" panose="020B0004020202020204" pitchFamily="34" charset="0"/>
              </a:rPr>
              <a:t> - [BH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                                                               (1) </a:t>
            </a:r>
          </a:p>
          <a:p>
            <a:pPr>
              <a:lnSpc>
                <a:spcPct val="150000"/>
              </a:lnSpc>
            </a:pPr>
            <a:r>
              <a:rPr lang="pt-BR" altLang="pt-BR" sz="2400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Balanço de cargas:</a:t>
            </a:r>
            <a:r>
              <a:rPr lang="pt-BR" altLang="pt-BR" sz="2400" kern="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 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latin typeface="Aptos" panose="020B0004020202020204" pitchFamily="34" charset="0"/>
              </a:rPr>
              <a:t> + [BH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</a:t>
            </a:r>
            <a:r>
              <a:rPr lang="pt-BR" sz="2400" kern="0" dirty="0">
                <a:solidFill>
                  <a:srgbClr val="C00000"/>
                </a:solidFill>
                <a:latin typeface="Aptos" panose="020B0004020202020204" pitchFamily="34" charset="0"/>
                <a:cs typeface="Arial"/>
                <a:sym typeface="Symbol" panose="05050102010706020507" pitchFamily="18" charset="2"/>
              </a:rPr>
              <a:t></a:t>
            </a:r>
            <a:r>
              <a:rPr lang="en-US" altLang="pt-BR" sz="2400" dirty="0">
                <a:latin typeface="Aptos" panose="020B0004020202020204" pitchFamily="34" charset="0"/>
              </a:rPr>
              <a:t> [BH</a:t>
            </a:r>
            <a:r>
              <a:rPr lang="en-US" altLang="pt-BR" sz="2400" baseline="30000" dirty="0">
                <a:latin typeface="Aptos" panose="020B0004020202020204" pitchFamily="34" charset="0"/>
              </a:rPr>
              <a:t>+</a:t>
            </a:r>
            <a:r>
              <a:rPr lang="en-US" altLang="pt-BR" sz="2400" dirty="0">
                <a:latin typeface="Aptos" panose="020B0004020202020204" pitchFamily="34" charset="0"/>
              </a:rPr>
              <a:t>] = 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-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latin typeface="Aptos" panose="020B0004020202020204" pitchFamily="34" charset="0"/>
              </a:rPr>
              <a:t>                                                 (2)</a:t>
            </a:r>
            <a:r>
              <a:rPr lang="pt-BR" sz="24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 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Substituindo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(2) </a:t>
            </a:r>
            <a:r>
              <a:rPr lang="en-US" alt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em</a:t>
            </a:r>
            <a:r>
              <a:rPr lang="en-US" alt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(1):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</a:rPr>
              <a:t>[B] </a:t>
            </a:r>
            <a:r>
              <a:rPr lang="en-US" altLang="pt-BR" sz="2400" dirty="0">
                <a:latin typeface="Aptos" panose="020B0004020202020204" pitchFamily="34" charset="0"/>
              </a:rPr>
              <a:t>=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- ([OH</a:t>
            </a:r>
            <a:r>
              <a:rPr lang="en-US" altLang="pt-BR" sz="2400" baseline="30000" dirty="0">
                <a:latin typeface="Aptos" panose="020B0004020202020204" pitchFamily="34" charset="0"/>
              </a:rPr>
              <a:t>-</a:t>
            </a:r>
            <a:r>
              <a:rPr lang="en-US" altLang="pt-BR" sz="2400" dirty="0">
                <a:latin typeface="Aptos" panose="020B0004020202020204" pitchFamily="34" charset="0"/>
              </a:rPr>
              <a:t>] - </a:t>
            </a:r>
            <a:r>
              <a:rPr lang="pt-BR" altLang="pt-BR" sz="2400" kern="0" dirty="0">
                <a:latin typeface="Aptos" panose="020B0004020202020204" pitchFamily="34" charset="0"/>
              </a:rPr>
              <a:t>[H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]</a:t>
            </a:r>
            <a:r>
              <a:rPr lang="en-US" altLang="pt-BR" sz="2400" dirty="0">
                <a:latin typeface="Aptos" panose="020B0004020202020204" pitchFamily="34" charset="0"/>
              </a:rPr>
              <a:t>)</a:t>
            </a:r>
            <a:r>
              <a:rPr lang="en-US" altLang="pt-BR" sz="2400" dirty="0">
                <a:solidFill>
                  <a:srgbClr val="002060"/>
                </a:solidFill>
                <a:latin typeface="Aptos" panose="020B0004020202020204" pitchFamily="34" charset="0"/>
              </a:rPr>
              <a:t>                                                                                  </a:t>
            </a:r>
            <a:r>
              <a:rPr lang="en-US" altLang="pt-BR" sz="2400" dirty="0">
                <a:latin typeface="Aptos" panose="020B0004020202020204" pitchFamily="34" charset="0"/>
              </a:rPr>
              <a:t>(3)</a:t>
            </a:r>
            <a:endParaRPr lang="pt-BR" sz="24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24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4B7B0-0F80-16BA-A4EC-C85B523E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29E9BA-048A-A4F4-48D7-430D74B3C2A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59DCCD3-D49F-AFDD-43B2-5A712F2426B6}"/>
                  </a:ext>
                </a:extLst>
              </p:cNvPr>
              <p:cNvSpPr txBox="1"/>
              <p:nvPr/>
            </p:nvSpPr>
            <p:spPr>
              <a:xfrm>
                <a:off x="332404" y="601682"/>
                <a:ext cx="11527192" cy="5659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altLang="pt-BR" sz="2400" kern="0" dirty="0">
                    <a:latin typeface="Aptos" panose="020B0004020202020204" pitchFamily="34" charset="0"/>
                  </a:rPr>
                  <a:t>B 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 + H</a:t>
                </a:r>
                <a:r>
                  <a:rPr lang="pt-BR" altLang="pt-BR" sz="2400" kern="0" baseline="-25000" dirty="0">
                    <a:latin typeface="Aptos" panose="020B0004020202020204" pitchFamily="34" charset="0"/>
                  </a:rPr>
                  <a:t>2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O (l) </a:t>
                </a:r>
                <a:r>
                  <a:rPr lang="pt-BR" altLang="pt-BR" sz="2400" kern="0" dirty="0">
                    <a:latin typeface="Aptos" panose="020B0004020202020204" pitchFamily="34" charset="0"/>
                    <a:cs typeface="Arial" panose="020B0604020202020204" pitchFamily="34" charset="0"/>
                  </a:rPr>
                  <a:t>↔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 BH</a:t>
                </a:r>
                <a:r>
                  <a:rPr lang="pt-BR" altLang="pt-BR" sz="2400" kern="0" baseline="30000" dirty="0">
                    <a:latin typeface="Aptos" panose="020B0004020202020204" pitchFamily="34" charset="0"/>
                  </a:rPr>
                  <a:t>+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 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 +  OH</a:t>
                </a:r>
                <a:r>
                  <a:rPr lang="pt-BR" altLang="pt-BR" sz="2400" b="1" kern="0" baseline="30000" dirty="0">
                    <a:latin typeface="Aptos" panose="020B0004020202020204" pitchFamily="34" charset="0"/>
                  </a:rPr>
                  <a:t>- 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(</a:t>
                </a:r>
                <a:r>
                  <a:rPr lang="pt-BR" altLang="pt-BR" sz="2400" kern="0" dirty="0" err="1">
                    <a:latin typeface="Aptos" panose="020B0004020202020204" pitchFamily="34" charset="0"/>
                  </a:rPr>
                  <a:t>aq</a:t>
                </a:r>
                <a:r>
                  <a:rPr lang="pt-BR" altLang="pt-BR" sz="2400" kern="0" dirty="0">
                    <a:latin typeface="Aptos" panose="020B0004020202020204" pitchFamily="34" charset="0"/>
                  </a:rPr>
                  <a:t>)</a:t>
                </a:r>
                <a:r>
                  <a:rPr lang="pt-BR" sz="2400" dirty="0">
                    <a:latin typeface="Aptos" panose="020B0004020202020204" pitchFamily="34" charset="0"/>
                    <a:cs typeface="Arial" charset="0"/>
                  </a:rPr>
                  <a:t>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m:rPr>
                        <m:nor/>
                      </m:rPr>
                      <a:rPr lang="pt-BR" sz="2400">
                        <a:latin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sz="2400" baseline="30000" dirty="0">
                            <a:latin typeface="Aptos" panose="020B0004020202020204" pitchFamily="34" charset="0"/>
                            <a:cs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  <a:cs typeface="Arial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sz="2400" b="0" i="0" dirty="0" smtClean="0">
                            <a:latin typeface="Aptos" panose="020B0004020202020204" pitchFamily="34" charset="0"/>
                            <a:cs typeface="Arial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den>
                    </m:f>
                  </m:oMath>
                </a14:m>
                <a:r>
                  <a:rPr lang="pt-BR" sz="2400" baseline="30000" dirty="0">
                    <a:latin typeface="Aptos" panose="020B0004020202020204" pitchFamily="34" charset="0"/>
                  </a:rPr>
                  <a:t>                                                                                         </a:t>
                </a:r>
                <a:r>
                  <a:rPr lang="pt-BR" sz="2400" dirty="0">
                    <a:latin typeface="Aptos" panose="020B0004020202020204" pitchFamily="34" charset="0"/>
                  </a:rPr>
                  <a:t>(4)</a:t>
                </a:r>
              </a:p>
              <a:p>
                <a:pPr>
                  <a:lnSpc>
                    <a:spcPct val="150000"/>
                  </a:lnSpc>
                </a:pPr>
                <a:endParaRPr lang="en-US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Substituindo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(2) e (3) </a:t>
                </a:r>
                <a:r>
                  <a:rPr lang="en-US" altLang="pt-BR" sz="2400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em</a:t>
                </a:r>
                <a:r>
                  <a:rPr lang="en-US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(4):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24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nor/>
                      </m:rPr>
                      <a:rPr lang="pt-BR" sz="2400">
                        <a:latin typeface="Aptos" panose="020B00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pt-BR" sz="2400" dirty="0">
                        <a:latin typeface="Comic Sans MS" panose="030F0702030302020204" pitchFamily="66" charset="0"/>
                      </a:rPr>
                      <m:t> 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>
                            <a:latin typeface="Aptos" panose="020B00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]) 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aseline="-25000" dirty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 − ([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− [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aseline="30000" dirty="0">
                            <a:latin typeface="Aptos" panose="020B00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])</m:t>
                        </m:r>
                        <m:r>
                          <a:rPr lang="pt-BR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                                                                                                                           (5)</a:t>
                </a:r>
              </a:p>
              <a:p>
                <a:pPr algn="ctr">
                  <a:lnSpc>
                    <a:spcPct val="150000"/>
                  </a:lnSpc>
                </a:pPr>
                <a:endParaRPr lang="pt-BR" altLang="pt-BR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Se K</a:t>
                </a:r>
                <a:r>
                  <a:rPr lang="pt-BR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b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&gt;&gt;&gt; K</a:t>
                </a:r>
                <a:r>
                  <a:rPr lang="pt-BR" altLang="pt-BR" sz="2400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w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</a:t>
                </a: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[H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 é desprezível em (5)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K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a</a:t>
                </a:r>
                <a:r>
                  <a:rPr lang="pt-BR" sz="2400" dirty="0"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="0" i="0" baseline="30000" dirty="0" smtClean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])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OH</m:t>
                        </m:r>
                        <m:r>
                          <m:rPr>
                            <m:nor/>
                          </m:rPr>
                          <a:rPr lang="pt-BR" altLang="pt-BR" sz="2400" b="0" i="0" baseline="30000" dirty="0" smtClean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] 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altLang="pt-BR" sz="2400" b="0" i="0" baseline="-25000" dirty="0" smtClean="0">
                            <a:latin typeface="Aptos" panose="020B0004020202020204" pitchFamily="34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altLang="pt-BR" sz="2400" dirty="0">
                            <a:latin typeface="Aptos" panose="020B00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pt-BR" altLang="pt-BR" sz="2400" dirty="0" smtClean="0">
                            <a:latin typeface="Aptos" panose="020B000402020202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pt-BR" altLang="pt-BR" sz="2400" b="0" i="0" baseline="30000" dirty="0" smtClean="0">
                            <a:latin typeface="Aptos" panose="020B00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altLang="pt-BR" sz="2400" dirty="0" smtClean="0">
                            <a:latin typeface="Aptos" panose="020B0004020202020204" pitchFamily="34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pt-BR" altLang="pt-BR" sz="2400" b="0" i="0" dirty="0" smtClean="0">
                            <a:latin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 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 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K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pt-BR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</m:oMath>
                </a14:m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59DCCD3-D49F-AFDD-43B2-5A712F242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4" y="601682"/>
                <a:ext cx="11527192" cy="5659563"/>
              </a:xfrm>
              <a:prstGeom prst="rect">
                <a:avLst/>
              </a:prstGeom>
              <a:blipFill>
                <a:blip r:embed="rId2"/>
                <a:stretch>
                  <a:fillRect l="-847" r="-6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91C7966-6F0A-C6E5-F2F3-5F6CDD721D82}"/>
              </a:ext>
            </a:extLst>
          </p:cNvPr>
          <p:cNvCxnSpPr>
            <a:cxnSpLocks/>
          </p:cNvCxnSpPr>
          <p:nvPr/>
        </p:nvCxnSpPr>
        <p:spPr>
          <a:xfrm flipV="1">
            <a:off x="2255397" y="3429000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2E142980-F22C-D308-8D68-D3EB5F504016}"/>
              </a:ext>
            </a:extLst>
          </p:cNvPr>
          <p:cNvCxnSpPr>
            <a:cxnSpLocks/>
          </p:cNvCxnSpPr>
          <p:nvPr/>
        </p:nvCxnSpPr>
        <p:spPr>
          <a:xfrm flipV="1">
            <a:off x="2920328" y="3773647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74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E8A0-FCC7-90E2-A3EA-84E481CFF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C0774D-F916-BD8A-E62E-D0837E45083F}"/>
              </a:ext>
            </a:extLst>
          </p:cNvPr>
          <p:cNvSpPr txBox="1"/>
          <p:nvPr/>
        </p:nvSpPr>
        <p:spPr>
          <a:xfrm>
            <a:off x="-14055" y="3488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D78B08C-2DDF-8226-906C-244F769BC625}"/>
                  </a:ext>
                </a:extLst>
              </p:cNvPr>
              <p:cNvSpPr txBox="1"/>
              <p:nvPr/>
            </p:nvSpPr>
            <p:spPr>
              <a:xfrm>
                <a:off x="332402" y="1010902"/>
                <a:ext cx="11527192" cy="4836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Se </a:t>
                </a:r>
                <a:r>
                  <a:rPr lang="pt-BR" sz="2400" dirty="0" err="1">
                    <a:latin typeface="Aptos" panose="020B0004020202020204" pitchFamily="34" charset="0"/>
                  </a:rPr>
                  <a:t>C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</a:rPr>
                  <a:t>/K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</a:rPr>
                  <a:t> &gt; 10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3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A dissociação da base é muito pouco favorável: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K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pt-BR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</m:oMath>
                </a14:m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[OH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] = (K</a:t>
                </a:r>
                <a:r>
                  <a:rPr lang="pt-BR" altLang="pt-BR" sz="2400" b="1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1/2</a:t>
                </a:r>
              </a:p>
              <a:p>
                <a:pPr algn="ctr">
                  <a:lnSpc>
                    <a:spcPct val="150000"/>
                  </a:lnSpc>
                </a:pPr>
                <a:endParaRPr lang="pt-BR" sz="2400" b="1" baseline="300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Se </a:t>
                </a:r>
                <a:r>
                  <a:rPr lang="pt-BR" sz="2400" dirty="0" err="1">
                    <a:latin typeface="Aptos" panose="020B0004020202020204" pitchFamily="34" charset="0"/>
                  </a:rPr>
                  <a:t>C</a:t>
                </a:r>
                <a:r>
                  <a:rPr lang="pt-BR" sz="2400" baseline="-25000" dirty="0" err="1">
                    <a:latin typeface="Aptos" panose="020B0004020202020204" pitchFamily="34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</a:rPr>
                  <a:t>/K</a:t>
                </a:r>
                <a:r>
                  <a:rPr lang="pt-BR" sz="2400" baseline="-25000" dirty="0">
                    <a:latin typeface="Aptos" panose="020B0004020202020204" pitchFamily="34" charset="0"/>
                  </a:rPr>
                  <a:t>b</a:t>
                </a:r>
                <a:r>
                  <a:rPr lang="pt-BR" sz="2400" dirty="0">
                    <a:latin typeface="Aptos" panose="020B0004020202020204" pitchFamily="34" charset="0"/>
                  </a:rPr>
                  <a:t> &lt; 10</a:t>
                </a:r>
                <a:r>
                  <a:rPr lang="pt-BR" sz="2400" baseline="30000" dirty="0">
                    <a:latin typeface="Aptos" panose="020B0004020202020204" pitchFamily="34" charset="0"/>
                  </a:rPr>
                  <a:t>3 </a:t>
                </a:r>
                <a:r>
                  <a:rPr lang="pt-BR" altLang="pt-BR" sz="24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</a:t>
                </a:r>
                <a:r>
                  <a:rPr lang="pt-BR" altLang="pt-BR" sz="2400" dirty="0">
                    <a:latin typeface="Aptos" panose="020B0004020202020204" pitchFamily="34" charset="0"/>
                    <a:sym typeface="Symbol" panose="05050102010706020507" pitchFamily="18" charset="2"/>
                  </a:rPr>
                  <a:t> A dissociação da base é favorável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dirty="0">
                    <a:solidFill>
                      <a:srgbClr val="002060"/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[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OH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= K</a:t>
                </a:r>
                <a:r>
                  <a:rPr lang="pt-BR" altLang="pt-BR" sz="2400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altLang="pt-BR" sz="24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 -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altLang="pt-BR" sz="2400" dirty="0">
                        <a:latin typeface="Aptos" panose="020B0004020202020204" pitchFamily="34" charset="0"/>
                      </a:rPr>
                      <m:t>OH</m:t>
                    </m:r>
                    <m:r>
                      <m:rPr>
                        <m:nor/>
                      </m:rPr>
                      <a:rPr lang="pt-BR" altLang="pt-BR" sz="2400" baseline="30000" dirty="0">
                        <a:latin typeface="Aptos" panose="020B0004020202020204" pitchFamily="34" charset="0"/>
                      </a:rPr>
                      <m:t>−</m:t>
                    </m:r>
                  </m:oMath>
                </a14:m>
                <a:r>
                  <a:rPr lang="pt-BR" altLang="pt-BR" sz="2400" dirty="0">
                    <a:latin typeface="Aptos" panose="020B0004020202020204" pitchFamily="34" charset="0"/>
                    <a:cs typeface="Arial" panose="020B0604020202020204" pitchFamily="34" charset="0"/>
                  </a:rPr>
                  <a:t>])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OH</a:t>
                </a:r>
                <a:r>
                  <a:rPr lang="pt-BR" sz="2400" b="1" baseline="30000" dirty="0">
                    <a:latin typeface="Aptos" panose="020B0004020202020204" pitchFamily="34" charset="0"/>
                    <a:cs typeface="Arial" charset="0"/>
                  </a:rPr>
                  <a:t>-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pt-BR" altLang="pt-BR" sz="2400" b="1" baseline="30000" dirty="0">
                    <a:latin typeface="Aptos" panose="020B0004020202020204" pitchFamily="34" charset="0"/>
                    <a:cs typeface="Arial" panose="020B0604020202020204" pitchFamily="34" charset="0"/>
                  </a:rPr>
                  <a:t>2  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+  K</a:t>
                </a:r>
                <a:r>
                  <a:rPr lang="pt-BR" altLang="pt-BR" sz="2400" b="1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pt-BR" sz="2400" b="1" dirty="0">
                    <a:latin typeface="Aptos" panose="020B0004020202020204" pitchFamily="34" charset="0"/>
                    <a:cs typeface="Arial" charset="0"/>
                  </a:rPr>
                  <a:t>OH</a:t>
                </a:r>
                <a:r>
                  <a:rPr lang="pt-BR" sz="2400" b="1" baseline="30000" dirty="0">
                    <a:latin typeface="Aptos" panose="020B0004020202020204" pitchFamily="34" charset="0"/>
                    <a:cs typeface="Arial" charset="0"/>
                  </a:rPr>
                  <a:t>-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] - K</a:t>
                </a:r>
                <a:r>
                  <a:rPr lang="pt-BR" altLang="pt-BR" sz="2400" b="1" baseline="-25000" dirty="0">
                    <a:latin typeface="Aptos" panose="020B00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pt-BR" altLang="pt-BR" sz="2400" b="1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pt-BR" altLang="pt-BR" sz="2400" b="1" baseline="-25000" dirty="0" err="1">
                    <a:latin typeface="Aptos" panose="020B00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altLang="pt-BR" sz="2400" b="1" dirty="0">
                    <a:latin typeface="Aptos" panose="020B00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pt-BR" sz="2400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/>
                    <a:sym typeface="Symbol" panose="05050102010706020507" pitchFamily="18" charset="2"/>
                  </a:rPr>
                  <a:t> Equação Geral</a:t>
                </a: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D78B08C-2DDF-8226-906C-244F769BC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2" y="1010902"/>
                <a:ext cx="11527192" cy="4836196"/>
              </a:xfrm>
              <a:prstGeom prst="rect">
                <a:avLst/>
              </a:prstGeom>
              <a:blipFill>
                <a:blip r:embed="rId2"/>
                <a:stretch>
                  <a:fillRect l="-847" b="-21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CBCACFF-0E2F-A0F8-8A65-82B44D32CAB9}"/>
              </a:ext>
            </a:extLst>
          </p:cNvPr>
          <p:cNvCxnSpPr>
            <a:cxnSpLocks/>
          </p:cNvCxnSpPr>
          <p:nvPr/>
        </p:nvCxnSpPr>
        <p:spPr>
          <a:xfrm flipV="1">
            <a:off x="6913661" y="2260121"/>
            <a:ext cx="367033" cy="38120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51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94A0-D55C-7D99-F334-A9FF18D0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D7B845-7EC8-6719-B37F-AC00D43145F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8FE532-7421-C4DC-61C1-FD5569AFE2EC}"/>
              </a:ext>
            </a:extLst>
          </p:cNvPr>
          <p:cNvSpPr txBox="1"/>
          <p:nvPr/>
        </p:nvSpPr>
        <p:spPr>
          <a:xfrm>
            <a:off x="332403" y="1724263"/>
            <a:ext cx="115271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5: </a:t>
            </a:r>
            <a:r>
              <a:rPr lang="pt-BR" sz="2400" dirty="0">
                <a:latin typeface="Aptos" panose="020B0004020202020204" pitchFamily="34" charset="0"/>
              </a:rPr>
              <a:t>Calcule o pH de uma solução de NH</a:t>
            </a:r>
            <a:r>
              <a:rPr lang="pt-BR" sz="2400" baseline="-25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 com </a:t>
            </a:r>
            <a:r>
              <a:rPr lang="pt-BR" altLang="pt-BR" sz="2400" dirty="0" err="1">
                <a:latin typeface="Aptos" panose="020B0004020202020204" pitchFamily="34" charset="0"/>
              </a:rPr>
              <a:t>C</a:t>
            </a:r>
            <a:r>
              <a:rPr lang="pt-BR" altLang="pt-BR" sz="2400" baseline="-25000" dirty="0" err="1">
                <a:latin typeface="Aptos" panose="020B0004020202020204" pitchFamily="34" charset="0"/>
              </a:rPr>
              <a:t>b</a:t>
            </a:r>
            <a:r>
              <a:rPr lang="pt-BR" altLang="pt-BR" sz="2400" baseline="-25000" dirty="0">
                <a:latin typeface="Aptos" panose="020B0004020202020204" pitchFamily="34" charset="0"/>
              </a:rPr>
              <a:t> </a:t>
            </a:r>
            <a:r>
              <a:rPr lang="en-US" altLang="pt-BR" sz="2400" dirty="0">
                <a:latin typeface="Aptos" panose="020B0004020202020204" pitchFamily="34" charset="0"/>
              </a:rPr>
              <a:t>= 0,1000 mol.L</a:t>
            </a:r>
            <a:r>
              <a:rPr lang="en-US" altLang="pt-BR" sz="2400" baseline="30000" dirty="0">
                <a:latin typeface="Aptos" panose="020B0004020202020204" pitchFamily="34" charset="0"/>
              </a:rPr>
              <a:t>-1</a:t>
            </a:r>
            <a:r>
              <a:rPr lang="en-US" altLang="pt-BR" sz="2400" dirty="0">
                <a:latin typeface="Aptos" panose="020B0004020202020204" pitchFamily="34" charset="0"/>
              </a:rPr>
              <a:t> à 25 °C.</a:t>
            </a:r>
          </a:p>
          <a:p>
            <a:pPr>
              <a:lnSpc>
                <a:spcPct val="150000"/>
              </a:lnSpc>
            </a:pPr>
            <a:endParaRPr lang="en-US" sz="2400" baseline="30000" dirty="0">
              <a:latin typeface="Aptos" panose="020B0004020202020204" pitchFamily="34" charset="0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NH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3</a:t>
            </a:r>
            <a:r>
              <a:rPr lang="pt-BR" altLang="pt-BR" sz="2400" kern="0" dirty="0">
                <a:latin typeface="Aptos" panose="020B0004020202020204" pitchFamily="34" charset="0"/>
              </a:rPr>
              <a:t> + 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</a:t>
            </a:r>
            <a:r>
              <a:rPr lang="pt-BR" altLang="pt-BR" sz="2400" kern="0" dirty="0">
                <a:latin typeface="Aptos" panose="020B0004020202020204" pitchFamily="34" charset="0"/>
              </a:rPr>
              <a:t>  NH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4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+  OH</a:t>
            </a:r>
            <a:r>
              <a:rPr lang="pt-BR" altLang="pt-BR" sz="2400" b="1" kern="0" baseline="30000" dirty="0">
                <a:latin typeface="Aptos" panose="020B0004020202020204" pitchFamily="34" charset="0"/>
              </a:rPr>
              <a:t>-</a:t>
            </a:r>
            <a:r>
              <a:rPr lang="pt-BR" altLang="pt-BR" sz="2400" b="1" kern="0" dirty="0">
                <a:latin typeface="Aptos" panose="020B0004020202020204" pitchFamily="34" charset="0"/>
              </a:rPr>
              <a:t>         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="1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b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= 1,8 x 10</a:t>
            </a:r>
            <a:r>
              <a:rPr lang="pt-BR" altLang="pt-BR" sz="2400" b="1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-5</a:t>
            </a:r>
            <a:endParaRPr lang="pt-BR" altLang="pt-BR" sz="2400" b="1" kern="0" dirty="0">
              <a:latin typeface="Aptos" panose="020B0004020202020204" pitchFamily="34" charset="0"/>
            </a:endParaRPr>
          </a:p>
          <a:p>
            <a:pPr algn="ctr"/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-25000" dirty="0">
                <a:latin typeface="Aptos" panose="020B0004020202020204" pitchFamily="34" charset="0"/>
              </a:rPr>
              <a:t>2</a:t>
            </a:r>
            <a:r>
              <a:rPr lang="pt-BR" altLang="pt-BR" sz="2400" kern="0" dirty="0">
                <a:latin typeface="Aptos" panose="020B0004020202020204" pitchFamily="34" charset="0"/>
              </a:rPr>
              <a:t>O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↔  </a:t>
            </a:r>
            <a:r>
              <a:rPr lang="pt-BR" altLang="pt-BR" sz="2400" kern="0" dirty="0">
                <a:latin typeface="Aptos" panose="020B0004020202020204" pitchFamily="34" charset="0"/>
              </a:rPr>
              <a:t>H</a:t>
            </a:r>
            <a:r>
              <a:rPr lang="pt-BR" altLang="pt-BR" sz="2400" kern="0" baseline="30000" dirty="0">
                <a:latin typeface="Aptos" panose="020B0004020202020204" pitchFamily="34" charset="0"/>
              </a:rPr>
              <a:t>+</a:t>
            </a:r>
            <a:r>
              <a:rPr lang="pt-BR" altLang="pt-BR" sz="2400" kern="0" dirty="0">
                <a:latin typeface="Aptos" panose="020B0004020202020204" pitchFamily="34" charset="0"/>
              </a:rPr>
              <a:t> 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+  OH</a:t>
            </a:r>
            <a:r>
              <a:rPr lang="pt-BR" altLang="pt-BR" sz="2400" kern="0" baseline="30000" dirty="0">
                <a:latin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pt-BR" altLang="pt-BR" sz="2400" kern="0" dirty="0">
                <a:latin typeface="Aptos" panose="020B0004020202020204" pitchFamily="34" charset="0"/>
                <a:cs typeface="Arial" panose="020B0604020202020204" pitchFamily="34" charset="0"/>
              </a:rPr>
              <a:t>          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="1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w</a:t>
            </a:r>
            <a:r>
              <a:rPr lang="pt-BR" altLang="pt-BR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= 1,00 x 10</a:t>
            </a:r>
            <a:r>
              <a:rPr lang="pt-BR" altLang="pt-BR" sz="2400" b="1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-14</a:t>
            </a:r>
            <a:endParaRPr lang="pt-BR" altLang="pt-BR" sz="2400" b="1" kern="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44D24E-6935-5693-E033-9A5DF7FDB06D}"/>
              </a:ext>
            </a:extLst>
          </p:cNvPr>
          <p:cNvSpPr txBox="1"/>
          <p:nvPr/>
        </p:nvSpPr>
        <p:spPr>
          <a:xfrm>
            <a:off x="3200091" y="3495842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11,11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9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CA46-669D-56B5-FD1E-9F3E24D9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E8D7F14-2B75-8AE9-CED4-14AFBFEB0BB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 de pH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D4637F-ABB4-8231-1BC0-E1F35B518FF8}"/>
              </a:ext>
            </a:extLst>
          </p:cNvPr>
          <p:cNvSpPr txBox="1"/>
          <p:nvPr/>
        </p:nvSpPr>
        <p:spPr>
          <a:xfrm>
            <a:off x="332403" y="1690608"/>
            <a:ext cx="11527192" cy="2993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6: </a:t>
            </a:r>
            <a:r>
              <a:rPr lang="pt-BR" sz="2400" dirty="0">
                <a:latin typeface="Aptos" panose="020B0004020202020204" pitchFamily="34" charset="0"/>
              </a:rPr>
              <a:t>Determine o pH de uma solução de CH</a:t>
            </a:r>
            <a:r>
              <a:rPr lang="pt-BR" sz="2400" baseline="-25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COOH 1x10</a:t>
            </a:r>
            <a:r>
              <a:rPr lang="pt-BR" sz="2400" baseline="30000" dirty="0">
                <a:latin typeface="Aptos" panose="020B0004020202020204" pitchFamily="34" charset="0"/>
              </a:rPr>
              <a:t>-4</a:t>
            </a:r>
            <a:r>
              <a:rPr lang="pt-BR" sz="2400" dirty="0">
                <a:latin typeface="Aptos" panose="020B0004020202020204" pitchFamily="34" charset="0"/>
              </a:rPr>
              <a:t> mol.L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</a:rPr>
              <a:t>, à 25 °C.</a:t>
            </a: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ptos" panose="020B0004020202020204" pitchFamily="34" charset="0"/>
              </a:rPr>
              <a:t> </a:t>
            </a: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a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= 1,75 x 10</a:t>
            </a:r>
            <a:r>
              <a:rPr lang="pt-BR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-5 </a:t>
            </a:r>
          </a:p>
          <a:p>
            <a:pPr>
              <a:lnSpc>
                <a:spcPct val="150000"/>
              </a:lnSpc>
            </a:pPr>
            <a:endParaRPr lang="pt-BR" sz="2400" baseline="30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endParaRPr lang="pt-BR" sz="2400" baseline="30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Exemplo 7: </a:t>
            </a:r>
            <a:r>
              <a:rPr lang="pt-BR" sz="2400" dirty="0">
                <a:latin typeface="Aptos" panose="020B0004020202020204" pitchFamily="34" charset="0"/>
              </a:rPr>
              <a:t>Determine o pH de uma solução de NH</a:t>
            </a:r>
            <a:r>
              <a:rPr lang="pt-BR" sz="2400" baseline="-25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 1x10</a:t>
            </a:r>
            <a:r>
              <a:rPr lang="pt-BR" sz="2400" baseline="30000" dirty="0">
                <a:latin typeface="Aptos" panose="020B0004020202020204" pitchFamily="34" charset="0"/>
              </a:rPr>
              <a:t>-3</a:t>
            </a:r>
            <a:r>
              <a:rPr lang="pt-BR" sz="2400" dirty="0">
                <a:latin typeface="Aptos" panose="020B0004020202020204" pitchFamily="34" charset="0"/>
              </a:rPr>
              <a:t> mol.L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</a:rPr>
              <a:t>, à 25 °C.</a:t>
            </a:r>
          </a:p>
          <a:p>
            <a:pPr algn="ctr">
              <a:lnSpc>
                <a:spcPct val="150000"/>
              </a:lnSpc>
            </a:pPr>
            <a:r>
              <a:rPr lang="pt-BR" sz="2400" kern="0" dirty="0">
                <a:latin typeface="Aptos" panose="020B0004020202020204" pitchFamily="34" charset="0"/>
                <a:cs typeface="Arial"/>
              </a:rPr>
              <a:t>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K</a:t>
            </a:r>
            <a:r>
              <a:rPr lang="pt-BR" altLang="pt-BR" sz="2400" baseline="-25000" dirty="0">
                <a:solidFill>
                  <a:srgbClr val="000000"/>
                </a:solidFill>
                <a:latin typeface="Aptos" panose="020B0004020202020204" pitchFamily="34" charset="0"/>
              </a:rPr>
              <a:t>b </a:t>
            </a:r>
            <a:r>
              <a:rPr lang="pt-BR" altLang="pt-BR" sz="2400" dirty="0">
                <a:solidFill>
                  <a:srgbClr val="000000"/>
                </a:solidFill>
                <a:latin typeface="Aptos" panose="020B0004020202020204" pitchFamily="34" charset="0"/>
              </a:rPr>
              <a:t>= 1,8 x 10</a:t>
            </a:r>
            <a:r>
              <a:rPr lang="pt-BR" altLang="pt-BR" sz="2400" baseline="30000" dirty="0">
                <a:solidFill>
                  <a:srgbClr val="000000"/>
                </a:solidFill>
                <a:latin typeface="Aptos" panose="020B0004020202020204" pitchFamily="34" charset="0"/>
              </a:rPr>
              <a:t>-5 </a:t>
            </a:r>
            <a:endParaRPr lang="pt-BR" sz="2400" baseline="30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5D6E059-8009-E927-979A-FCA2AAF02960}"/>
              </a:ext>
            </a:extLst>
          </p:cNvPr>
          <p:cNvSpPr txBox="1"/>
          <p:nvPr/>
        </p:nvSpPr>
        <p:spPr>
          <a:xfrm>
            <a:off x="3200091" y="2827397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4,47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8534CB-D5E7-AF42-35EE-C2916A00FAF9}"/>
              </a:ext>
            </a:extLst>
          </p:cNvPr>
          <p:cNvSpPr txBox="1"/>
          <p:nvPr/>
        </p:nvSpPr>
        <p:spPr>
          <a:xfrm>
            <a:off x="3200091" y="4680083"/>
            <a:ext cx="579181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/>
              </a:rPr>
              <a:t>Resposta: pH = 10,1</a:t>
            </a:r>
            <a:endParaRPr lang="pt-BR" altLang="pt-BR" sz="2400" b="1" kern="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4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Retrospectiva">
  <a:themeElements>
    <a:clrScheme name="Vermelho Violet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3636</TotalTime>
  <Words>2937</Words>
  <Application>Microsoft Office PowerPoint</Application>
  <PresentationFormat>Widescreen</PresentationFormat>
  <Paragraphs>425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Cambria Math</vt:lpstr>
      <vt:lpstr>Comic Sans MS</vt:lpstr>
      <vt:lpstr>Tahoma</vt:lpstr>
      <vt:lpstr>Wingdings</vt:lpstr>
      <vt:lpstr>Retrospectiva</vt:lpstr>
      <vt:lpstr>Aula 3:  Introdução ao Equilíbrio de neutralização Cálculos de pH e pOH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Alene Dutra</dc:creator>
  <cp:lastModifiedBy>Alene Dutra</cp:lastModifiedBy>
  <cp:revision>216</cp:revision>
  <dcterms:created xsi:type="dcterms:W3CDTF">2025-03-10T01:16:28Z</dcterms:created>
  <dcterms:modified xsi:type="dcterms:W3CDTF">2025-03-28T17:57:16Z</dcterms:modified>
</cp:coreProperties>
</file>