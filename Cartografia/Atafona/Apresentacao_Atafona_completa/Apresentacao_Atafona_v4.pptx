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material cartográfico do grupo. As classes e a semântica das feições lineares da base terrestre precisam ser conferidas no projeto QGIS. A legenda batimétrica do mapa estadual repete cores para faixas diferentes e não cobre claramente todas as profundidades rotuladas. A seta de 195° é uma referência exploratória regional.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Legenda de profundidades simplificada agrupando cores repetidas na legenda original. As cores foram amostradas da imagem. A extensão da classe mais profunda além de −900 m foi inferida dos tons visíveis e dos rótulos das isóbatas. Limites das classes e feições lineares em terra devem ser conferidos no QGIS para garantia integral. SIRGAS 2000 é o sistema de referência, não a fonte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Briso, Caio Barretto. O mar está engolindo esta cidade brasileira. National Geographic Brasil, 2021. https://www.nationalgeographicbrasil.com/meio-ambiente/2021/10/atafona-rio-de-janeiro-mar-esta-engolindo-cidade-brasileira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legenda cartográfica completa do mapa de profundidades está no slide 9. Dados oceanográficos de referência: estação de Linhares, ES, não medições locais de Atafona. https://simcosta.furg.br/downloads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cartográfica: material do grupo. Polígonos indicam substâncias associadas a processos minerários, não lavras ativas confirmadas. Seta 195°: referência regional exploratória, não medição local. Feições lineares e preenchimentos da base geomorfológica precisam de classificação no QGIS.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https://rbgeomorfologia.org.br/rbg/article/view/2272 ; https://www.sinageo.org.br/2018/trabalhos/2/2-298-1803.html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do grupo. Classificação das feições em terra a conferir na camada Geomorfologia_RJ. A única classe batimétrica visível na imagem enviada é 0 a −20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https://simcosta.furg.br/downloads . O azimute da seta é referência exploratória. A imagem original o descreve como direção de ondas, enquanto o conjunto é apresentado como correntes. A variável física e a convenção de direção devem ser conferidas nos dados antes de conclusões locais. O recorte usa o mapa original em alta resolução.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https://simcosta.furg.br/downloads . Complemento de legenda no slide 3. Classificação detalhada da base cartográfica a conferir no QGIS.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cartográfico do grupo e conclusões do Beamer. Ver ressalvas sobre a base cartográfica e direção regional nos slides 3 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Upham Beach, Florida, EUA, é a localização identificada pela legenda da Figura 1d. Os painéis a–c são configurações esquemáticas, sem local de obra específico. https://www.asbpa.org/wp-content/uploads/2016/04/Reintroducing-Structures-for-Erosion-Control_FINAL.pdf , página 2, Figura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Holly Beach: Louisiana, EUA. https://www.asbpa.org/wp-content/uploads/2016/04/Reintroducing-Structures-for-Erosion-Control_FINAL.pdf , página 3, Figura 2 (Mann e Thomson, 2003). A referência Dreamstime do Beamer é um endereço incompleto, sem identificador de fotografia, e não permite confirmar a localização nem a identificação técnica dos blocos na segunda imagem. Mantida com descrição genérica de blocos de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ASBPA (2011). Reintroducing Structures for Erosion Control on the Open Coasts of America. White paper.</a:t>
            </a:r>
          </a:p>
          <a:p>
            <a:r>
              <a:t>https://asbpa.org/wp-content/uploads/2016/04/Reintroducing-Structures-for-Erosion-Control_FINAL.pdf</a:t>
            </a:r>
          </a:p>
          <a:p>
            <a:endParaRPr/>
          </a:p>
          <a:p>
            <a:r>
              <a:t>BRISO, C. B. (2021). O mar está engolindo esta cidade brasileira. National Geographic Brasil.</a:t>
            </a:r>
          </a:p>
          <a:p>
            <a:r>
              <a:t>https://www.nationalgeographicbrasil.com/meio-ambiente/2021/10/atafona-rio-de-janeiro-mar-esta-engolindo-cidade-brasileira</a:t>
            </a:r>
          </a:p>
          <a:p>
            <a:endParaRPr/>
          </a:p>
          <a:p>
            <a:r>
              <a:t>DREAMSTIME. Core-Loc breakwater units. Sem data. Crédito informado na apresentação original.</a:t>
            </a:r>
          </a:p>
          <a:p>
            <a:r>
              <a:t>https://www.dreamstime.com/core-loc-breakwater-units-image</a:t>
            </a:r>
          </a:p>
          <a:p>
            <a:endParaRPr/>
          </a:p>
          <a:p>
            <a:r>
              <a:t>MACHADO, B. A. et al. (2024). Dinâmica da linha de costa no flanco meridional do delta do rio Paraíba do Sul entre 1954–2018: considerações sobre o fenômeno da erosão costeira em Atafona (RJ). Revista Brasileira de Geomorfologia, 25(1). DOI: 10.20502/rbgeomorfologia.v25i1.2272.</a:t>
            </a:r>
          </a:p>
          <a:p>
            <a:r>
              <a:t>https://rbgeomorfologia.org.br/rbg/article/view/2272</a:t>
            </a:r>
          </a:p>
          <a:p>
            <a:r>
              <a:t>A URL Dreamstime é incompleta e sua imagem não está geolocalizada.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MELLO, G. S.; MACHADO, B. A.; ROCHA, T. B. (2018). Avaliação dos impactos da erosão costeira no distrito de Atafona (RJ), entre os anos de 2005 e 2016. Anais do XII Simpósio Nacional de Geomorfologia, Crato, CE.</a:t>
            </a:r>
          </a:p>
          <a:p>
            <a:r>
              <a:t>https://www.sinageo.org.br/2018/trabalhos/2/2-298-1803.html</a:t>
            </a:r>
          </a:p>
          <a:p>
            <a:endParaRPr/>
          </a:p>
          <a:p>
            <a:r>
              <a:t>SISTEMA DE MONITORAMENTO DA COSTA BRASILEIRA (SiMCosta). Portal de Dados Meteoceanográficos. CEOCEAN, Instituto de Oceanografia, Universidade Federal do Rio Grande (FURG). 2026.</a:t>
            </a:r>
          </a:p>
          <a:p>
            <a:r>
              <a:t>https://simcosta.furg.br/downloads</a:t>
            </a:r>
          </a:p>
          <a:p>
            <a:endParaRPr/>
          </a:p>
          <a:p>
            <a:r>
              <a:t>VASCONCELOS, S. C. et al. (2021). Dinâmica erosiva e progradacional das praias de Atafona e Grussaí (RJ), 1954–2019. Revista da ANPEGE, 17(33), 162–182. DOI: 10.5418/ra2021.v17i33.11946.</a:t>
            </a:r>
          </a:p>
          <a:p>
            <a:r>
              <a:t>https://ojs.ufgd.edu.br/anpege/article/view/11946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7C99E821-E15C-4A9A-8DE7-BB34D42B2248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EEE87CF-6420-4661-A319-325A5D344BD7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1ABEAF6-7772-49B7-9AED-69D092C76D33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AE7FEA-FF46-480C-845C-0464E7EE30AC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64C71DE-FD01-43F5-BDAB-4FA62BAFEC4B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65925A2-AA1E-4CEB-8375-D6C660AFAB2E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306EF14-5BB8-49CA-A7E8-30E91279A59B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1 / 17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68C8AFB-A235-4539-AB4C-EA2A63DE6A35}"/>
              </a:ext>
            </a:extLst>
          </p:cNvPr>
          <p:cNvSpPr>
            <a:spLocks noGrp="1"/>
          </p:cNvSpPr>
          <p:nvPr/>
        </p:nvSpPr>
        <p:spPr>
          <a:xfrm>
            <a:off x="171450" y="714375"/>
            <a:ext cx="11849100" cy="148590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73E29A8-5F10-4381-B39F-271E3E2FAB9E}"/>
              </a:ext>
            </a:extLst>
          </p:cNvPr>
          <p:cNvSpPr>
            <a:spLocks noGrp="1"/>
          </p:cNvSpPr>
          <p:nvPr/>
        </p:nvSpPr>
        <p:spPr>
          <a:xfrm>
            <a:off x="381000" y="933450"/>
            <a:ext cx="11430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31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3150" b="0" dirty="0" err="1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Seminário</a:t>
            </a:r>
            <a:r>
              <a:rPr sz="3150" b="0" dirty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 de </a:t>
            </a:r>
            <a:r>
              <a:rPr sz="3150" b="0" dirty="0" err="1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Cartografia</a:t>
            </a:r>
            <a:r>
              <a:rPr sz="3150" b="0" dirty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 X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7553B81-1726-46E8-8FE2-8038B9FA9D31}"/>
              </a:ext>
            </a:extLst>
          </p:cNvPr>
          <p:cNvSpPr>
            <a:spLocks noGrp="1"/>
          </p:cNvSpPr>
          <p:nvPr/>
        </p:nvSpPr>
        <p:spPr>
          <a:xfrm>
            <a:off x="523875" y="1552575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025" b="0" dirty="0" err="1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Caracterização</a:t>
            </a:r>
            <a:r>
              <a:rPr sz="2025" b="0" dirty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2025" b="0" dirty="0" err="1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fisiográfica</a:t>
            </a:r>
            <a:r>
              <a:rPr sz="2025" b="0" dirty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 e </a:t>
            </a:r>
            <a:r>
              <a:rPr sz="2025" b="0" dirty="0" err="1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aspectos</a:t>
            </a:r>
            <a:r>
              <a:rPr sz="2025" b="0" dirty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2025" b="0" dirty="0" err="1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oceanográficos</a:t>
            </a:r>
            <a:r>
              <a:rPr sz="2025" b="0" dirty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 de </a:t>
            </a:r>
            <a:r>
              <a:rPr sz="2025" b="0" dirty="0" err="1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Atafona</a:t>
            </a:r>
            <a:endParaRPr sz="2025" b="0" dirty="0">
              <a:solidFill>
                <a:srgbClr val="FFFFFF"/>
              </a:solidFill>
              <a:latin typeface="Latin Modern Sans"/>
              <a:ea typeface="Latin Modern Sans"/>
              <a:cs typeface="Latin Modern San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3C3CFF-6156-4DD8-AEA0-AB136A19B762}"/>
              </a:ext>
            </a:extLst>
          </p:cNvPr>
          <p:cNvSpPr>
            <a:spLocks noGrp="1"/>
          </p:cNvSpPr>
          <p:nvPr/>
        </p:nvSpPr>
        <p:spPr>
          <a:xfrm>
            <a:off x="476250" y="2781300"/>
            <a:ext cx="11239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175" b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Israel Carneiro     Miguel Gayani     José Mauro Elsas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BFDE8A3-A9BF-425D-ACF7-998A1B0F35C1}"/>
              </a:ext>
            </a:extLst>
          </p:cNvPr>
          <p:cNvSpPr>
            <a:spLocks noGrp="1"/>
          </p:cNvSpPr>
          <p:nvPr/>
        </p:nvSpPr>
        <p:spPr>
          <a:xfrm>
            <a:off x="1428750" y="3648075"/>
            <a:ext cx="9334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950" b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950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UERJ – </a:t>
            </a:r>
            <a:r>
              <a:rPr sz="1950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Faculdade</a:t>
            </a:r>
            <a:r>
              <a:rPr sz="1950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de </a:t>
            </a:r>
            <a:r>
              <a:rPr sz="1950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Oceanografia</a:t>
            </a:r>
            <a:endParaRPr sz="1950" b="0" dirty="0">
              <a:solidFill>
                <a:srgbClr val="111111"/>
              </a:solidFill>
              <a:latin typeface="Latin Modern Sans"/>
              <a:ea typeface="Latin Modern Sans"/>
              <a:cs typeface="Latin Modern San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BE5372D-C0BB-4377-8088-39651B25E89F}"/>
              </a:ext>
            </a:extLst>
          </p:cNvPr>
          <p:cNvSpPr>
            <a:spLocks noGrp="1"/>
          </p:cNvSpPr>
          <p:nvPr/>
        </p:nvSpPr>
        <p:spPr>
          <a:xfrm>
            <a:off x="4667250" y="425767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025" b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10213" y="4953000"/>
            <a:ext cx="11715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9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59DEC6E4-5B88-41D0-A46F-934F9E807F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54B3634-DE64-4838-9AB3-B682CF1A6402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Sumário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79B959-F378-4665-864F-8C6156158531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CBF542-34D6-4522-9CD0-E5262BA71827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5241748-9DEF-4B14-AA22-61D85E9AEDB1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1F334F7-0A01-42A1-94F1-0CE4B4379FBA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658043C-F281-4E67-84C8-7A97B00BB633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E4929D3-68A3-4D01-8B4D-FA7FF79EDAD6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117D3FD-D50D-44DC-99D1-299A93BC529A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 / 17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DB3805F-24C0-4694-B935-2048DE4A545E}"/>
              </a:ext>
            </a:extLst>
          </p:cNvPr>
          <p:cNvSpPr>
            <a:spLocks noGrp="1"/>
          </p:cNvSpPr>
          <p:nvPr/>
        </p:nvSpPr>
        <p:spPr>
          <a:xfrm>
            <a:off x="381000" y="106680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B009702-AEB6-4C59-8D5F-0BAA060358F8}"/>
              </a:ext>
            </a:extLst>
          </p:cNvPr>
          <p:cNvSpPr>
            <a:spLocks noGrp="1"/>
          </p:cNvSpPr>
          <p:nvPr/>
        </p:nvSpPr>
        <p:spPr>
          <a:xfrm>
            <a:off x="1000125" y="10668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Caracterização da área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6CCCE44-9C3E-453E-83B7-F3BC5B6E8810}"/>
              </a:ext>
            </a:extLst>
          </p:cNvPr>
          <p:cNvSpPr>
            <a:spLocks noGrp="1"/>
          </p:cNvSpPr>
          <p:nvPr/>
        </p:nvSpPr>
        <p:spPr>
          <a:xfrm>
            <a:off x="381000" y="18002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A71425D-2BF1-4EDA-A6C5-66D2C27FD109}"/>
              </a:ext>
            </a:extLst>
          </p:cNvPr>
          <p:cNvSpPr>
            <a:spLocks noGrp="1"/>
          </p:cNvSpPr>
          <p:nvPr/>
        </p:nvSpPr>
        <p:spPr>
          <a:xfrm>
            <a:off x="1000125" y="18002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Objetivo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BE2A6F9-7832-4BB7-977A-52637ED42FAD}"/>
              </a:ext>
            </a:extLst>
          </p:cNvPr>
          <p:cNvSpPr>
            <a:spLocks noGrp="1"/>
          </p:cNvSpPr>
          <p:nvPr/>
        </p:nvSpPr>
        <p:spPr>
          <a:xfrm>
            <a:off x="381000" y="25336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A9A6C6E-9979-4CEB-BE43-EE816AE5D10E}"/>
              </a:ext>
            </a:extLst>
          </p:cNvPr>
          <p:cNvSpPr>
            <a:spLocks noGrp="1"/>
          </p:cNvSpPr>
          <p:nvPr/>
        </p:nvSpPr>
        <p:spPr>
          <a:xfrm>
            <a:off x="1000125" y="25336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Metodologia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236930E-B957-4D34-B10A-7D637B77E6E6}"/>
              </a:ext>
            </a:extLst>
          </p:cNvPr>
          <p:cNvSpPr>
            <a:spLocks noGrp="1"/>
          </p:cNvSpPr>
          <p:nvPr/>
        </p:nvSpPr>
        <p:spPr>
          <a:xfrm>
            <a:off x="381000" y="326707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60A0B32-4F13-4A3E-ACE5-9BF228234421}"/>
              </a:ext>
            </a:extLst>
          </p:cNvPr>
          <p:cNvSpPr>
            <a:spLocks noGrp="1"/>
          </p:cNvSpPr>
          <p:nvPr/>
        </p:nvSpPr>
        <p:spPr>
          <a:xfrm>
            <a:off x="1000125" y="32670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Resultados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AB6DB3A-65DB-4138-8ECD-097113F2758C}"/>
              </a:ext>
            </a:extLst>
          </p:cNvPr>
          <p:cNvSpPr>
            <a:spLocks noGrp="1"/>
          </p:cNvSpPr>
          <p:nvPr/>
        </p:nvSpPr>
        <p:spPr>
          <a:xfrm>
            <a:off x="381000" y="400050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426699B-30E3-4661-B2F3-CEEE7540D895}"/>
              </a:ext>
            </a:extLst>
          </p:cNvPr>
          <p:cNvSpPr>
            <a:spLocks noGrp="1"/>
          </p:cNvSpPr>
          <p:nvPr/>
        </p:nvSpPr>
        <p:spPr>
          <a:xfrm>
            <a:off x="1000125" y="40005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Conclusão e discussões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C3190A9-6C2C-419A-A908-B3FDCEE3301C}"/>
              </a:ext>
            </a:extLst>
          </p:cNvPr>
          <p:cNvSpPr>
            <a:spLocks noGrp="1"/>
          </p:cNvSpPr>
          <p:nvPr/>
        </p:nvSpPr>
        <p:spPr>
          <a:xfrm>
            <a:off x="381000" y="47339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59FBE49-63D7-4F39-94CB-9F5B342520A2}"/>
              </a:ext>
            </a:extLst>
          </p:cNvPr>
          <p:cNvSpPr>
            <a:spLocks noGrp="1"/>
          </p:cNvSpPr>
          <p:nvPr/>
        </p:nvSpPr>
        <p:spPr>
          <a:xfrm>
            <a:off x="1000125" y="47339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Recomendações para o futuro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C5B56FD-C9B7-4781-B55A-274CB5E9ED2E}"/>
              </a:ext>
            </a:extLst>
          </p:cNvPr>
          <p:cNvSpPr>
            <a:spLocks noGrp="1"/>
          </p:cNvSpPr>
          <p:nvPr/>
        </p:nvSpPr>
        <p:spPr>
          <a:xfrm>
            <a:off x="381000" y="54673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7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5A8C3A4-3DA0-44AA-ACF6-D7C818906A0E}"/>
              </a:ext>
            </a:extLst>
          </p:cNvPr>
          <p:cNvSpPr>
            <a:spLocks noGrp="1"/>
          </p:cNvSpPr>
          <p:nvPr/>
        </p:nvSpPr>
        <p:spPr>
          <a:xfrm>
            <a:off x="1000125" y="54673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1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601474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C2B12E36-CA4D-48C1-B766-E23EC1252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CB0B383-4481-48A8-8278-927F1C194BA1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Localização da área de estudo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D6FAAAC-F763-4166-A02C-CAABE87C7C84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277DD3B-249D-4F3E-94C1-27640B02C31E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0D4AE49-467B-4D13-84F0-FA720F412640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F758301-5737-4F03-939F-098579B44EBC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8902A9B-E847-4F41-BA31-806B6CDA8FC5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5D3521C-3424-4C98-8D79-6153C1098EB5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9A83373-0B54-4724-A09B-55134C63B515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3 / 17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856152"/>
            <a:ext cx="5867400" cy="41455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48400" y="903790"/>
            <a:ext cx="5772150" cy="41571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4033EF46-77F2-4EAE-A4D3-97AEFAB45504}"/>
              </a:ext>
            </a:extLst>
          </p:cNvPr>
          <p:cNvSpPr>
            <a:spLocks noGrp="1"/>
          </p:cNvSpPr>
          <p:nvPr/>
        </p:nvSpPr>
        <p:spPr>
          <a:xfrm>
            <a:off x="238125" y="6010275"/>
            <a:ext cx="117157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75" b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Atafona localiza-se em São João da Barra, na margem sul da foz do rio Paraíba do Sul.</a:t>
            </a:r>
          </a:p>
        </p:txBody>
      </p:sp>
    </p:spTree>
    <p:extLst>
      <p:ext uri="{BB962C8B-B14F-4D97-AF65-F5344CB8AC3E}">
        <p14:creationId xmlns:p14="http://schemas.microsoft.com/office/powerpoint/2010/main" val="43789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43">
            <a:extLst>
              <a:ext uri="{FF2B5EF4-FFF2-40B4-BE49-F238E27FC236}">
                <a16:creationId xmlns:a16="http://schemas.microsoft.com/office/drawing/2014/main" id="{03EFFDCE-7856-4D7B-BC42-4D0E6F9208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C29C856-E0D4-443A-BF49-75B3AF4C737A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 dirty="0" err="1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Contexto</a:t>
            </a:r>
            <a:r>
              <a:rPr sz="2550" b="0" dirty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2550" b="0" dirty="0" err="1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fisiográfico</a:t>
            </a:r>
            <a:r>
              <a:rPr sz="2550" b="0" dirty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 de </a:t>
            </a:r>
            <a:r>
              <a:rPr sz="2550" b="0" dirty="0" err="1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Atafona</a:t>
            </a:r>
            <a:endParaRPr sz="2550" b="0" dirty="0">
              <a:solidFill>
                <a:srgbClr val="FFFFFF"/>
              </a:solidFill>
              <a:latin typeface="Latin Modern Sans"/>
              <a:ea typeface="Latin Modern Sans"/>
              <a:cs typeface="Latin Modern Sans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BF8317-660B-465A-8A07-36BC16624012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7AECC3-0C24-4541-99DC-A86CE8032D89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1BD66C6-AFF8-4E43-880E-7DF2E4BA521A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BD80E31-5AD4-4168-9C45-875B80CD50A7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7039BEB-0C7A-43E4-9509-691CD1B882F1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6EBDC9A-35E6-495C-B033-49C8DC9E255A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385934B-1810-41CA-B3EB-687AB7BA43AE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4 / 17</a:t>
            </a:r>
          </a:p>
        </p:txBody>
      </p:sp>
      <p:pic>
        <p:nvPicPr>
          <p:cNvPr id="53" name="Imagem 52"/>
          <p:cNvPicPr>
            <a:picLocks noChangeAspect="1"/>
          </p:cNvPicPr>
          <p:nvPr/>
        </p:nvPicPr>
        <p:blipFill>
          <a:blip r:embed="rId3"/>
          <a:srcRect l="2300" t="6500" r="22400" b="3600"/>
          <a:stretch/>
        </p:blipFill>
        <p:spPr>
          <a:xfrm>
            <a:off x="190500" y="809625"/>
            <a:ext cx="6724650" cy="563880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27B728E3-F122-465F-8222-99954248F8B2}"/>
              </a:ext>
            </a:extLst>
          </p:cNvPr>
          <p:cNvSpPr>
            <a:spLocks noGrp="1"/>
          </p:cNvSpPr>
          <p:nvPr/>
        </p:nvSpPr>
        <p:spPr>
          <a:xfrm>
            <a:off x="7191375" y="838200"/>
            <a:ext cx="23336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Profundidade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B503F8-E59B-46B2-93E4-B9E340430491}"/>
              </a:ext>
            </a:extLst>
          </p:cNvPr>
          <p:cNvSpPr>
            <a:spLocks noGrp="1"/>
          </p:cNvSpPr>
          <p:nvPr/>
        </p:nvSpPr>
        <p:spPr>
          <a:xfrm>
            <a:off x="7191375" y="1238250"/>
            <a:ext cx="238125" cy="152400"/>
          </a:xfrm>
          <a:prstGeom prst="rect">
            <a:avLst/>
          </a:prstGeom>
          <a:solidFill>
            <a:srgbClr val="99FFFF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F1A916D-583F-4577-A08B-71B3C4FE2394}"/>
              </a:ext>
            </a:extLst>
          </p:cNvPr>
          <p:cNvSpPr>
            <a:spLocks noGrp="1"/>
          </p:cNvSpPr>
          <p:nvPr/>
        </p:nvSpPr>
        <p:spPr>
          <a:xfrm>
            <a:off x="7534275" y="1200150"/>
            <a:ext cx="1962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3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0 a −20 m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9756C7D-987B-48CB-BB8E-1548C4978AF9}"/>
              </a:ext>
            </a:extLst>
          </p:cNvPr>
          <p:cNvSpPr>
            <a:spLocks noGrp="1"/>
          </p:cNvSpPr>
          <p:nvPr/>
        </p:nvSpPr>
        <p:spPr>
          <a:xfrm>
            <a:off x="7191375" y="1600200"/>
            <a:ext cx="238125" cy="152400"/>
          </a:xfrm>
          <a:prstGeom prst="rect">
            <a:avLst/>
          </a:prstGeom>
          <a:solidFill>
            <a:srgbClr val="8BE8F6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5ECAABF-811B-472C-AE9F-704C50A09F2C}"/>
              </a:ext>
            </a:extLst>
          </p:cNvPr>
          <p:cNvSpPr>
            <a:spLocks noGrp="1"/>
          </p:cNvSpPr>
          <p:nvPr/>
        </p:nvSpPr>
        <p:spPr>
          <a:xfrm>
            <a:off x="7534275" y="1562100"/>
            <a:ext cx="1962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3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−20 a −50 m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BF8BA34-F971-421D-B296-05062618C8AA}"/>
              </a:ext>
            </a:extLst>
          </p:cNvPr>
          <p:cNvSpPr>
            <a:spLocks noGrp="1"/>
          </p:cNvSpPr>
          <p:nvPr/>
        </p:nvSpPr>
        <p:spPr>
          <a:xfrm>
            <a:off x="7191375" y="1962150"/>
            <a:ext cx="238125" cy="152400"/>
          </a:xfrm>
          <a:prstGeom prst="rect">
            <a:avLst/>
          </a:prstGeom>
          <a:solidFill>
            <a:srgbClr val="7DD1EC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176C374-6038-43A1-8252-A247150C6268}"/>
              </a:ext>
            </a:extLst>
          </p:cNvPr>
          <p:cNvSpPr>
            <a:spLocks noGrp="1"/>
          </p:cNvSpPr>
          <p:nvPr/>
        </p:nvSpPr>
        <p:spPr>
          <a:xfrm>
            <a:off x="7534275" y="1924050"/>
            <a:ext cx="1962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3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−50 a −700 m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96B119F-59BA-48BD-9F53-6E128CADFD07}"/>
              </a:ext>
            </a:extLst>
          </p:cNvPr>
          <p:cNvSpPr>
            <a:spLocks noGrp="1"/>
          </p:cNvSpPr>
          <p:nvPr/>
        </p:nvSpPr>
        <p:spPr>
          <a:xfrm>
            <a:off x="7191375" y="2324100"/>
            <a:ext cx="238125" cy="152400"/>
          </a:xfrm>
          <a:prstGeom prst="rect">
            <a:avLst/>
          </a:prstGeom>
          <a:solidFill>
            <a:srgbClr val="6FB9E3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C622909-9688-409F-867B-756A37CE65A9}"/>
              </a:ext>
            </a:extLst>
          </p:cNvPr>
          <p:cNvSpPr>
            <a:spLocks noGrp="1"/>
          </p:cNvSpPr>
          <p:nvPr/>
        </p:nvSpPr>
        <p:spPr>
          <a:xfrm>
            <a:off x="7534275" y="2286000"/>
            <a:ext cx="1962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3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Maior profundidade¹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21F3293-22FC-4DF3-A872-293E7F698C2D}"/>
              </a:ext>
            </a:extLst>
          </p:cNvPr>
          <p:cNvSpPr>
            <a:spLocks noGrp="1"/>
          </p:cNvSpPr>
          <p:nvPr/>
        </p:nvSpPr>
        <p:spPr>
          <a:xfrm>
            <a:off x="7191375" y="2876550"/>
            <a:ext cx="23050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¹ Profundidade indicada pelos rótulos das isóbatas (m).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88A2BEB-7C7B-4C81-B8A9-AA964F45EF1C}"/>
              </a:ext>
            </a:extLst>
          </p:cNvPr>
          <p:cNvSpPr>
            <a:spLocks noGrp="1"/>
          </p:cNvSpPr>
          <p:nvPr/>
        </p:nvSpPr>
        <p:spPr>
          <a:xfrm>
            <a:off x="9629775" y="838200"/>
            <a:ext cx="23622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Base cartográfica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1DB5A5B1-2470-4804-97BD-B1FBB83FC69F}"/>
              </a:ext>
            </a:extLst>
          </p:cNvPr>
          <p:cNvSpPr>
            <a:spLocks noGrp="1"/>
          </p:cNvSpPr>
          <p:nvPr/>
        </p:nvSpPr>
        <p:spPr>
          <a:xfrm>
            <a:off x="9629775" y="1323975"/>
            <a:ext cx="257175" cy="0"/>
          </a:xfrm>
          <a:prstGeom prst="line">
            <a:avLst/>
          </a:prstGeom>
          <a:noFill/>
          <a:ln w="38100">
            <a:solidFill>
              <a:srgbClr val="1588B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EE91121-5E02-4C84-915D-40995691032F}"/>
              </a:ext>
            </a:extLst>
          </p:cNvPr>
          <p:cNvSpPr>
            <a:spLocks noGrp="1"/>
          </p:cNvSpPr>
          <p:nvPr/>
        </p:nvSpPr>
        <p:spPr>
          <a:xfrm>
            <a:off x="9972675" y="1200150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Rio Paraíba do Sul</a:t>
            </a:r>
          </a:p>
        </p:txBody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B8592B57-1BD4-47EC-BAD3-83DE70606933}"/>
              </a:ext>
            </a:extLst>
          </p:cNvPr>
          <p:cNvSpPr>
            <a:spLocks noGrp="1"/>
          </p:cNvSpPr>
          <p:nvPr/>
        </p:nvSpPr>
        <p:spPr>
          <a:xfrm>
            <a:off x="9629775" y="1619250"/>
            <a:ext cx="257175" cy="0"/>
          </a:xfrm>
          <a:prstGeom prst="line">
            <a:avLst/>
          </a:prstGeom>
          <a:noFill/>
          <a:ln w="12383">
            <a:solidFill>
              <a:srgbClr val="16444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83B4BAA-6488-4938-B899-733CE36A49A0}"/>
              </a:ext>
            </a:extLst>
          </p:cNvPr>
          <p:cNvSpPr>
            <a:spLocks noGrp="1"/>
          </p:cNvSpPr>
          <p:nvPr/>
        </p:nvSpPr>
        <p:spPr>
          <a:xfrm>
            <a:off x="9972675" y="1495425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Isóbatas rotuladas (m)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BDA8DE21-44C0-4696-954F-D1CA3EB015B7}"/>
              </a:ext>
            </a:extLst>
          </p:cNvPr>
          <p:cNvSpPr>
            <a:spLocks noGrp="1"/>
          </p:cNvSpPr>
          <p:nvPr/>
        </p:nvSpPr>
        <p:spPr>
          <a:xfrm>
            <a:off x="9629775" y="1914525"/>
            <a:ext cx="257175" cy="0"/>
          </a:xfrm>
          <a:prstGeom prst="line">
            <a:avLst/>
          </a:prstGeom>
          <a:noFill/>
          <a:ln w="12383">
            <a:solidFill>
              <a:srgbClr val="16444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89CAD7F-3E8D-4DE3-BCC7-E2A9098E25DA}"/>
              </a:ext>
            </a:extLst>
          </p:cNvPr>
          <p:cNvSpPr>
            <a:spLocks noGrp="1"/>
          </p:cNvSpPr>
          <p:nvPr/>
        </p:nvSpPr>
        <p:spPr>
          <a:xfrm>
            <a:off x="9972675" y="1790700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Limites estaduais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13CFF36-FA84-4A81-93D0-94DD20BFBE58}"/>
              </a:ext>
            </a:extLst>
          </p:cNvPr>
          <p:cNvSpPr>
            <a:spLocks noGrp="1"/>
          </p:cNvSpPr>
          <p:nvPr/>
        </p:nvSpPr>
        <p:spPr>
          <a:xfrm>
            <a:off x="9629775" y="2124075"/>
            <a:ext cx="238125" cy="152400"/>
          </a:xfrm>
          <a:prstGeom prst="rect">
            <a:avLst/>
          </a:prstGeom>
          <a:solidFill>
            <a:srgbClr val="EAE7CB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1DA3A12-1DF7-4BB8-98ED-514778553F46}"/>
              </a:ext>
            </a:extLst>
          </p:cNvPr>
          <p:cNvSpPr>
            <a:spLocks noGrp="1"/>
          </p:cNvSpPr>
          <p:nvPr/>
        </p:nvSpPr>
        <p:spPr>
          <a:xfrm>
            <a:off x="9972675" y="2085975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Rio de Janeiro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C28BC8F-1401-44DC-9D87-6FE2386E9FD6}"/>
              </a:ext>
            </a:extLst>
          </p:cNvPr>
          <p:cNvSpPr>
            <a:spLocks noGrp="1"/>
          </p:cNvSpPr>
          <p:nvPr/>
        </p:nvSpPr>
        <p:spPr>
          <a:xfrm>
            <a:off x="9629775" y="2419350"/>
            <a:ext cx="238125" cy="152400"/>
          </a:xfrm>
          <a:prstGeom prst="rect">
            <a:avLst/>
          </a:prstGeom>
          <a:solidFill>
            <a:srgbClr val="F2E0B9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2149865-C0F5-4486-AF20-EEF7522B7EE3}"/>
              </a:ext>
            </a:extLst>
          </p:cNvPr>
          <p:cNvSpPr>
            <a:spLocks noGrp="1"/>
          </p:cNvSpPr>
          <p:nvPr/>
        </p:nvSpPr>
        <p:spPr>
          <a:xfrm>
            <a:off x="9972675" y="2381250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Minas Gerais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4EF75395-2FED-47AB-99BF-5F4871F20AFA}"/>
              </a:ext>
            </a:extLst>
          </p:cNvPr>
          <p:cNvSpPr>
            <a:spLocks noGrp="1"/>
          </p:cNvSpPr>
          <p:nvPr/>
        </p:nvSpPr>
        <p:spPr>
          <a:xfrm>
            <a:off x="9629775" y="2714625"/>
            <a:ext cx="238125" cy="152400"/>
          </a:xfrm>
          <a:prstGeom prst="rect">
            <a:avLst/>
          </a:prstGeom>
          <a:solidFill>
            <a:srgbClr val="E8B9AA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7A49278-6517-4D5E-BFA5-1DE7899F847B}"/>
              </a:ext>
            </a:extLst>
          </p:cNvPr>
          <p:cNvSpPr>
            <a:spLocks noGrp="1"/>
          </p:cNvSpPr>
          <p:nvPr/>
        </p:nvSpPr>
        <p:spPr>
          <a:xfrm>
            <a:off x="9972675" y="2676525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Espírito Santo</a:t>
            </a:r>
          </a:p>
        </p:txBody>
      </p:sp>
      <p:sp>
        <p:nvSpPr>
          <p:cNvPr id="34" name="Conector reto 33">
            <a:extLst>
              <a:ext uri="{FF2B5EF4-FFF2-40B4-BE49-F238E27FC236}">
                <a16:creationId xmlns:a16="http://schemas.microsoft.com/office/drawing/2014/main" id="{AB7F6FBC-D569-45B4-B9E3-C0FA0B774C59}"/>
              </a:ext>
            </a:extLst>
          </p:cNvPr>
          <p:cNvSpPr>
            <a:spLocks noGrp="1"/>
          </p:cNvSpPr>
          <p:nvPr/>
        </p:nvSpPr>
        <p:spPr>
          <a:xfrm>
            <a:off x="9629775" y="3095625"/>
            <a:ext cx="257175" cy="0"/>
          </a:xfrm>
          <a:prstGeom prst="line">
            <a:avLst/>
          </a:prstGeom>
          <a:noFill/>
          <a:ln w="12383">
            <a:solidFill>
              <a:srgbClr val="969782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52F4FA6-0D64-48F9-8EDD-77209690CE78}"/>
              </a:ext>
            </a:extLst>
          </p:cNvPr>
          <p:cNvSpPr>
            <a:spLocks noGrp="1"/>
          </p:cNvSpPr>
          <p:nvPr/>
        </p:nvSpPr>
        <p:spPr>
          <a:xfrm>
            <a:off x="9972675" y="2971800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Feições lineares da base</a:t>
            </a:r>
          </a:p>
        </p:txBody>
      </p:sp>
      <p:pic>
        <p:nvPicPr>
          <p:cNvPr id="79" name="Imagem 78"/>
          <p:cNvPicPr>
            <a:picLocks noChangeAspect="1"/>
          </p:cNvPicPr>
          <p:nvPr/>
        </p:nvPicPr>
        <p:blipFill>
          <a:blip r:embed="rId3"/>
          <a:srcRect l="79000" t="57600" r="1700" b="36500"/>
          <a:stretch/>
        </p:blipFill>
        <p:spPr>
          <a:xfrm>
            <a:off x="7191375" y="3600450"/>
            <a:ext cx="1724025" cy="381000"/>
          </a:xfrm>
          <a:prstGeom prst="rect">
            <a:avLst/>
          </a:prstGeom>
        </p:spPr>
      </p:pic>
      <p:sp>
        <p:nvSpPr>
          <p:cNvPr id="37" name="Retângulo 36">
            <a:extLst>
              <a:ext uri="{FF2B5EF4-FFF2-40B4-BE49-F238E27FC236}">
                <a16:creationId xmlns:a16="http://schemas.microsoft.com/office/drawing/2014/main" id="{DEAABE0D-304E-46CC-99B1-99F0E2CC0772}"/>
              </a:ext>
            </a:extLst>
          </p:cNvPr>
          <p:cNvSpPr>
            <a:spLocks noGrp="1"/>
          </p:cNvSpPr>
          <p:nvPr/>
        </p:nvSpPr>
        <p:spPr>
          <a:xfrm>
            <a:off x="7191375" y="427672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C9332C2-4A77-4F15-B0FF-FD51AD0C7B46}"/>
              </a:ext>
            </a:extLst>
          </p:cNvPr>
          <p:cNvSpPr>
            <a:spLocks noGrp="1"/>
          </p:cNvSpPr>
          <p:nvPr/>
        </p:nvSpPr>
        <p:spPr>
          <a:xfrm>
            <a:off x="7419975" y="4276725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Planície costeira e deltaica de baixa altitude.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8B88C529-0D1C-44F3-9A51-31C919E0C47F}"/>
              </a:ext>
            </a:extLst>
          </p:cNvPr>
          <p:cNvSpPr>
            <a:spLocks noGrp="1"/>
          </p:cNvSpPr>
          <p:nvPr/>
        </p:nvSpPr>
        <p:spPr>
          <a:xfrm>
            <a:off x="7191375" y="4933950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A3D95CED-864E-4EFB-83E3-8B44D7972AE7}"/>
              </a:ext>
            </a:extLst>
          </p:cNvPr>
          <p:cNvSpPr>
            <a:spLocks noGrp="1"/>
          </p:cNvSpPr>
          <p:nvPr/>
        </p:nvSpPr>
        <p:spPr>
          <a:xfrm>
            <a:off x="7419975" y="4933950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Sedimentos predominantemente inconsolidados.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63FC0589-3FE0-4429-B1D0-DF41A6AA58B9}"/>
              </a:ext>
            </a:extLst>
          </p:cNvPr>
          <p:cNvSpPr>
            <a:spLocks noGrp="1"/>
          </p:cNvSpPr>
          <p:nvPr/>
        </p:nvSpPr>
        <p:spPr>
          <a:xfrm>
            <a:off x="7191375" y="55911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ECD1DFA0-3915-47ED-9D26-AA1077AF4936}"/>
              </a:ext>
            </a:extLst>
          </p:cNvPr>
          <p:cNvSpPr>
            <a:spLocks noGrp="1"/>
          </p:cNvSpPr>
          <p:nvPr/>
        </p:nvSpPr>
        <p:spPr>
          <a:xfrm>
            <a:off x="7419975" y="5591175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Contato direto entre a dinâmica fluvial e marinha.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AE5AFB8A-1C01-43E3-A3C5-AA97A7E5EBB6}"/>
              </a:ext>
            </a:extLst>
          </p:cNvPr>
          <p:cNvSpPr>
            <a:spLocks noGrp="1"/>
          </p:cNvSpPr>
          <p:nvPr/>
        </p:nvSpPr>
        <p:spPr>
          <a:xfrm>
            <a:off x="190500" y="6457950"/>
            <a:ext cx="6715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elaboração do grupo, 2026. SIRGAS 2000.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D6052D0-2BCF-9CC2-B839-2C3AA59E2716}"/>
              </a:ext>
            </a:extLst>
          </p:cNvPr>
          <p:cNvSpPr/>
          <p:nvPr/>
        </p:nvSpPr>
        <p:spPr>
          <a:xfrm>
            <a:off x="7098890" y="809625"/>
            <a:ext cx="4486275" cy="3267076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394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8E4F285D-C862-416C-8942-CF8FA7C09F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B837881-BBEA-4D87-AD2E-1D758799E939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Objetivo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6DB6BA0-4B14-4E67-BD4A-6183AEFE81B8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65D7E7B-4C9C-4C88-A10D-DBC5EDC11820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E28546F-266A-4011-977A-4BF379A2E805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E535E37-89F0-4781-823B-634B4CE80DAB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7505CF-5843-4ABB-BEC7-748D3F17F06D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C673606-A940-4C9C-96D1-C82F6EE1FCEC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4697BBE-707D-414A-AC22-D7CF89E2DBB8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5 / 17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8125" y="986518"/>
            <a:ext cx="5705475" cy="384673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10300" y="1186219"/>
            <a:ext cx="5743575" cy="344733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C4824392-2D94-453D-8B3F-05534ACB78EB}"/>
              </a:ext>
            </a:extLst>
          </p:cNvPr>
          <p:cNvSpPr>
            <a:spLocks noGrp="1"/>
          </p:cNvSpPr>
          <p:nvPr/>
        </p:nvSpPr>
        <p:spPr>
          <a:xfrm>
            <a:off x="238125" y="5067300"/>
            <a:ext cx="5715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Briso (2021).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CD65503-C326-4E8C-A142-BF73C814EEC8}"/>
              </a:ext>
            </a:extLst>
          </p:cNvPr>
          <p:cNvSpPr>
            <a:spLocks noGrp="1"/>
          </p:cNvSpPr>
          <p:nvPr/>
        </p:nvSpPr>
        <p:spPr>
          <a:xfrm>
            <a:off x="6210300" y="5067300"/>
            <a:ext cx="5715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Briso (2021).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196426F-22BF-4A5C-B4D0-EC4F9ABF2717}"/>
              </a:ext>
            </a:extLst>
          </p:cNvPr>
          <p:cNvSpPr>
            <a:spLocks noGrp="1"/>
          </p:cNvSpPr>
          <p:nvPr/>
        </p:nvSpPr>
        <p:spPr>
          <a:xfrm>
            <a:off x="333375" y="5619750"/>
            <a:ext cx="11525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025" b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Compreender a erosão costeira em Atafona a partir da caracterização da área e da análise integrada de informações cartográficas e oceanográficas.</a:t>
            </a:r>
          </a:p>
        </p:txBody>
      </p:sp>
    </p:spTree>
    <p:extLst>
      <p:ext uri="{BB962C8B-B14F-4D97-AF65-F5344CB8AC3E}">
        <p14:creationId xmlns:p14="http://schemas.microsoft.com/office/powerpoint/2010/main" val="696454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D838308E-59BF-41E1-AA6D-4FBC520A22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429539D-0440-4987-A8FB-9516B2F14774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Metodologia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96CCBF3-03AC-427B-A1E2-402183759CA3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E1F60AC-91AF-4292-9DDA-DFE4600C2F98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04374AC-6B54-4E76-8A86-41C90F39082F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70B6CAC-BD3D-4A8F-9F38-5F51EE27AB48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9F56584-8E10-4E1B-8487-055BAB5DD7CB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39A4FAB-A1C8-435C-8AC2-E601CF5C4D2F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70704FD-7685-4D4D-B354-9FD9D685B84F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6 / 17</a:t>
            </a:r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3"/>
          <a:srcRect l="2800" t="8900" r="22700" b="3600"/>
          <a:stretch/>
        </p:blipFill>
        <p:spPr>
          <a:xfrm>
            <a:off x="190500" y="904875"/>
            <a:ext cx="6248400" cy="5267325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83475" y="819150"/>
            <a:ext cx="3606800" cy="2705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5BAA79A5-9B70-4F31-BF94-577F652C9016}"/>
              </a:ext>
            </a:extLst>
          </p:cNvPr>
          <p:cNvSpPr>
            <a:spLocks noGrp="1"/>
          </p:cNvSpPr>
          <p:nvPr/>
        </p:nvSpPr>
        <p:spPr>
          <a:xfrm>
            <a:off x="6762750" y="3562350"/>
            <a:ext cx="52387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42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Dados da boia oceanográfica de Linhares – 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276AD39-1D2D-438F-BDCF-1A8F06379FF6}"/>
              </a:ext>
            </a:extLst>
          </p:cNvPr>
          <p:cNvSpPr>
            <a:spLocks noGrp="1"/>
          </p:cNvSpPr>
          <p:nvPr/>
        </p:nvSpPr>
        <p:spPr>
          <a:xfrm>
            <a:off x="6762750" y="3886200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SiMCosta – DHN.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E4BEA0B-29AC-46B4-8E3E-21485015F639}"/>
              </a:ext>
            </a:extLst>
          </p:cNvPr>
          <p:cNvSpPr>
            <a:spLocks noGrp="1"/>
          </p:cNvSpPr>
          <p:nvPr/>
        </p:nvSpPr>
        <p:spPr>
          <a:xfrm>
            <a:off x="6800850" y="43338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724018E-2494-483C-A90A-5C95DC870DDC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905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Análise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de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mapas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e imagens.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FC40A33-53CC-4EF2-A14D-E406C21551B0}"/>
              </a:ext>
            </a:extLst>
          </p:cNvPr>
          <p:cNvSpPr>
            <a:spLocks noGrp="1"/>
          </p:cNvSpPr>
          <p:nvPr/>
        </p:nvSpPr>
        <p:spPr>
          <a:xfrm>
            <a:off x="6800850" y="49434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66B0963-63CF-4A8D-9273-835E91BDE5C4}"/>
              </a:ext>
            </a:extLst>
          </p:cNvPr>
          <p:cNvSpPr>
            <a:spLocks noGrp="1"/>
          </p:cNvSpPr>
          <p:nvPr/>
        </p:nvSpPr>
        <p:spPr>
          <a:xfrm>
            <a:off x="7029450" y="4943475"/>
            <a:ext cx="4905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Comparação da linha de costa.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6AC4E1D-C840-4856-B93C-0E30C5743A03}"/>
              </a:ext>
            </a:extLst>
          </p:cNvPr>
          <p:cNvSpPr>
            <a:spLocks noGrp="1"/>
          </p:cNvSpPr>
          <p:nvPr/>
        </p:nvSpPr>
        <p:spPr>
          <a:xfrm>
            <a:off x="6800850" y="55530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78B3D7F-A3FF-409E-B19A-4B0E4F43F6E5}"/>
              </a:ext>
            </a:extLst>
          </p:cNvPr>
          <p:cNvSpPr>
            <a:spLocks noGrp="1"/>
          </p:cNvSpPr>
          <p:nvPr/>
        </p:nvSpPr>
        <p:spPr>
          <a:xfrm>
            <a:off x="7029450" y="5553075"/>
            <a:ext cx="4905375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Interpretação de batimetria e correntes.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1EC07BF-44F2-4EA1-B1D6-02EDCDDF1D7B}"/>
              </a:ext>
            </a:extLst>
          </p:cNvPr>
          <p:cNvSpPr>
            <a:spLocks noGrp="1"/>
          </p:cNvSpPr>
          <p:nvPr/>
        </p:nvSpPr>
        <p:spPr>
          <a:xfrm>
            <a:off x="190500" y="6238875"/>
            <a:ext cx="6248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Legenda: azul = rio; ciano = 0 a −20 m; verde-claro = base terrestre; cinza = vias e feições da base.</a:t>
            </a:r>
          </a:p>
        </p:txBody>
      </p:sp>
      <p:pic>
        <p:nvPicPr>
          <p:cNvPr id="43" name="Imagem 42"/>
          <p:cNvPicPr>
            <a:picLocks noChangeAspect="1"/>
          </p:cNvPicPr>
          <p:nvPr/>
        </p:nvPicPr>
        <p:blipFill>
          <a:blip r:embed="rId3"/>
          <a:srcRect l="79000" t="71100" r="9300" b="22500"/>
          <a:stretch/>
        </p:blipFill>
        <p:spPr>
          <a:xfrm>
            <a:off x="10858500" y="6067425"/>
            <a:ext cx="1000125" cy="37147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F362D7AF-13A8-4167-B055-69159B75CCCB}"/>
              </a:ext>
            </a:extLst>
          </p:cNvPr>
          <p:cNvSpPr>
            <a:spLocks noGrp="1"/>
          </p:cNvSpPr>
          <p:nvPr/>
        </p:nvSpPr>
        <p:spPr>
          <a:xfrm>
            <a:off x="6762750" y="6334125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mapas do grupo e SiMCosta (2026).</a:t>
            </a:r>
          </a:p>
        </p:txBody>
      </p:sp>
    </p:spTree>
    <p:extLst>
      <p:ext uri="{BB962C8B-B14F-4D97-AF65-F5344CB8AC3E}">
        <p14:creationId xmlns:p14="http://schemas.microsoft.com/office/powerpoint/2010/main" val="40536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 47">
            <a:extLst>
              <a:ext uri="{FF2B5EF4-FFF2-40B4-BE49-F238E27FC236}">
                <a16:creationId xmlns:a16="http://schemas.microsoft.com/office/drawing/2014/main" id="{C8C12062-F42F-44B5-931A-833DCD2265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D7EB7F1-5111-4E39-8F57-6E4ED39C8C13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Resultados: caracterização fisiográfica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09E9598-4346-47AF-8F53-026BC70D242F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349C0C-7512-4C52-825B-CE9CE88D61D5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B206DE7-9024-481F-8069-3246BC7F5A69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3F0C2DA-5AD7-43CC-A7FF-A6661D70A653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BEF7B96-DE4A-4F1F-8475-3826E91ED969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E228483-1E73-41D3-9592-981D2CCEA29C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E30A4AD-3F2D-4E87-B362-FD187D562503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7 / 17</a:t>
            </a:r>
          </a:p>
        </p:txBody>
      </p:sp>
      <p:pic>
        <p:nvPicPr>
          <p:cNvPr id="57" name="Imagem 56"/>
          <p:cNvPicPr>
            <a:picLocks noChangeAspect="1"/>
          </p:cNvPicPr>
          <p:nvPr/>
        </p:nvPicPr>
        <p:blipFill>
          <a:blip r:embed="rId3"/>
          <a:srcRect l="3300" t="9400" r="18400" b="3900"/>
          <a:stretch/>
        </p:blipFill>
        <p:spPr>
          <a:xfrm>
            <a:off x="190500" y="876300"/>
            <a:ext cx="6762750" cy="550545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25E140E2-6374-4934-B1C0-2DD5C88BA12B}"/>
              </a:ext>
            </a:extLst>
          </p:cNvPr>
          <p:cNvSpPr>
            <a:spLocks noGrp="1"/>
          </p:cNvSpPr>
          <p:nvPr/>
        </p:nvSpPr>
        <p:spPr>
          <a:xfrm>
            <a:off x="7200900" y="838200"/>
            <a:ext cx="47434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1" dirty="0" err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Substâncias</a:t>
            </a:r>
            <a:r>
              <a:rPr sz="1575" b="1" dirty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575" b="1" dirty="0" err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associadas</a:t>
            </a:r>
            <a:r>
              <a:rPr sz="1575" b="1" dirty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575" b="1" dirty="0" err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aos</a:t>
            </a:r>
            <a:r>
              <a:rPr sz="1575" b="1" dirty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575" b="1" dirty="0" err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processos</a:t>
            </a:r>
            <a:r>
              <a:rPr sz="1575" b="1" dirty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575" b="1" dirty="0" err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minerários</a:t>
            </a:r>
            <a:endParaRPr sz="1575" b="1" dirty="0">
              <a:solidFill>
                <a:srgbClr val="3431AD"/>
              </a:solidFill>
              <a:latin typeface="Latin Modern Sans"/>
              <a:ea typeface="Latin Modern Sans"/>
              <a:cs typeface="Latin Modern Sans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93675C3-E92A-43A1-887E-3B500BA6E04A}"/>
              </a:ext>
            </a:extLst>
          </p:cNvPr>
          <p:cNvSpPr>
            <a:spLocks noGrp="1"/>
          </p:cNvSpPr>
          <p:nvPr/>
        </p:nvSpPr>
        <p:spPr>
          <a:xfrm>
            <a:off x="7200900" y="1409700"/>
            <a:ext cx="238125" cy="152400"/>
          </a:xfrm>
          <a:prstGeom prst="rect">
            <a:avLst/>
          </a:prstGeom>
          <a:solidFill>
            <a:srgbClr val="EDD390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F55F2E6-1CAB-47E7-AA58-FF48D45F4BC2}"/>
              </a:ext>
            </a:extLst>
          </p:cNvPr>
          <p:cNvSpPr>
            <a:spLocks noGrp="1"/>
          </p:cNvSpPr>
          <p:nvPr/>
        </p:nvSpPr>
        <p:spPr>
          <a:xfrm>
            <a:off x="7543800" y="1371600"/>
            <a:ext cx="4038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Areia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91D0B17-B7D9-4B5A-A59C-92F35F563C17}"/>
              </a:ext>
            </a:extLst>
          </p:cNvPr>
          <p:cNvSpPr>
            <a:spLocks noGrp="1"/>
          </p:cNvSpPr>
          <p:nvPr/>
        </p:nvSpPr>
        <p:spPr>
          <a:xfrm>
            <a:off x="7200900" y="1695450"/>
            <a:ext cx="238125" cy="152400"/>
          </a:xfrm>
          <a:prstGeom prst="rect">
            <a:avLst/>
          </a:prstGeom>
          <a:solidFill>
            <a:srgbClr val="DB9A83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7520A04-FCCD-4253-A5F2-09EE018F1B8D}"/>
              </a:ext>
            </a:extLst>
          </p:cNvPr>
          <p:cNvSpPr>
            <a:spLocks noGrp="1"/>
          </p:cNvSpPr>
          <p:nvPr/>
        </p:nvSpPr>
        <p:spPr>
          <a:xfrm>
            <a:off x="7543800" y="1657350"/>
            <a:ext cx="4038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Argila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FE1FBD9-9ABA-4AA7-ABE0-80939572CFFA}"/>
              </a:ext>
            </a:extLst>
          </p:cNvPr>
          <p:cNvSpPr>
            <a:spLocks noGrp="1"/>
          </p:cNvSpPr>
          <p:nvPr/>
        </p:nvSpPr>
        <p:spPr>
          <a:xfrm>
            <a:off x="7200900" y="1981200"/>
            <a:ext cx="238125" cy="152400"/>
          </a:xfrm>
          <a:prstGeom prst="rect">
            <a:avLst/>
          </a:prstGeom>
          <a:solidFill>
            <a:srgbClr val="D3D3D3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DF2B255-DA37-4140-91DA-15034D66A7DF}"/>
              </a:ext>
            </a:extLst>
          </p:cNvPr>
          <p:cNvSpPr>
            <a:spLocks noGrp="1"/>
          </p:cNvSpPr>
          <p:nvPr/>
        </p:nvSpPr>
        <p:spPr>
          <a:xfrm>
            <a:off x="7543800" y="1943100"/>
            <a:ext cx="4038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Não cadastrado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07C9ABD-1316-44A8-8AB2-BEB871EB447C}"/>
              </a:ext>
            </a:extLst>
          </p:cNvPr>
          <p:cNvSpPr>
            <a:spLocks noGrp="1"/>
          </p:cNvSpPr>
          <p:nvPr/>
        </p:nvSpPr>
        <p:spPr>
          <a:xfrm>
            <a:off x="7200900" y="2266950"/>
            <a:ext cx="238125" cy="152400"/>
          </a:xfrm>
          <a:prstGeom prst="rect">
            <a:avLst/>
          </a:prstGeom>
          <a:solidFill>
            <a:srgbClr val="82818B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1EBFDBF-03C7-4BD2-A792-81AF1FBA47FE}"/>
              </a:ext>
            </a:extLst>
          </p:cNvPr>
          <p:cNvSpPr>
            <a:spLocks noGrp="1"/>
          </p:cNvSpPr>
          <p:nvPr/>
        </p:nvSpPr>
        <p:spPr>
          <a:xfrm>
            <a:off x="7543800" y="2228850"/>
            <a:ext cx="4038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7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Ilmenita</a:t>
            </a:r>
            <a:endParaRPr sz="1275" b="0" dirty="0">
              <a:solidFill>
                <a:srgbClr val="181818"/>
              </a:solidFill>
              <a:latin typeface="Latin Modern Sans"/>
              <a:ea typeface="Latin Modern Sans"/>
              <a:cs typeface="Latin Modern Sans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6154B89-D71C-4A6E-937C-B5EA1A016624}"/>
              </a:ext>
            </a:extLst>
          </p:cNvPr>
          <p:cNvSpPr>
            <a:spLocks noGrp="1"/>
          </p:cNvSpPr>
          <p:nvPr/>
        </p:nvSpPr>
        <p:spPr>
          <a:xfrm>
            <a:off x="7200900" y="2552700"/>
            <a:ext cx="238125" cy="152400"/>
          </a:xfrm>
          <a:prstGeom prst="rect">
            <a:avLst/>
          </a:prstGeom>
          <a:solidFill>
            <a:srgbClr val="D9BA54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D1240F4-A659-4703-B3F7-CE9D6B64EA6B}"/>
              </a:ext>
            </a:extLst>
          </p:cNvPr>
          <p:cNvSpPr>
            <a:spLocks noGrp="1"/>
          </p:cNvSpPr>
          <p:nvPr/>
        </p:nvSpPr>
        <p:spPr>
          <a:xfrm>
            <a:off x="7543800" y="2514600"/>
            <a:ext cx="4038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Minério de ouro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15EE956-A55C-42C7-B72D-048D083684AA}"/>
              </a:ext>
            </a:extLst>
          </p:cNvPr>
          <p:cNvSpPr>
            <a:spLocks noGrp="1"/>
          </p:cNvSpPr>
          <p:nvPr/>
        </p:nvSpPr>
        <p:spPr>
          <a:xfrm>
            <a:off x="7200900" y="2838450"/>
            <a:ext cx="238125" cy="152400"/>
          </a:xfrm>
          <a:prstGeom prst="rect">
            <a:avLst/>
          </a:prstGeom>
          <a:solidFill>
            <a:srgbClr val="9AA184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EA9DD56-48CA-4691-BC1B-8D3F3B4B69DA}"/>
              </a:ext>
            </a:extLst>
          </p:cNvPr>
          <p:cNvSpPr>
            <a:spLocks noGrp="1"/>
          </p:cNvSpPr>
          <p:nvPr/>
        </p:nvSpPr>
        <p:spPr>
          <a:xfrm>
            <a:off x="7543800" y="2800350"/>
            <a:ext cx="4038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Turfa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89ADC5C-826C-4090-843F-C875A927F8CC}"/>
              </a:ext>
            </a:extLst>
          </p:cNvPr>
          <p:cNvSpPr>
            <a:spLocks noGrp="1"/>
          </p:cNvSpPr>
          <p:nvPr/>
        </p:nvSpPr>
        <p:spPr>
          <a:xfrm>
            <a:off x="9601200" y="3267075"/>
            <a:ext cx="2333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Base cartográfica</a:t>
            </a:r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7A4C7E94-7120-4036-B331-6C90120C49B7}"/>
              </a:ext>
            </a:extLst>
          </p:cNvPr>
          <p:cNvSpPr>
            <a:spLocks noGrp="1"/>
          </p:cNvSpPr>
          <p:nvPr/>
        </p:nvSpPr>
        <p:spPr>
          <a:xfrm>
            <a:off x="9601200" y="3762375"/>
            <a:ext cx="257175" cy="0"/>
          </a:xfrm>
          <a:prstGeom prst="line">
            <a:avLst/>
          </a:prstGeom>
          <a:noFill/>
          <a:ln w="38100">
            <a:solidFill>
              <a:srgbClr val="1588B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BDC1A36-72A2-478E-9BAC-862067E83AEC}"/>
              </a:ext>
            </a:extLst>
          </p:cNvPr>
          <p:cNvSpPr>
            <a:spLocks noGrp="1"/>
          </p:cNvSpPr>
          <p:nvPr/>
        </p:nvSpPr>
        <p:spPr>
          <a:xfrm>
            <a:off x="9944100" y="36385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Rio Paraíba do Sul</a:t>
            </a:r>
          </a:p>
        </p:txBody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0F2F66DC-E04A-41B8-9247-682360C96FDC}"/>
              </a:ext>
            </a:extLst>
          </p:cNvPr>
          <p:cNvSpPr>
            <a:spLocks noGrp="1"/>
          </p:cNvSpPr>
          <p:nvPr/>
        </p:nvSpPr>
        <p:spPr>
          <a:xfrm>
            <a:off x="9601200" y="4124325"/>
            <a:ext cx="257175" cy="0"/>
          </a:xfrm>
          <a:prstGeom prst="line">
            <a:avLst/>
          </a:prstGeom>
          <a:noFill/>
          <a:ln w="12383">
            <a:solidFill>
              <a:srgbClr val="77BFD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6D23D88-5589-4F5D-9BDD-5CC30F84A95F}"/>
              </a:ext>
            </a:extLst>
          </p:cNvPr>
          <p:cNvSpPr>
            <a:spLocks noGrp="1"/>
          </p:cNvSpPr>
          <p:nvPr/>
        </p:nvSpPr>
        <p:spPr>
          <a:xfrm>
            <a:off x="9944100" y="40005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Demais cursos d’água</a:t>
            </a:r>
          </a:p>
        </p:txBody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id="{45A184A3-331E-4CE8-B9E7-9D1D22C4BC11}"/>
              </a:ext>
            </a:extLst>
          </p:cNvPr>
          <p:cNvSpPr>
            <a:spLocks noGrp="1"/>
          </p:cNvSpPr>
          <p:nvPr/>
        </p:nvSpPr>
        <p:spPr>
          <a:xfrm>
            <a:off x="9601200" y="4486275"/>
            <a:ext cx="257175" cy="0"/>
          </a:xfrm>
          <a:prstGeom prst="line">
            <a:avLst/>
          </a:prstGeom>
          <a:noFill/>
          <a:ln w="12383">
            <a:solidFill>
              <a:srgbClr val="808A8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9FE05E8-4769-47C3-B381-68AA22DC396C}"/>
              </a:ext>
            </a:extLst>
          </p:cNvPr>
          <p:cNvSpPr>
            <a:spLocks noGrp="1"/>
          </p:cNvSpPr>
          <p:nvPr/>
        </p:nvSpPr>
        <p:spPr>
          <a:xfrm>
            <a:off x="9944100" y="43624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Rodovias e vias urbanas</a:t>
            </a:r>
          </a:p>
        </p:txBody>
      </p:sp>
      <p:sp>
        <p:nvSpPr>
          <p:cNvPr id="31" name="Conector reto 30">
            <a:extLst>
              <a:ext uri="{FF2B5EF4-FFF2-40B4-BE49-F238E27FC236}">
                <a16:creationId xmlns:a16="http://schemas.microsoft.com/office/drawing/2014/main" id="{EF0E91E5-D242-4269-B1CD-94B0C7187D16}"/>
              </a:ext>
            </a:extLst>
          </p:cNvPr>
          <p:cNvSpPr>
            <a:spLocks noGrp="1"/>
          </p:cNvSpPr>
          <p:nvPr/>
        </p:nvSpPr>
        <p:spPr>
          <a:xfrm>
            <a:off x="9601200" y="4848225"/>
            <a:ext cx="257175" cy="0"/>
          </a:xfrm>
          <a:prstGeom prst="line">
            <a:avLst/>
          </a:prstGeom>
          <a:noFill/>
          <a:ln w="38100">
            <a:solidFill>
              <a:srgbClr val="D9177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4599A9AD-73F3-40A5-9126-CDCE4915B9ED}"/>
              </a:ext>
            </a:extLst>
          </p:cNvPr>
          <p:cNvSpPr>
            <a:spLocks noGrp="1"/>
          </p:cNvSpPr>
          <p:nvPr/>
        </p:nvSpPr>
        <p:spPr>
          <a:xfrm>
            <a:off x="9944100" y="47244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Limites municipais</a:t>
            </a:r>
          </a:p>
        </p:txBody>
      </p:sp>
      <p:sp>
        <p:nvSpPr>
          <p:cNvPr id="33" name="Conector reto 32">
            <a:extLst>
              <a:ext uri="{FF2B5EF4-FFF2-40B4-BE49-F238E27FC236}">
                <a16:creationId xmlns:a16="http://schemas.microsoft.com/office/drawing/2014/main" id="{013A8A23-9882-449E-BC8B-A93491BC9268}"/>
              </a:ext>
            </a:extLst>
          </p:cNvPr>
          <p:cNvSpPr>
            <a:spLocks noGrp="1"/>
          </p:cNvSpPr>
          <p:nvPr/>
        </p:nvSpPr>
        <p:spPr>
          <a:xfrm>
            <a:off x="9601200" y="5210175"/>
            <a:ext cx="257175" cy="0"/>
          </a:xfrm>
          <a:prstGeom prst="line">
            <a:avLst/>
          </a:prstGeom>
          <a:noFill/>
          <a:ln w="12383">
            <a:solidFill>
              <a:srgbClr val="16444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B76EB72-CF21-4DB7-8DCD-E1D73960F4F8}"/>
              </a:ext>
            </a:extLst>
          </p:cNvPr>
          <p:cNvSpPr>
            <a:spLocks noGrp="1"/>
          </p:cNvSpPr>
          <p:nvPr/>
        </p:nvSpPr>
        <p:spPr>
          <a:xfrm>
            <a:off x="9944100" y="50863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Linha de costa / margens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2B8C74B2-165F-4B67-945C-33CB968331C9}"/>
              </a:ext>
            </a:extLst>
          </p:cNvPr>
          <p:cNvSpPr>
            <a:spLocks noGrp="1"/>
          </p:cNvSpPr>
          <p:nvPr/>
        </p:nvSpPr>
        <p:spPr>
          <a:xfrm>
            <a:off x="9601200" y="5486400"/>
            <a:ext cx="238125" cy="152400"/>
          </a:xfrm>
          <a:prstGeom prst="rect">
            <a:avLst/>
          </a:prstGeom>
          <a:solidFill>
            <a:srgbClr val="EAE7CB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A44DE708-2C5F-4F0C-BE9A-C425911A70B3}"/>
              </a:ext>
            </a:extLst>
          </p:cNvPr>
          <p:cNvSpPr>
            <a:spLocks noGrp="1"/>
          </p:cNvSpPr>
          <p:nvPr/>
        </p:nvSpPr>
        <p:spPr>
          <a:xfrm>
            <a:off x="9944100" y="54483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Base terrestre e feições lineares</a:t>
            </a:r>
          </a:p>
        </p:txBody>
      </p:sp>
      <p:sp>
        <p:nvSpPr>
          <p:cNvPr id="37" name="Conector reto 36">
            <a:extLst>
              <a:ext uri="{FF2B5EF4-FFF2-40B4-BE49-F238E27FC236}">
                <a16:creationId xmlns:a16="http://schemas.microsoft.com/office/drawing/2014/main" id="{B98F14EF-B380-4B6A-B802-3BA3939CF4F3}"/>
              </a:ext>
            </a:extLst>
          </p:cNvPr>
          <p:cNvSpPr>
            <a:spLocks noGrp="1"/>
          </p:cNvSpPr>
          <p:nvPr/>
        </p:nvSpPr>
        <p:spPr>
          <a:xfrm>
            <a:off x="9601200" y="5972175"/>
            <a:ext cx="257175" cy="0"/>
          </a:xfrm>
          <a:prstGeom prst="line">
            <a:avLst/>
          </a:prstGeom>
          <a:noFill/>
          <a:ln w="12383">
            <a:solidFill>
              <a:srgbClr val="16444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99C18541-FAF9-4F0B-A085-F738A73A3DC3}"/>
              </a:ext>
            </a:extLst>
          </p:cNvPr>
          <p:cNvSpPr>
            <a:spLocks noGrp="1"/>
          </p:cNvSpPr>
          <p:nvPr/>
        </p:nvSpPr>
        <p:spPr>
          <a:xfrm>
            <a:off x="9944100" y="58483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Isóbatas (m)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E64983F5-971E-4366-939F-2F9CEBB72307}"/>
              </a:ext>
            </a:extLst>
          </p:cNvPr>
          <p:cNvSpPr>
            <a:spLocks noGrp="1"/>
          </p:cNvSpPr>
          <p:nvPr/>
        </p:nvSpPr>
        <p:spPr>
          <a:xfrm>
            <a:off x="9601200" y="6191250"/>
            <a:ext cx="238125" cy="152400"/>
          </a:xfrm>
          <a:prstGeom prst="rect">
            <a:avLst/>
          </a:prstGeom>
          <a:solidFill>
            <a:srgbClr val="586A31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0B59F645-13DC-4506-9C31-AB012DED1BFF}"/>
              </a:ext>
            </a:extLst>
          </p:cNvPr>
          <p:cNvSpPr>
            <a:spLocks noGrp="1"/>
          </p:cNvSpPr>
          <p:nvPr/>
        </p:nvSpPr>
        <p:spPr>
          <a:xfrm>
            <a:off x="9944100" y="6153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Seta regional: 195°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C139C54-D082-4D5B-B76E-5A091AE9F245}"/>
              </a:ext>
            </a:extLst>
          </p:cNvPr>
          <p:cNvSpPr>
            <a:spLocks noGrp="1"/>
          </p:cNvSpPr>
          <p:nvPr/>
        </p:nvSpPr>
        <p:spPr>
          <a:xfrm>
            <a:off x="7200900" y="33432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E2A639A0-B491-4EF6-A5FA-44DCFB5A5A95}"/>
              </a:ext>
            </a:extLst>
          </p:cNvPr>
          <p:cNvSpPr>
            <a:spLocks noGrp="1"/>
          </p:cNvSpPr>
          <p:nvPr/>
        </p:nvSpPr>
        <p:spPr>
          <a:xfrm>
            <a:off x="7429500" y="3343275"/>
            <a:ext cx="2066925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Sistema deltaico com elevada mobilidade morfológica.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ADB462AB-0DFC-4D96-A5CC-B975906255C6}"/>
              </a:ext>
            </a:extLst>
          </p:cNvPr>
          <p:cNvSpPr>
            <a:spLocks noGrp="1"/>
          </p:cNvSpPr>
          <p:nvPr/>
        </p:nvSpPr>
        <p:spPr>
          <a:xfrm>
            <a:off x="7200900" y="423862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534D7F83-70C1-4B22-80D9-DB3B715C13D5}"/>
              </a:ext>
            </a:extLst>
          </p:cNvPr>
          <p:cNvSpPr>
            <a:spLocks noGrp="1"/>
          </p:cNvSpPr>
          <p:nvPr/>
        </p:nvSpPr>
        <p:spPr>
          <a:xfrm>
            <a:off x="7429500" y="4238625"/>
            <a:ext cx="2066925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Relevo baixo e materiais pouco consolidados.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762443B4-89A4-489B-99AA-80C3D3AB191B}"/>
              </a:ext>
            </a:extLst>
          </p:cNvPr>
          <p:cNvSpPr>
            <a:spLocks noGrp="1"/>
          </p:cNvSpPr>
          <p:nvPr/>
        </p:nvSpPr>
        <p:spPr>
          <a:xfrm>
            <a:off x="7200900" y="51339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5FEF1625-27FA-4909-B779-D3BC69F12C7F}"/>
              </a:ext>
            </a:extLst>
          </p:cNvPr>
          <p:cNvSpPr>
            <a:spLocks noGrp="1"/>
          </p:cNvSpPr>
          <p:nvPr/>
        </p:nvSpPr>
        <p:spPr>
          <a:xfrm>
            <a:off x="7429500" y="5153853"/>
            <a:ext cx="2066925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Linha de costa sensível ao balanço sedimentar.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A73821EA-67EE-4D5E-9A63-436C30DE7DD8}"/>
              </a:ext>
            </a:extLst>
          </p:cNvPr>
          <p:cNvSpPr>
            <a:spLocks noGrp="1"/>
          </p:cNvSpPr>
          <p:nvPr/>
        </p:nvSpPr>
        <p:spPr>
          <a:xfrm>
            <a:off x="190500" y="6429375"/>
            <a:ext cx="6724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elaboração do grupo, 2026. SIRGAS 2000.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CF2EEA94-526D-33DB-27E7-2F6CC797E864}"/>
              </a:ext>
            </a:extLst>
          </p:cNvPr>
          <p:cNvSpPr/>
          <p:nvPr/>
        </p:nvSpPr>
        <p:spPr>
          <a:xfrm>
            <a:off x="7069394" y="838200"/>
            <a:ext cx="4865431" cy="2257426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45C6AD17-ED22-8D38-B0B3-EC27D6B998EF}"/>
              </a:ext>
            </a:extLst>
          </p:cNvPr>
          <p:cNvSpPr/>
          <p:nvPr/>
        </p:nvSpPr>
        <p:spPr>
          <a:xfrm>
            <a:off x="9496425" y="3286125"/>
            <a:ext cx="2474656" cy="322421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518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3F402644-C7A6-4149-BAC8-FA8E6CC354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941EF8F-222F-4FE6-8177-DDA4A3F1FD8B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Resultados: evolução da linha de costa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948536-95C5-4F54-9E8D-1B1A1CA612F7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58EFAC5-FFA9-469B-8757-BC4F9468ED6E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1B8F953-1330-48DA-8D9D-76FD83917A2D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58C2424-75D4-4127-9DDF-E35B12C74346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CBFBA9-0F05-4D61-AF59-948C4D26AAC7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03A36C4-AA63-47AE-914B-3ABA1127D9EA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EB79F71-908F-4959-A83A-290FD1F9CCCF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8 / 17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" y="858177"/>
            <a:ext cx="6648450" cy="4779696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24700" y="1182432"/>
            <a:ext cx="4848225" cy="3759712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A1B1B1DF-1D60-4228-B590-49995984BA89}"/>
              </a:ext>
            </a:extLst>
          </p:cNvPr>
          <p:cNvSpPr>
            <a:spLocks noGrp="1"/>
          </p:cNvSpPr>
          <p:nvPr/>
        </p:nvSpPr>
        <p:spPr>
          <a:xfrm>
            <a:off x="238125" y="5734050"/>
            <a:ext cx="64960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Machado et al. (2024).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21520E4-C25C-492D-AA34-6A25A0060B05}"/>
              </a:ext>
            </a:extLst>
          </p:cNvPr>
          <p:cNvSpPr>
            <a:spLocks noGrp="1"/>
          </p:cNvSpPr>
          <p:nvPr/>
        </p:nvSpPr>
        <p:spPr>
          <a:xfrm>
            <a:off x="7143750" y="5362575"/>
            <a:ext cx="47910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Mello, Machado e Rocha (2018).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933A806-8885-430F-B71A-9B16873F1EC9}"/>
              </a:ext>
            </a:extLst>
          </p:cNvPr>
          <p:cNvSpPr>
            <a:spLocks noGrp="1"/>
          </p:cNvSpPr>
          <p:nvPr/>
        </p:nvSpPr>
        <p:spPr>
          <a:xfrm>
            <a:off x="238125" y="6115050"/>
            <a:ext cx="11715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75" b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Os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registros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indicam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recuo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expressivo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em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Atafona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e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comportamento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espacial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distinto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em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trechos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próximos</a:t>
            </a:r>
            <a:r>
              <a:rPr sz="1875" b="0" dirty="0">
                <a:solidFill>
                  <a:srgbClr val="111111"/>
                </a:solidFill>
                <a:latin typeface="Latin Modern Sans"/>
                <a:ea typeface="Latin Modern Sans"/>
                <a:cs typeface="Latin Modern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605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7E96800A-E616-4287-AC08-32D8820220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0190A24-1655-4639-8E94-E157A4E7F309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Resultados: batimetria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767FB82-596B-40CF-AA3C-B4FC4E57E44D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8AA3D6E-6BAF-432D-ADC2-0287AC64B348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66E2197-CCD1-45E9-A6BF-487394CDDDBD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A3C5610-C7B9-45A9-AFFC-CC8B98768B79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4844D21-D91F-4BE2-B911-AEBE1C7AF45E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F8BB26D-299A-4737-BD47-B46A02C07B0F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09A6A74-690E-4363-AAF0-9337E53C53E6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9 / 17</a:t>
            </a:r>
          </a:p>
        </p:txBody>
      </p:sp>
      <p:pic>
        <p:nvPicPr>
          <p:cNvPr id="41" name="Imagem 40"/>
          <p:cNvPicPr>
            <a:picLocks noChangeAspect="1"/>
          </p:cNvPicPr>
          <p:nvPr/>
        </p:nvPicPr>
        <p:blipFill>
          <a:blip r:embed="rId3"/>
          <a:srcRect l="2800" t="8900" r="22700" b="3600"/>
          <a:stretch/>
        </p:blipFill>
        <p:spPr>
          <a:xfrm>
            <a:off x="190500" y="838200"/>
            <a:ext cx="6858000" cy="55626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3F5FFD2B-3F13-4697-A078-28613B46955E}"/>
              </a:ext>
            </a:extLst>
          </p:cNvPr>
          <p:cNvSpPr>
            <a:spLocks noGrp="1"/>
          </p:cNvSpPr>
          <p:nvPr/>
        </p:nvSpPr>
        <p:spPr>
          <a:xfrm>
            <a:off x="7400925" y="876300"/>
            <a:ext cx="44958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1" dirty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Legenda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E97F624-7106-430B-BCF8-FB196C3F3364}"/>
              </a:ext>
            </a:extLst>
          </p:cNvPr>
          <p:cNvSpPr>
            <a:spLocks noGrp="1"/>
          </p:cNvSpPr>
          <p:nvPr/>
        </p:nvSpPr>
        <p:spPr>
          <a:xfrm>
            <a:off x="7400925" y="1362075"/>
            <a:ext cx="238125" cy="152400"/>
          </a:xfrm>
          <a:prstGeom prst="rect">
            <a:avLst/>
          </a:prstGeom>
          <a:solidFill>
            <a:srgbClr val="96FCFA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96E986E-4714-4866-B88D-EB79BC4D2127}"/>
              </a:ext>
            </a:extLst>
          </p:cNvPr>
          <p:cNvSpPr>
            <a:spLocks noGrp="1"/>
          </p:cNvSpPr>
          <p:nvPr/>
        </p:nvSpPr>
        <p:spPr>
          <a:xfrm>
            <a:off x="7743825" y="1323975"/>
            <a:ext cx="411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Profundidade: 0 a −20 m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F524744-9B9C-4FEA-A48E-64D8DCEE81C0}"/>
              </a:ext>
            </a:extLst>
          </p:cNvPr>
          <p:cNvSpPr>
            <a:spLocks noGrp="1"/>
          </p:cNvSpPr>
          <p:nvPr/>
        </p:nvSpPr>
        <p:spPr>
          <a:xfrm>
            <a:off x="7400925" y="1724025"/>
            <a:ext cx="238125" cy="152400"/>
          </a:xfrm>
          <a:prstGeom prst="rect">
            <a:avLst/>
          </a:prstGeom>
          <a:solidFill>
            <a:srgbClr val="EBF5DE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10BD547-B2D0-40DF-A0B7-E86ADA280B72}"/>
              </a:ext>
            </a:extLst>
          </p:cNvPr>
          <p:cNvSpPr>
            <a:spLocks noGrp="1"/>
          </p:cNvSpPr>
          <p:nvPr/>
        </p:nvSpPr>
        <p:spPr>
          <a:xfrm>
            <a:off x="7743825" y="1685925"/>
            <a:ext cx="411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Base geomorfológica terrestre</a:t>
            </a:r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61ECA354-AEFC-4C37-B13E-5F7E3FCD021E}"/>
              </a:ext>
            </a:extLst>
          </p:cNvPr>
          <p:cNvSpPr>
            <a:spLocks noGrp="1"/>
          </p:cNvSpPr>
          <p:nvPr/>
        </p:nvSpPr>
        <p:spPr>
          <a:xfrm>
            <a:off x="7400925" y="2171700"/>
            <a:ext cx="257175" cy="0"/>
          </a:xfrm>
          <a:prstGeom prst="line">
            <a:avLst/>
          </a:prstGeom>
          <a:noFill/>
          <a:ln w="12383">
            <a:solidFill>
              <a:srgbClr val="8D9A87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DC6BEC8-8C6E-4385-B4D1-388CC0842E56}"/>
              </a:ext>
            </a:extLst>
          </p:cNvPr>
          <p:cNvSpPr>
            <a:spLocks noGrp="1"/>
          </p:cNvSpPr>
          <p:nvPr/>
        </p:nvSpPr>
        <p:spPr>
          <a:xfrm>
            <a:off x="7743825" y="2047875"/>
            <a:ext cx="411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Feições lineares da base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347C4A14-81AB-4435-A781-4E0C5299DD1E}"/>
              </a:ext>
            </a:extLst>
          </p:cNvPr>
          <p:cNvSpPr>
            <a:spLocks noGrp="1"/>
          </p:cNvSpPr>
          <p:nvPr/>
        </p:nvSpPr>
        <p:spPr>
          <a:xfrm>
            <a:off x="7400925" y="2533650"/>
            <a:ext cx="257175" cy="0"/>
          </a:xfrm>
          <a:prstGeom prst="line">
            <a:avLst/>
          </a:prstGeom>
          <a:noFill/>
          <a:ln w="12383">
            <a:solidFill>
              <a:srgbClr val="808A8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C77C730-D8FC-4CDB-AB2E-9875765A6A08}"/>
              </a:ext>
            </a:extLst>
          </p:cNvPr>
          <p:cNvSpPr>
            <a:spLocks noGrp="1"/>
          </p:cNvSpPr>
          <p:nvPr/>
        </p:nvSpPr>
        <p:spPr>
          <a:xfrm>
            <a:off x="7743825" y="2409825"/>
            <a:ext cx="411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Rodovias e vias urbanas</a:t>
            </a: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8EA21DB0-DE7C-4137-AE62-EB20562B163B}"/>
              </a:ext>
            </a:extLst>
          </p:cNvPr>
          <p:cNvSpPr>
            <a:spLocks noGrp="1"/>
          </p:cNvSpPr>
          <p:nvPr/>
        </p:nvSpPr>
        <p:spPr>
          <a:xfrm>
            <a:off x="7400925" y="2895600"/>
            <a:ext cx="257175" cy="0"/>
          </a:xfrm>
          <a:prstGeom prst="line">
            <a:avLst/>
          </a:prstGeom>
          <a:noFill/>
          <a:ln w="38100">
            <a:solidFill>
              <a:srgbClr val="1588B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936B6ED-C320-45EF-AA33-500AB7DC286D}"/>
              </a:ext>
            </a:extLst>
          </p:cNvPr>
          <p:cNvSpPr>
            <a:spLocks noGrp="1"/>
          </p:cNvSpPr>
          <p:nvPr/>
        </p:nvSpPr>
        <p:spPr>
          <a:xfrm>
            <a:off x="7743825" y="2771775"/>
            <a:ext cx="411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Rio Paraíba do Sul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7CF88CF4-2721-4B32-9692-E62FB6AC527B}"/>
              </a:ext>
            </a:extLst>
          </p:cNvPr>
          <p:cNvSpPr>
            <a:spLocks noGrp="1"/>
          </p:cNvSpPr>
          <p:nvPr/>
        </p:nvSpPr>
        <p:spPr>
          <a:xfrm>
            <a:off x="7400925" y="3257550"/>
            <a:ext cx="257175" cy="0"/>
          </a:xfrm>
          <a:prstGeom prst="line">
            <a:avLst/>
          </a:prstGeom>
          <a:noFill/>
          <a:ln w="12383">
            <a:solidFill>
              <a:srgbClr val="16444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5610A27-820A-4C71-8C83-05971D01C072}"/>
              </a:ext>
            </a:extLst>
          </p:cNvPr>
          <p:cNvSpPr>
            <a:spLocks noGrp="1"/>
          </p:cNvSpPr>
          <p:nvPr/>
        </p:nvSpPr>
        <p:spPr>
          <a:xfrm>
            <a:off x="7743825" y="3133725"/>
            <a:ext cx="4114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Linha de costa / margens</a:t>
            </a:r>
          </a:p>
        </p:txBody>
      </p:sp>
      <p:pic>
        <p:nvPicPr>
          <p:cNvPr id="55" name="Imagem 54"/>
          <p:cNvPicPr>
            <a:picLocks noChangeAspect="1"/>
          </p:cNvPicPr>
          <p:nvPr/>
        </p:nvPicPr>
        <p:blipFill>
          <a:blip r:embed="rId3"/>
          <a:srcRect l="79000" t="71100" r="9300" b="22500"/>
          <a:stretch/>
        </p:blipFill>
        <p:spPr>
          <a:xfrm>
            <a:off x="7400925" y="3533775"/>
            <a:ext cx="1085850" cy="409575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DE55F946-07D1-43F0-98E9-0D0C5BF1F2DD}"/>
              </a:ext>
            </a:extLst>
          </p:cNvPr>
          <p:cNvSpPr>
            <a:spLocks noGrp="1"/>
          </p:cNvSpPr>
          <p:nvPr/>
        </p:nvSpPr>
        <p:spPr>
          <a:xfrm>
            <a:off x="7400925" y="41814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72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91E32B8-50F3-41C9-94E3-FCA690E889D3}"/>
              </a:ext>
            </a:extLst>
          </p:cNvPr>
          <p:cNvSpPr>
            <a:spLocks noGrp="1"/>
          </p:cNvSpPr>
          <p:nvPr/>
        </p:nvSpPr>
        <p:spPr>
          <a:xfrm>
            <a:off x="7629525" y="4181475"/>
            <a:ext cx="42481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7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Plataforma interna de baixa declividade.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1E7F9E4-B551-4CD1-A60D-51A6A83B8EDE}"/>
              </a:ext>
            </a:extLst>
          </p:cNvPr>
          <p:cNvSpPr>
            <a:spLocks noGrp="1"/>
          </p:cNvSpPr>
          <p:nvPr/>
        </p:nvSpPr>
        <p:spPr>
          <a:xfrm>
            <a:off x="7400925" y="4933950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72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E0A442F-7B43-4F2A-A99A-E064AFA4D54F}"/>
              </a:ext>
            </a:extLst>
          </p:cNvPr>
          <p:cNvSpPr>
            <a:spLocks noGrp="1"/>
          </p:cNvSpPr>
          <p:nvPr/>
        </p:nvSpPr>
        <p:spPr>
          <a:xfrm>
            <a:off x="7629525" y="4933950"/>
            <a:ext cx="42481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Variações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do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relevo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submarino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próximas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à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foz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5C3D914-03F5-4092-924B-5B5C7C22CBDD}"/>
              </a:ext>
            </a:extLst>
          </p:cNvPr>
          <p:cNvSpPr>
            <a:spLocks noGrp="1"/>
          </p:cNvSpPr>
          <p:nvPr/>
        </p:nvSpPr>
        <p:spPr>
          <a:xfrm>
            <a:off x="7400925" y="568642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72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F610317-F1C7-4929-A7B0-CAC8124DF9AE}"/>
              </a:ext>
            </a:extLst>
          </p:cNvPr>
          <p:cNvSpPr>
            <a:spLocks noGrp="1"/>
          </p:cNvSpPr>
          <p:nvPr/>
        </p:nvSpPr>
        <p:spPr>
          <a:xfrm>
            <a:off x="7629525" y="5686425"/>
            <a:ext cx="42481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7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Controle da propagação de ondas e do transporte sedimentar.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C11140A-BA16-42E0-8C5E-DEFAD0C0BA5B}"/>
              </a:ext>
            </a:extLst>
          </p:cNvPr>
          <p:cNvSpPr>
            <a:spLocks noGrp="1"/>
          </p:cNvSpPr>
          <p:nvPr/>
        </p:nvSpPr>
        <p:spPr>
          <a:xfrm>
            <a:off x="190500" y="6429375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elaboração do grupo, 2026. SIRGAS 2000.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9CBB2D6-A45D-EA2B-AFCB-BC619CB28FB2}"/>
              </a:ext>
            </a:extLst>
          </p:cNvPr>
          <p:cNvSpPr/>
          <p:nvPr/>
        </p:nvSpPr>
        <p:spPr>
          <a:xfrm>
            <a:off x="7285383" y="838200"/>
            <a:ext cx="3071191" cy="320992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604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B59499A8-380E-4E11-BF4E-7C66786B0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91140D9-7FE3-4DB6-9F8F-B7AFD2621382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Resultados: aspectos oceanográficos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91600A5-0FF5-4A5D-B833-63AB1B9BE662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AA65242-CBFE-47CA-B0E6-4AB74A817208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4B29900-CEFF-4355-AC9D-95D8A0B40E0C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D3A0242-6621-4DE1-804A-E9D52D98B2FC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1B2AE27-601A-43CB-955F-8BFA56733924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3097E13-C775-467A-BCBF-1485AD3E34B5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9A7F9DD-6BE1-4264-99CB-9CFB80836003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10 / 17</a:t>
            </a:r>
          </a:p>
        </p:txBody>
      </p:sp>
      <p:pic>
        <p:nvPicPr>
          <p:cNvPr id="35" name="Imagem 34"/>
          <p:cNvPicPr>
            <a:picLocks noChangeAspect="1"/>
          </p:cNvPicPr>
          <p:nvPr/>
        </p:nvPicPr>
        <p:blipFill>
          <a:blip r:embed="rId3"/>
          <a:srcRect l="24000" t="7700" r="21200" b="33500"/>
          <a:stretch/>
        </p:blipFill>
        <p:spPr>
          <a:xfrm>
            <a:off x="259246" y="890587"/>
            <a:ext cx="5895975" cy="4676775"/>
          </a:xfrm>
          <a:prstGeom prst="rect">
            <a:avLst/>
          </a:prstGeom>
          <a:ln w="6350">
            <a:solidFill>
              <a:schemeClr val="accent1">
                <a:shade val="15000"/>
              </a:schemeClr>
            </a:solidFill>
          </a:ln>
        </p:spPr>
      </p:pic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68924" y="790575"/>
            <a:ext cx="4016802" cy="4010025"/>
          </a:xfrm>
          <a:prstGeom prst="rect">
            <a:avLst/>
          </a:prstGeom>
        </p:spPr>
      </p:pic>
      <p:sp>
        <p:nvSpPr>
          <p:cNvPr id="12" name="Conector reto 11">
            <a:extLst>
              <a:ext uri="{FF2B5EF4-FFF2-40B4-BE49-F238E27FC236}">
                <a16:creationId xmlns:a16="http://schemas.microsoft.com/office/drawing/2014/main" id="{0BCBD4D6-7D21-4F05-9E82-32C496C8D428}"/>
              </a:ext>
            </a:extLst>
          </p:cNvPr>
          <p:cNvSpPr>
            <a:spLocks noGrp="1"/>
          </p:cNvSpPr>
          <p:nvPr/>
        </p:nvSpPr>
        <p:spPr>
          <a:xfrm>
            <a:off x="266700" y="5867400"/>
            <a:ext cx="257175" cy="0"/>
          </a:xfrm>
          <a:prstGeom prst="line">
            <a:avLst/>
          </a:prstGeom>
          <a:noFill/>
          <a:ln w="38100">
            <a:solidFill>
              <a:srgbClr val="1588B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9D45821-E0DC-40D1-928A-9404D6023F08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Rio Paraíba do Sul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3342ABAC-55B0-49E5-961F-2781357D67CB}"/>
              </a:ext>
            </a:extLst>
          </p:cNvPr>
          <p:cNvSpPr>
            <a:spLocks noGrp="1"/>
          </p:cNvSpPr>
          <p:nvPr/>
        </p:nvSpPr>
        <p:spPr>
          <a:xfrm>
            <a:off x="3171825" y="5867400"/>
            <a:ext cx="257175" cy="0"/>
          </a:xfrm>
          <a:prstGeom prst="line">
            <a:avLst/>
          </a:prstGeom>
          <a:noFill/>
          <a:ln w="38100">
            <a:solidFill>
              <a:srgbClr val="D9177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2FEDA3B-C81F-4B4E-9F50-1724F562EAD4}"/>
              </a:ext>
            </a:extLst>
          </p:cNvPr>
          <p:cNvSpPr>
            <a:spLocks noGrp="1"/>
          </p:cNvSpPr>
          <p:nvPr/>
        </p:nvSpPr>
        <p:spPr>
          <a:xfrm>
            <a:off x="3514725" y="5743575"/>
            <a:ext cx="24860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Limites municipais</a:t>
            </a:r>
          </a:p>
        </p:txBody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909B7170-3413-44B7-AA16-66F787FEE407}"/>
              </a:ext>
            </a:extLst>
          </p:cNvPr>
          <p:cNvSpPr>
            <a:spLocks noGrp="1"/>
          </p:cNvSpPr>
          <p:nvPr/>
        </p:nvSpPr>
        <p:spPr>
          <a:xfrm>
            <a:off x="266700" y="6191250"/>
            <a:ext cx="257175" cy="0"/>
          </a:xfrm>
          <a:prstGeom prst="line">
            <a:avLst/>
          </a:prstGeom>
          <a:noFill/>
          <a:ln w="12383">
            <a:solidFill>
              <a:srgbClr val="808A8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9D21387-90BC-46E5-B320-E978381BFAAB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Rodovias</a:t>
            </a:r>
            <a:r>
              <a:rPr sz="11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/ base </a:t>
            </a:r>
            <a:r>
              <a:rPr sz="11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terrestre</a:t>
            </a:r>
            <a:endParaRPr sz="1125" b="0" dirty="0">
              <a:solidFill>
                <a:srgbClr val="181818"/>
              </a:solidFill>
              <a:latin typeface="Latin Modern Sans"/>
              <a:ea typeface="Latin Modern Sans"/>
              <a:cs typeface="Latin Modern Sans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2D8EF8E-A05D-4A72-A646-C77E15254656}"/>
              </a:ext>
            </a:extLst>
          </p:cNvPr>
          <p:cNvSpPr>
            <a:spLocks noGrp="1"/>
          </p:cNvSpPr>
          <p:nvPr/>
        </p:nvSpPr>
        <p:spPr>
          <a:xfrm>
            <a:off x="3171825" y="6105525"/>
            <a:ext cx="238125" cy="152400"/>
          </a:xfrm>
          <a:prstGeom prst="rect">
            <a:avLst/>
          </a:prstGeom>
          <a:solidFill>
            <a:srgbClr val="FFFFFF"/>
          </a:solidFill>
          <a:ln w="6668">
            <a:solidFill>
              <a:srgbClr val="66666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B91D939-F6CF-403C-9904-EE645FDD21D6}"/>
              </a:ext>
            </a:extLst>
          </p:cNvPr>
          <p:cNvSpPr>
            <a:spLocks noGrp="1"/>
          </p:cNvSpPr>
          <p:nvPr/>
        </p:nvSpPr>
        <p:spPr>
          <a:xfrm>
            <a:off x="3514725" y="6067425"/>
            <a:ext cx="24860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Seta regional: aprox. 195°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38D78FC-E03F-4E3B-B3F9-BDD9A21AA904}"/>
              </a:ext>
            </a:extLst>
          </p:cNvPr>
          <p:cNvSpPr>
            <a:spLocks noGrp="1"/>
          </p:cNvSpPr>
          <p:nvPr/>
        </p:nvSpPr>
        <p:spPr>
          <a:xfrm>
            <a:off x="6457950" y="4953000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757D905-5FF2-4058-8F28-86E3961E04C3}"/>
              </a:ext>
            </a:extLst>
          </p:cNvPr>
          <p:cNvSpPr>
            <a:spLocks noGrp="1"/>
          </p:cNvSpPr>
          <p:nvPr/>
        </p:nvSpPr>
        <p:spPr>
          <a:xfrm>
            <a:off x="6686550" y="4953000"/>
            <a:ext cx="52578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Vetor de </a:t>
            </a:r>
            <a:r>
              <a:rPr sz="157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referência</a:t>
            </a:r>
            <a:r>
              <a:rPr sz="157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: 0,165 m s⁻¹, </a:t>
            </a:r>
            <a:r>
              <a:rPr sz="157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azimute</a:t>
            </a:r>
            <a:r>
              <a:rPr sz="157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57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aproximado</a:t>
            </a:r>
            <a:r>
              <a:rPr sz="157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de 195°.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447FA53-5721-4D02-AC92-ED11F636F419}"/>
              </a:ext>
            </a:extLst>
          </p:cNvPr>
          <p:cNvSpPr>
            <a:spLocks noGrp="1"/>
          </p:cNvSpPr>
          <p:nvPr/>
        </p:nvSpPr>
        <p:spPr>
          <a:xfrm>
            <a:off x="6457950" y="54387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38D3FFD-D82E-42F1-AB41-C22CCBD025DF}"/>
              </a:ext>
            </a:extLst>
          </p:cNvPr>
          <p:cNvSpPr>
            <a:spLocks noGrp="1"/>
          </p:cNvSpPr>
          <p:nvPr/>
        </p:nvSpPr>
        <p:spPr>
          <a:xfrm>
            <a:off x="6686550" y="5438775"/>
            <a:ext cx="52578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Dados da estação SiMCosta de Linhares.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015D3D2-D25C-4A66-AC87-5CB8D9A1DA66}"/>
              </a:ext>
            </a:extLst>
          </p:cNvPr>
          <p:cNvSpPr>
            <a:spLocks noGrp="1"/>
          </p:cNvSpPr>
          <p:nvPr/>
        </p:nvSpPr>
        <p:spPr>
          <a:xfrm>
            <a:off x="6457950" y="5924550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FBFF8E0-F364-4EC4-8865-302E49E8FBFF}"/>
              </a:ext>
            </a:extLst>
          </p:cNvPr>
          <p:cNvSpPr>
            <a:spLocks noGrp="1"/>
          </p:cNvSpPr>
          <p:nvPr/>
        </p:nvSpPr>
        <p:spPr>
          <a:xfrm>
            <a:off x="6686550" y="5924550"/>
            <a:ext cx="52578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Uso exploratório, sujeito à validação local em Atafona.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0B165F5-B6CD-C6B9-2B32-A397B47326C1}"/>
              </a:ext>
            </a:extLst>
          </p:cNvPr>
          <p:cNvSpPr/>
          <p:nvPr/>
        </p:nvSpPr>
        <p:spPr>
          <a:xfrm>
            <a:off x="228601" y="5695950"/>
            <a:ext cx="4919870" cy="666750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734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A394F225-C366-407D-9D2D-FCD16C3AD3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3AFC48D-4CC2-44C8-94D4-7149B261F4F7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Resultados: dinâmica costeira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9C05007-8D0F-48D2-95A2-BC43B260AEA2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FB6540A-D37B-4CC1-A4B3-076F2A24BF94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E465430-05DA-4A76-A1FE-6D6A04B7B2EE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2856E65-EC2E-469E-A908-87F0BAAE230F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6ABF8D5-BC88-45B9-8646-79BD0844E19D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2ECFEFD-24E0-4A44-A71A-B2AA28F88446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9511500-7F6D-4979-83A3-812435B44C3C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11 / 17</a:t>
            </a: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3"/>
          <a:srcRect l="1800" t="6800" r="21200" b="4600"/>
          <a:stretch/>
        </p:blipFill>
        <p:spPr>
          <a:xfrm>
            <a:off x="190500" y="828675"/>
            <a:ext cx="6781800" cy="5381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A93A2B8-AA60-4765-BF4A-34EF5D68D4E9}"/>
              </a:ext>
            </a:extLst>
          </p:cNvPr>
          <p:cNvSpPr>
            <a:spLocks noGrp="1"/>
          </p:cNvSpPr>
          <p:nvPr/>
        </p:nvSpPr>
        <p:spPr>
          <a:xfrm>
            <a:off x="7229475" y="990600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DDC45BB-E3D8-47CB-AEB6-C20C8559D607}"/>
              </a:ext>
            </a:extLst>
          </p:cNvPr>
          <p:cNvSpPr>
            <a:spLocks noGrp="1"/>
          </p:cNvSpPr>
          <p:nvPr/>
        </p:nvSpPr>
        <p:spPr>
          <a:xfrm>
            <a:off x="7458075" y="990600"/>
            <a:ext cx="4505325" cy="40004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foz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integra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processos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fluviais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e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marinhos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5C1EA3A-E4E9-4C21-8F5E-276E1FE5542D}"/>
              </a:ext>
            </a:extLst>
          </p:cNvPr>
          <p:cNvSpPr>
            <a:spLocks noGrp="1"/>
          </p:cNvSpPr>
          <p:nvPr/>
        </p:nvSpPr>
        <p:spPr>
          <a:xfrm>
            <a:off x="7229475" y="1943100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C503659-C0A5-40FC-8BF1-FBEFE12757F3}"/>
              </a:ext>
            </a:extLst>
          </p:cNvPr>
          <p:cNvSpPr>
            <a:spLocks noGrp="1"/>
          </p:cNvSpPr>
          <p:nvPr/>
        </p:nvSpPr>
        <p:spPr>
          <a:xfrm>
            <a:off x="7458075" y="1943101"/>
            <a:ext cx="45053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Alterações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no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aporte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sedimentar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modificam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esse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equilíbrio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4AAD3B1-B0A9-4A8A-BA3F-EAAF3F186D80}"/>
              </a:ext>
            </a:extLst>
          </p:cNvPr>
          <p:cNvSpPr>
            <a:spLocks noGrp="1"/>
          </p:cNvSpPr>
          <p:nvPr/>
        </p:nvSpPr>
        <p:spPr>
          <a:xfrm>
            <a:off x="7229475" y="2895600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BAFA04B-B36F-4BE0-9798-34B61011867C}"/>
              </a:ext>
            </a:extLst>
          </p:cNvPr>
          <p:cNvSpPr>
            <a:spLocks noGrp="1"/>
          </p:cNvSpPr>
          <p:nvPr/>
        </p:nvSpPr>
        <p:spPr>
          <a:xfrm>
            <a:off x="7458075" y="2895600"/>
            <a:ext cx="4505325" cy="62865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Ondas e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correntes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redistribuem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os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sedimentos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ao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longo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da costa.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CD09C8C-B6F5-42D7-BD1D-46573337C298}"/>
              </a:ext>
            </a:extLst>
          </p:cNvPr>
          <p:cNvSpPr>
            <a:spLocks noGrp="1"/>
          </p:cNvSpPr>
          <p:nvPr/>
        </p:nvSpPr>
        <p:spPr>
          <a:xfrm>
            <a:off x="7229475" y="3848100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7003524-6BE6-4228-9A96-12C4270E8950}"/>
              </a:ext>
            </a:extLst>
          </p:cNvPr>
          <p:cNvSpPr>
            <a:spLocks noGrp="1"/>
          </p:cNvSpPr>
          <p:nvPr/>
        </p:nvSpPr>
        <p:spPr>
          <a:xfrm>
            <a:off x="7458075" y="3848101"/>
            <a:ext cx="45053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Os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dados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regionais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não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substituem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medições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locais</a:t>
            </a:r>
            <a:r>
              <a:rPr sz="18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.</a:t>
            </a:r>
          </a:p>
        </p:txBody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3B56C0A6-5A1D-419F-A5A1-51A6370AACC9}"/>
              </a:ext>
            </a:extLst>
          </p:cNvPr>
          <p:cNvSpPr>
            <a:spLocks noGrp="1"/>
          </p:cNvSpPr>
          <p:nvPr/>
        </p:nvSpPr>
        <p:spPr>
          <a:xfrm>
            <a:off x="7229475" y="5591175"/>
            <a:ext cx="257175" cy="0"/>
          </a:xfrm>
          <a:prstGeom prst="line">
            <a:avLst/>
          </a:prstGeom>
          <a:noFill/>
          <a:ln w="38100">
            <a:solidFill>
              <a:srgbClr val="1588B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5220D53-6822-4F3D-9242-B017BB112302}"/>
              </a:ext>
            </a:extLst>
          </p:cNvPr>
          <p:cNvSpPr>
            <a:spLocks noGrp="1"/>
          </p:cNvSpPr>
          <p:nvPr/>
        </p:nvSpPr>
        <p:spPr>
          <a:xfrm>
            <a:off x="7572375" y="54673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Rio Paraíba do Sul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14227B28-4943-41C1-B3BF-B5D4B6BFE246}"/>
              </a:ext>
            </a:extLst>
          </p:cNvPr>
          <p:cNvSpPr>
            <a:spLocks noGrp="1"/>
          </p:cNvSpPr>
          <p:nvPr/>
        </p:nvSpPr>
        <p:spPr>
          <a:xfrm>
            <a:off x="9610725" y="5591175"/>
            <a:ext cx="257175" cy="0"/>
          </a:xfrm>
          <a:prstGeom prst="line">
            <a:avLst/>
          </a:prstGeom>
          <a:noFill/>
          <a:ln w="38100">
            <a:solidFill>
              <a:srgbClr val="D9177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562E8CE-D51D-4F3D-AF20-A5AE4EE78F74}"/>
              </a:ext>
            </a:extLst>
          </p:cNvPr>
          <p:cNvSpPr>
            <a:spLocks noGrp="1"/>
          </p:cNvSpPr>
          <p:nvPr/>
        </p:nvSpPr>
        <p:spPr>
          <a:xfrm>
            <a:off x="9953625" y="54673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Limites municipais</a:t>
            </a:r>
          </a:p>
        </p:txBody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A775B718-447B-4829-9B68-DCEB95E4DA61}"/>
              </a:ext>
            </a:extLst>
          </p:cNvPr>
          <p:cNvSpPr>
            <a:spLocks noGrp="1"/>
          </p:cNvSpPr>
          <p:nvPr/>
        </p:nvSpPr>
        <p:spPr>
          <a:xfrm>
            <a:off x="7229475" y="5915025"/>
            <a:ext cx="257175" cy="0"/>
          </a:xfrm>
          <a:prstGeom prst="line">
            <a:avLst/>
          </a:prstGeom>
          <a:noFill/>
          <a:ln w="12383">
            <a:solidFill>
              <a:srgbClr val="808A8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922FA43-515A-4965-8197-BC726AC82DC1}"/>
              </a:ext>
            </a:extLst>
          </p:cNvPr>
          <p:cNvSpPr>
            <a:spLocks noGrp="1"/>
          </p:cNvSpPr>
          <p:nvPr/>
        </p:nvSpPr>
        <p:spPr>
          <a:xfrm>
            <a:off x="7572375" y="57912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Vias e feições da base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8397CF11-1DFC-4318-98F9-552313B4710C}"/>
              </a:ext>
            </a:extLst>
          </p:cNvPr>
          <p:cNvSpPr>
            <a:spLocks noGrp="1"/>
          </p:cNvSpPr>
          <p:nvPr/>
        </p:nvSpPr>
        <p:spPr>
          <a:xfrm>
            <a:off x="9610725" y="5915025"/>
            <a:ext cx="257175" cy="0"/>
          </a:xfrm>
          <a:prstGeom prst="line">
            <a:avLst/>
          </a:prstGeom>
          <a:noFill/>
          <a:ln w="12383">
            <a:solidFill>
              <a:srgbClr val="77BFD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B60971E-9E8C-46D0-ACDE-44C203CBFAEC}"/>
              </a:ext>
            </a:extLst>
          </p:cNvPr>
          <p:cNvSpPr>
            <a:spLocks noGrp="1"/>
          </p:cNvSpPr>
          <p:nvPr/>
        </p:nvSpPr>
        <p:spPr>
          <a:xfrm>
            <a:off x="9953625" y="579120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Hidrografia secundária</a:t>
            </a:r>
          </a:p>
        </p:txBody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3F4B8D95-E034-4702-BC49-BF1C8A33F9E5}"/>
              </a:ext>
            </a:extLst>
          </p:cNvPr>
          <p:cNvSpPr>
            <a:spLocks noGrp="1"/>
          </p:cNvSpPr>
          <p:nvPr/>
        </p:nvSpPr>
        <p:spPr>
          <a:xfrm>
            <a:off x="7229475" y="6238875"/>
            <a:ext cx="257175" cy="0"/>
          </a:xfrm>
          <a:prstGeom prst="line">
            <a:avLst/>
          </a:prstGeom>
          <a:noFill/>
          <a:ln w="12383">
            <a:solidFill>
              <a:srgbClr val="16444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A62E54D-337A-4D47-9A7C-5BF2399C64B4}"/>
              </a:ext>
            </a:extLst>
          </p:cNvPr>
          <p:cNvSpPr>
            <a:spLocks noGrp="1"/>
          </p:cNvSpPr>
          <p:nvPr/>
        </p:nvSpPr>
        <p:spPr>
          <a:xfrm>
            <a:off x="7572375" y="61150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Costa e margens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EE60D39C-50F1-4D25-BE23-255329590548}"/>
              </a:ext>
            </a:extLst>
          </p:cNvPr>
          <p:cNvSpPr>
            <a:spLocks noGrp="1"/>
          </p:cNvSpPr>
          <p:nvPr/>
        </p:nvSpPr>
        <p:spPr>
          <a:xfrm>
            <a:off x="9686925" y="6162675"/>
            <a:ext cx="114300" cy="114300"/>
          </a:xfrm>
          <a:prstGeom prst="ellipse">
            <a:avLst/>
          </a:prstGeom>
          <a:solidFill>
            <a:srgbClr val="D8BB40"/>
          </a:solidFill>
          <a:ln w="6668">
            <a:solidFill>
              <a:srgbClr val="55555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E497107-ECE1-4D94-BA70-833B8FB1B804}"/>
              </a:ext>
            </a:extLst>
          </p:cNvPr>
          <p:cNvSpPr>
            <a:spLocks noGrp="1"/>
          </p:cNvSpPr>
          <p:nvPr/>
        </p:nvSpPr>
        <p:spPr>
          <a:xfrm>
            <a:off x="9953625" y="61150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Localidade de Atafona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8C64D2A-4785-4192-BB4B-6031F99A985F}"/>
              </a:ext>
            </a:extLst>
          </p:cNvPr>
          <p:cNvSpPr>
            <a:spLocks noGrp="1"/>
          </p:cNvSpPr>
          <p:nvPr/>
        </p:nvSpPr>
        <p:spPr>
          <a:xfrm>
            <a:off x="190500" y="6372225"/>
            <a:ext cx="2909316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 dirty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</a:t>
            </a:r>
            <a:r>
              <a:rPr lang="pt-BR" sz="1125" dirty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Produção do grupo</a:t>
            </a:r>
            <a:r>
              <a:rPr sz="1125" b="0" dirty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 (2026).</a:t>
            </a:r>
            <a:r>
              <a:rPr lang="pt-BR" sz="1125" b="0" dirty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 Sirgas 2000</a:t>
            </a:r>
            <a:endParaRPr sz="1125" b="0" dirty="0">
              <a:solidFill>
                <a:srgbClr val="444444"/>
              </a:solidFill>
              <a:latin typeface="Latin Modern Sans"/>
              <a:ea typeface="Latin Modern Sans"/>
              <a:cs typeface="Latin Modern Sans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5D84A27-2B93-9A89-D429-9760D35CDBE6}"/>
              </a:ext>
            </a:extLst>
          </p:cNvPr>
          <p:cNvSpPr txBox="1"/>
          <p:nvPr/>
        </p:nvSpPr>
        <p:spPr>
          <a:xfrm>
            <a:off x="7071237" y="4968358"/>
            <a:ext cx="2202426" cy="369332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  <a:latin typeface="Latin Modern Sans"/>
              </a:rPr>
              <a:t>Legenda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A62C8939-1634-503D-DA2A-2D5457323705}"/>
              </a:ext>
            </a:extLst>
          </p:cNvPr>
          <p:cNvSpPr/>
          <p:nvPr/>
        </p:nvSpPr>
        <p:spPr>
          <a:xfrm>
            <a:off x="7105650" y="4952999"/>
            <a:ext cx="4200525" cy="1419226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533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F692D854-AAB4-4F3C-AA82-F9082F47EB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95077B5-BE68-482D-803A-FCD454E50A5A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Conclusão e discussões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A114EB2-1BD7-4BBA-B2E9-621BA77CA762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674958-C609-4AAC-A195-6D4F458E1A6F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0B7DF8B-D3B9-4556-BC40-6905DBA1F2E5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81E6640-BF8C-4BF9-9184-025BA00A1A31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407E2F-3F8D-4D65-BF50-1F78B1BC3A1B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188C345-FC30-44FC-8F42-08E8A34B9EDB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CDF3035-86E1-455A-B029-4C7322B9D943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12 / 17</a:t>
            </a:r>
          </a:p>
        </p:txBody>
      </p:sp>
      <p:pic>
        <p:nvPicPr>
          <p:cNvPr id="37" name="Imagem 36"/>
          <p:cNvPicPr>
            <a:picLocks noChangeAspect="1"/>
          </p:cNvPicPr>
          <p:nvPr/>
        </p:nvPicPr>
        <p:blipFill>
          <a:blip r:embed="rId3"/>
          <a:srcRect l="1800" t="6800" r="21200" b="4600"/>
          <a:stretch/>
        </p:blipFill>
        <p:spPr>
          <a:xfrm>
            <a:off x="190500" y="819150"/>
            <a:ext cx="5810250" cy="4943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Conector reto 10">
            <a:extLst>
              <a:ext uri="{FF2B5EF4-FFF2-40B4-BE49-F238E27FC236}">
                <a16:creationId xmlns:a16="http://schemas.microsoft.com/office/drawing/2014/main" id="{C27F032E-B20D-4254-B1DB-0A28149912C5}"/>
              </a:ext>
            </a:extLst>
          </p:cNvPr>
          <p:cNvSpPr>
            <a:spLocks noGrp="1"/>
          </p:cNvSpPr>
          <p:nvPr/>
        </p:nvSpPr>
        <p:spPr>
          <a:xfrm>
            <a:off x="228600" y="5972175"/>
            <a:ext cx="257175" cy="0"/>
          </a:xfrm>
          <a:prstGeom prst="line">
            <a:avLst/>
          </a:prstGeom>
          <a:noFill/>
          <a:ln w="38100">
            <a:solidFill>
              <a:srgbClr val="1588B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12AAEA7-23BC-43A6-A400-BFB4480339C3}"/>
              </a:ext>
            </a:extLst>
          </p:cNvPr>
          <p:cNvSpPr>
            <a:spLocks noGrp="1"/>
          </p:cNvSpPr>
          <p:nvPr/>
        </p:nvSpPr>
        <p:spPr>
          <a:xfrm>
            <a:off x="571500" y="5848350"/>
            <a:ext cx="2495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Rio Paraíba do Sul</a:t>
            </a:r>
          </a:p>
        </p:txBody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8B150C0C-7CD8-4209-B56E-800E3E82A3B4}"/>
              </a:ext>
            </a:extLst>
          </p:cNvPr>
          <p:cNvSpPr>
            <a:spLocks noGrp="1"/>
          </p:cNvSpPr>
          <p:nvPr/>
        </p:nvSpPr>
        <p:spPr>
          <a:xfrm>
            <a:off x="3143250" y="5972175"/>
            <a:ext cx="257175" cy="0"/>
          </a:xfrm>
          <a:prstGeom prst="line">
            <a:avLst/>
          </a:prstGeom>
          <a:noFill/>
          <a:ln w="38100">
            <a:solidFill>
              <a:srgbClr val="D9177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0D119AB-05CB-4BC7-AFEB-130928FDCE6E}"/>
              </a:ext>
            </a:extLst>
          </p:cNvPr>
          <p:cNvSpPr>
            <a:spLocks noGrp="1"/>
          </p:cNvSpPr>
          <p:nvPr/>
        </p:nvSpPr>
        <p:spPr>
          <a:xfrm>
            <a:off x="3486150" y="5848350"/>
            <a:ext cx="2495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Limites municipais</a:t>
            </a: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184C863D-0488-49BB-B493-BAEF92D9A87E}"/>
              </a:ext>
            </a:extLst>
          </p:cNvPr>
          <p:cNvSpPr>
            <a:spLocks noGrp="1"/>
          </p:cNvSpPr>
          <p:nvPr/>
        </p:nvSpPr>
        <p:spPr>
          <a:xfrm>
            <a:off x="228600" y="6248400"/>
            <a:ext cx="257175" cy="0"/>
          </a:xfrm>
          <a:prstGeom prst="line">
            <a:avLst/>
          </a:prstGeom>
          <a:noFill/>
          <a:ln w="12383">
            <a:solidFill>
              <a:srgbClr val="808A83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660296D-BEB9-4094-AE0F-08F7ED789260}"/>
              </a:ext>
            </a:extLst>
          </p:cNvPr>
          <p:cNvSpPr>
            <a:spLocks noGrp="1"/>
          </p:cNvSpPr>
          <p:nvPr/>
        </p:nvSpPr>
        <p:spPr>
          <a:xfrm>
            <a:off x="571500" y="6124575"/>
            <a:ext cx="2495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Vias e feições da base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0DE20ACA-DD10-4CDB-BA5D-6C7A9F059F7D}"/>
              </a:ext>
            </a:extLst>
          </p:cNvPr>
          <p:cNvSpPr>
            <a:spLocks noGrp="1"/>
          </p:cNvSpPr>
          <p:nvPr/>
        </p:nvSpPr>
        <p:spPr>
          <a:xfrm>
            <a:off x="3143250" y="6248400"/>
            <a:ext cx="257175" cy="0"/>
          </a:xfrm>
          <a:prstGeom prst="line">
            <a:avLst/>
          </a:prstGeom>
          <a:noFill/>
          <a:ln w="12383">
            <a:solidFill>
              <a:srgbClr val="77BFD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145E214-45E9-4740-A825-9C0851C4F60B}"/>
              </a:ext>
            </a:extLst>
          </p:cNvPr>
          <p:cNvSpPr>
            <a:spLocks noGrp="1"/>
          </p:cNvSpPr>
          <p:nvPr/>
        </p:nvSpPr>
        <p:spPr>
          <a:xfrm>
            <a:off x="3486150" y="6124575"/>
            <a:ext cx="2495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Demais cursos d’água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0133B1E-2EB0-4BB5-B811-00FE45D5A004}"/>
              </a:ext>
            </a:extLst>
          </p:cNvPr>
          <p:cNvSpPr>
            <a:spLocks noGrp="1"/>
          </p:cNvSpPr>
          <p:nvPr/>
        </p:nvSpPr>
        <p:spPr>
          <a:xfrm>
            <a:off x="6372225" y="9810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9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F959F07-360A-4189-8F43-31361D6520C4}"/>
              </a:ext>
            </a:extLst>
          </p:cNvPr>
          <p:cNvSpPr>
            <a:spLocks noGrp="1"/>
          </p:cNvSpPr>
          <p:nvPr/>
        </p:nvSpPr>
        <p:spPr>
          <a:xfrm>
            <a:off x="6600825" y="981075"/>
            <a:ext cx="5334000" cy="1152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9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Atafona apresenta erosão costeira intensa e persistente.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0880132-3591-4B8E-BC9D-922C625FA20D}"/>
              </a:ext>
            </a:extLst>
          </p:cNvPr>
          <p:cNvSpPr>
            <a:spLocks noGrp="1"/>
          </p:cNvSpPr>
          <p:nvPr/>
        </p:nvSpPr>
        <p:spPr>
          <a:xfrm>
            <a:off x="6372225" y="218122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9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D75CDD6-48C1-44B0-B100-46551C313E69}"/>
              </a:ext>
            </a:extLst>
          </p:cNvPr>
          <p:cNvSpPr>
            <a:spLocks noGrp="1"/>
          </p:cNvSpPr>
          <p:nvPr/>
        </p:nvSpPr>
        <p:spPr>
          <a:xfrm>
            <a:off x="6600825" y="2181225"/>
            <a:ext cx="5334000" cy="1152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95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 </a:t>
            </a:r>
            <a:r>
              <a:rPr sz="195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configuração</a:t>
            </a:r>
            <a:r>
              <a:rPr sz="195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95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deltaica</a:t>
            </a:r>
            <a:r>
              <a:rPr sz="195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95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aumenta</a:t>
            </a:r>
            <a:r>
              <a:rPr sz="195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a </a:t>
            </a:r>
            <a:r>
              <a:rPr sz="195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sensibilidade</a:t>
            </a:r>
            <a:r>
              <a:rPr sz="195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95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às</a:t>
            </a:r>
            <a:r>
              <a:rPr sz="195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95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mudanças</a:t>
            </a:r>
            <a:r>
              <a:rPr sz="195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do </a:t>
            </a:r>
            <a:r>
              <a:rPr sz="195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balanço</a:t>
            </a:r>
            <a:r>
              <a:rPr sz="195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95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sedimentar</a:t>
            </a:r>
            <a:r>
              <a:rPr sz="195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15E6E85-76F3-4C54-A7C4-F0C56B14CD2B}"/>
              </a:ext>
            </a:extLst>
          </p:cNvPr>
          <p:cNvSpPr>
            <a:spLocks noGrp="1"/>
          </p:cNvSpPr>
          <p:nvPr/>
        </p:nvSpPr>
        <p:spPr>
          <a:xfrm>
            <a:off x="6372225" y="33813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9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67EF307-E532-483E-B7E1-11C4F3C5DC55}"/>
              </a:ext>
            </a:extLst>
          </p:cNvPr>
          <p:cNvSpPr>
            <a:spLocks noGrp="1"/>
          </p:cNvSpPr>
          <p:nvPr/>
        </p:nvSpPr>
        <p:spPr>
          <a:xfrm>
            <a:off x="6600825" y="3381375"/>
            <a:ext cx="5334000" cy="1152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9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 interpretação exige integrar descarga fluvial, batimetria, ondas e correntes.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74EACE5-97AB-46E5-85DD-2A432B0381EB}"/>
              </a:ext>
            </a:extLst>
          </p:cNvPr>
          <p:cNvSpPr>
            <a:spLocks noGrp="1"/>
          </p:cNvSpPr>
          <p:nvPr/>
        </p:nvSpPr>
        <p:spPr>
          <a:xfrm>
            <a:off x="6372225" y="458152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9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7E14499-B216-467C-9F9C-572F314C3978}"/>
              </a:ext>
            </a:extLst>
          </p:cNvPr>
          <p:cNvSpPr>
            <a:spLocks noGrp="1"/>
          </p:cNvSpPr>
          <p:nvPr/>
        </p:nvSpPr>
        <p:spPr>
          <a:xfrm>
            <a:off x="6600825" y="4581525"/>
            <a:ext cx="5334000" cy="1152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9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 ausência de medições locais limita conclusões sobre a circulação junto à foz.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37B19BF-F400-4834-AC33-A0BC79CF8A58}"/>
              </a:ext>
            </a:extLst>
          </p:cNvPr>
          <p:cNvSpPr>
            <a:spLocks noGrp="1"/>
          </p:cNvSpPr>
          <p:nvPr/>
        </p:nvSpPr>
        <p:spPr>
          <a:xfrm>
            <a:off x="238125" y="6324600"/>
            <a:ext cx="11430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material cartográfico do grupo. Complemento da legenda no slide 3.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FF94D15-F3D5-0C92-F7BE-D434B0D06F7E}"/>
              </a:ext>
            </a:extLst>
          </p:cNvPr>
          <p:cNvSpPr/>
          <p:nvPr/>
        </p:nvSpPr>
        <p:spPr>
          <a:xfrm>
            <a:off x="190500" y="5838824"/>
            <a:ext cx="4617474" cy="685801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BC4813FD-A136-1074-F343-ADCEC2577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636436" y="4164947"/>
            <a:ext cx="2999492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34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FD2FD73E-C2E3-4AE9-A29C-9E7861B04D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49AEE05-4DA8-470E-9F3C-07CAE3B0B140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Recomendações: alternativas de proteção costeira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749834E-3883-4F5A-A95A-A919AFE88796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CF0AC2E-58B8-4A34-8661-5C5A6529A6C2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3C38F32-B07E-48DA-82AF-808C30CF8D17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7604B8C-AF7E-446C-AC64-161CC9F1EF46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7C8F20C-E0A1-43DA-B547-269B0869B1DD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0E09F43-2599-4DDA-9C5D-C907287F0DF3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3ABFC15-B5ED-4CA1-AA2F-1647C7BAEA04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13 / 17</a:t>
            </a:r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0066" y="885825"/>
            <a:ext cx="7096042" cy="5191125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31E9BBD7-0475-4D43-ACED-A25C24E7FFB1}"/>
              </a:ext>
            </a:extLst>
          </p:cNvPr>
          <p:cNvSpPr>
            <a:spLocks noGrp="1"/>
          </p:cNvSpPr>
          <p:nvPr/>
        </p:nvSpPr>
        <p:spPr>
          <a:xfrm>
            <a:off x="7620000" y="971550"/>
            <a:ext cx="42291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Configurações (a), (b) e (c)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C0DB370-45D1-4D3D-90C6-28B94D4FFCC6}"/>
              </a:ext>
            </a:extLst>
          </p:cNvPr>
          <p:cNvSpPr>
            <a:spLocks noGrp="1"/>
          </p:cNvSpPr>
          <p:nvPr/>
        </p:nvSpPr>
        <p:spPr>
          <a:xfrm>
            <a:off x="7620000" y="1447800"/>
            <a:ext cx="4257675" cy="1228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Esquemas conceituais de espigões, quebra-mares destacados e seção de uma estrutura.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8F4B88F-2A03-415E-8F8A-24C2AE934BB4}"/>
              </a:ext>
            </a:extLst>
          </p:cNvPr>
          <p:cNvSpPr>
            <a:spLocks noGrp="1"/>
          </p:cNvSpPr>
          <p:nvPr/>
        </p:nvSpPr>
        <p:spPr>
          <a:xfrm>
            <a:off x="7620000" y="2914650"/>
            <a:ext cx="42576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02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Upham Beach, Flórida, EUA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128A7E9-DE5C-4A15-8094-C93E25850016}"/>
              </a:ext>
            </a:extLst>
          </p:cNvPr>
          <p:cNvSpPr>
            <a:spLocks noGrp="1"/>
          </p:cNvSpPr>
          <p:nvPr/>
        </p:nvSpPr>
        <p:spPr>
          <a:xfrm>
            <a:off x="7620000" y="3714750"/>
            <a:ext cx="4257675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Painel inferior (d): resposta prevista da linha de costa para espigões em T.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69A6466-8C6D-48FC-8947-8ABE370A6DFA}"/>
              </a:ext>
            </a:extLst>
          </p:cNvPr>
          <p:cNvSpPr>
            <a:spLocks noGrp="1"/>
          </p:cNvSpPr>
          <p:nvPr/>
        </p:nvSpPr>
        <p:spPr>
          <a:xfrm>
            <a:off x="7620000" y="5086350"/>
            <a:ext cx="4257675" cy="1352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6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Espigões e quebra-mares modificam o campo de ondas e a redistribuição dos sedimentos. A escolha depende da resposta esperada da linha de costa.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34356D4-8CF2-4019-A59B-CAA59D0B219E}"/>
              </a:ext>
            </a:extLst>
          </p:cNvPr>
          <p:cNvSpPr>
            <a:spLocks noGrp="1"/>
          </p:cNvSpPr>
          <p:nvPr/>
        </p:nvSpPr>
        <p:spPr>
          <a:xfrm>
            <a:off x="238125" y="6257925"/>
            <a:ext cx="70580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Fonte: ASBPA (2011), figura 1. Painel (d): CPE (2010).</a:t>
            </a:r>
          </a:p>
        </p:txBody>
      </p:sp>
    </p:spTree>
    <p:extLst>
      <p:ext uri="{BB962C8B-B14F-4D97-AF65-F5344CB8AC3E}">
        <p14:creationId xmlns:p14="http://schemas.microsoft.com/office/powerpoint/2010/main" val="1329702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6BDD49BE-C25B-4680-9327-10FE5AE78F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00767AC-43F4-4F2A-A5B8-98A4377F98AB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Recomendações: estudos necessários em Atafona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693800-06F8-4A71-B748-9F9BED7FAB5C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BECAED3-2490-4CCD-8CB6-D98563DF387C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303D38-68D4-4C6C-B4CB-79E26C8C6847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4902DE7-1805-45D6-A76B-7994AB91E55F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E52BB73-4F1F-4D81-AA7A-D5D4A6FD7A04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024A64A-509E-4B87-AD37-BE81DD1C106D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A6A2066-E382-4761-B7AF-7E94B8C2CED6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14 / 17</a:t>
            </a:r>
          </a:p>
        </p:txBody>
      </p:sp>
      <p:pic>
        <p:nvPicPr>
          <p:cNvPr id="35" name="Imagem 3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82282" y="904875"/>
            <a:ext cx="5331436" cy="2800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312483B1-CCB4-473E-B3CF-A99BB16442CB}"/>
              </a:ext>
            </a:extLst>
          </p:cNvPr>
          <p:cNvSpPr>
            <a:spLocks noGrp="1"/>
          </p:cNvSpPr>
          <p:nvPr/>
        </p:nvSpPr>
        <p:spPr>
          <a:xfrm>
            <a:off x="228600" y="3781425"/>
            <a:ext cx="56292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00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Holly Beach, Louisiana, EUA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F59F995-D2EA-4429-8323-532A68C0F60E}"/>
              </a:ext>
            </a:extLst>
          </p:cNvPr>
          <p:cNvSpPr>
            <a:spLocks noGrp="1"/>
          </p:cNvSpPr>
          <p:nvPr/>
        </p:nvSpPr>
        <p:spPr>
          <a:xfrm>
            <a:off x="228600" y="4124325"/>
            <a:ext cx="5715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Campo de quebra-mares destacados. Fonte: ASBPA (2011), fig. 2.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95313" y="4552950"/>
            <a:ext cx="2514600" cy="188595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988BB549-A987-4436-A54D-FC950928650A}"/>
              </a:ext>
            </a:extLst>
          </p:cNvPr>
          <p:cNvSpPr>
            <a:spLocks noGrp="1"/>
          </p:cNvSpPr>
          <p:nvPr/>
        </p:nvSpPr>
        <p:spPr>
          <a:xfrm>
            <a:off x="3705225" y="4581525"/>
            <a:ext cx="22574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1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Quebra-mar com blocos de concreto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9C21780-8537-4DF9-8C0E-6B13F817238C}"/>
              </a:ext>
            </a:extLst>
          </p:cNvPr>
          <p:cNvSpPr>
            <a:spLocks noGrp="1"/>
          </p:cNvSpPr>
          <p:nvPr/>
        </p:nvSpPr>
        <p:spPr>
          <a:xfrm>
            <a:off x="3705225" y="5314950"/>
            <a:ext cx="22574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Localização</a:t>
            </a:r>
            <a:r>
              <a:rPr sz="15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5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não</a:t>
            </a:r>
            <a:r>
              <a:rPr sz="15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500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confirmada</a:t>
            </a:r>
            <a:r>
              <a:rPr sz="1500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E25AA09-B54C-455B-9843-C0DE7AB3FAD6}"/>
              </a:ext>
            </a:extLst>
          </p:cNvPr>
          <p:cNvSpPr>
            <a:spLocks noGrp="1"/>
          </p:cNvSpPr>
          <p:nvPr/>
        </p:nvSpPr>
        <p:spPr>
          <a:xfrm>
            <a:off x="3705225" y="6143625"/>
            <a:ext cx="22574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lang="pt-BR" sz="1125" dirty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Fonte</a:t>
            </a:r>
            <a:r>
              <a:rPr sz="1125" b="0" dirty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: </a:t>
            </a:r>
            <a:r>
              <a:rPr sz="1125" b="0" dirty="0" err="1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Dreamstime</a:t>
            </a:r>
            <a:r>
              <a:rPr sz="1125" b="0" dirty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, </a:t>
            </a:r>
            <a:r>
              <a:rPr sz="1125" b="0" dirty="0" err="1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sem</a:t>
            </a:r>
            <a:r>
              <a:rPr sz="1125" b="0" dirty="0">
                <a:solidFill>
                  <a:srgbClr val="444444"/>
                </a:solidFill>
                <a:latin typeface="Latin Modern Sans"/>
                <a:ea typeface="Latin Modern Sans"/>
                <a:cs typeface="Latin Modern Sans"/>
              </a:rPr>
              <a:t> data.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CC83BE1-1B55-4DC4-88AB-1259502E8249}"/>
              </a:ext>
            </a:extLst>
          </p:cNvPr>
          <p:cNvSpPr>
            <a:spLocks noGrp="1"/>
          </p:cNvSpPr>
          <p:nvPr/>
        </p:nvSpPr>
        <p:spPr>
          <a:xfrm>
            <a:off x="6381750" y="1047750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A2B661E-113E-437E-88E9-5016A5E119FF}"/>
              </a:ext>
            </a:extLst>
          </p:cNvPr>
          <p:cNvSpPr>
            <a:spLocks noGrp="1"/>
          </p:cNvSpPr>
          <p:nvPr/>
        </p:nvSpPr>
        <p:spPr>
          <a:xfrm>
            <a:off x="6610350" y="1047750"/>
            <a:ext cx="52863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Obter séries locais de ondas, correntes e transporte sedimentar.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02CCBF8-9758-4F11-9D77-6AD0BCC3A314}"/>
              </a:ext>
            </a:extLst>
          </p:cNvPr>
          <p:cNvSpPr>
            <a:spLocks noGrp="1"/>
          </p:cNvSpPr>
          <p:nvPr/>
        </p:nvSpPr>
        <p:spPr>
          <a:xfrm>
            <a:off x="6381750" y="204787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90FEA2B-646D-4FA6-9E86-8FB85093D4DC}"/>
              </a:ext>
            </a:extLst>
          </p:cNvPr>
          <p:cNvSpPr>
            <a:spLocks noGrp="1"/>
          </p:cNvSpPr>
          <p:nvPr/>
        </p:nvSpPr>
        <p:spPr>
          <a:xfrm>
            <a:off x="6610350" y="2047875"/>
            <a:ext cx="52863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Modelar diferentes configurações e cenários de intervenção.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5B3ACAF-DAE3-4D9F-9C3A-7DDE82C9F727}"/>
              </a:ext>
            </a:extLst>
          </p:cNvPr>
          <p:cNvSpPr>
            <a:spLocks noGrp="1"/>
          </p:cNvSpPr>
          <p:nvPr/>
        </p:nvSpPr>
        <p:spPr>
          <a:xfrm>
            <a:off x="6381750" y="3048000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ADA6521-A71C-4223-9C58-6F0C23BCEF68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52863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Avaliar efeitos sobre praias e comunidades adjacentes.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48677E2-2CBD-4B17-B277-65B3957FD2AE}"/>
              </a:ext>
            </a:extLst>
          </p:cNvPr>
          <p:cNvSpPr>
            <a:spLocks noGrp="1"/>
          </p:cNvSpPr>
          <p:nvPr/>
        </p:nvSpPr>
        <p:spPr>
          <a:xfrm>
            <a:off x="6381750" y="4048125"/>
            <a:ext cx="171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•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CCBE45C-070F-4518-A184-AA232DC51A48}"/>
              </a:ext>
            </a:extLst>
          </p:cNvPr>
          <p:cNvSpPr>
            <a:spLocks noGrp="1"/>
          </p:cNvSpPr>
          <p:nvPr/>
        </p:nvSpPr>
        <p:spPr>
          <a:xfrm>
            <a:off x="6610350" y="4048125"/>
            <a:ext cx="52863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87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Implantar</a:t>
            </a:r>
            <a:r>
              <a:rPr sz="187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monitoramento</a:t>
            </a:r>
            <a:r>
              <a:rPr sz="187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antes, </a:t>
            </a:r>
            <a:r>
              <a:rPr sz="187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durante</a:t>
            </a:r>
            <a:r>
              <a:rPr sz="187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e </a:t>
            </a:r>
            <a:r>
              <a:rPr sz="187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depois</a:t>
            </a:r>
            <a:r>
              <a:rPr sz="187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de </a:t>
            </a:r>
            <a:r>
              <a:rPr sz="187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qualquer</a:t>
            </a:r>
            <a:r>
              <a:rPr sz="187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87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obra</a:t>
            </a:r>
            <a:r>
              <a:rPr sz="187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E0B7A4A-AE66-47A9-8C71-14B244E0F8B5}"/>
              </a:ext>
            </a:extLst>
          </p:cNvPr>
          <p:cNvSpPr>
            <a:spLocks noGrp="1"/>
          </p:cNvSpPr>
          <p:nvPr/>
        </p:nvSpPr>
        <p:spPr>
          <a:xfrm>
            <a:off x="6381750" y="5410200"/>
            <a:ext cx="551497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Estruturas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costeiras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constituem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alternativas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de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estudo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, e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não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uma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solução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previamente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definida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 para </a:t>
            </a:r>
            <a:r>
              <a:rPr sz="1725" b="0" dirty="0" err="1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Atafona</a:t>
            </a:r>
            <a:r>
              <a:rPr sz="1725" b="0" dirty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.</a:t>
            </a:r>
          </a:p>
        </p:txBody>
      </p:sp>
      <p:pic>
        <p:nvPicPr>
          <p:cNvPr id="10" name="Atafona">
            <a:hlinkClick r:id="" action="ppaction://media"/>
            <a:extLst>
              <a:ext uri="{FF2B5EF4-FFF2-40B4-BE49-F238E27FC236}">
                <a16:creationId xmlns:a16="http://schemas.microsoft.com/office/drawing/2014/main" id="{95B722B3-0B54-6482-5A90-CB71627539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1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FF384391-A63C-484E-A013-706B6AC4C8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03CCDC-7F72-4F08-AE06-8B328EF8D5E5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Agradecimentos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7646F4F-8D88-4575-B1DD-3E6367CB1748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BB4C35C-64A8-434B-9712-7EEA2AA779F6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24EDC71-EF4E-48A3-B504-776776C150DD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7E665D6-EA77-4202-A8EE-C600972E2A82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1465C15-4CD2-4A0F-86A4-CE8FE8866C4E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884BA32-4269-474C-9C14-6BE663DB63D9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055F9B3-9A80-484C-B36B-6EDDC59D5EDC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15 / 17</a:t>
            </a: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6733" y="847725"/>
            <a:ext cx="10278533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37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5530862F-F043-458A-A24A-9755E1C6AC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416562A-2560-4824-B512-412F3AC3D0A6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Referências I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582C4E-22E6-47D1-8F8E-546A51B2844D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9F92349-7D9A-4A38-A3AB-045FF7F1C7B2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F521F2-F0A3-4FC8-877E-D286F0DC58D5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EE5F6F1-9CDF-4F7C-9098-2939C393B4B2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CA59E39-6420-4B82-A489-38F5D595A935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2CBBB80-D206-4EE2-8585-B9E1C7464B5F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D6274CB-2426-41D2-98F9-905215590E80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16 / 17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AAFA65E-09DD-4DBC-A872-EE5FB7F59FCE}"/>
              </a:ext>
            </a:extLst>
          </p:cNvPr>
          <p:cNvSpPr>
            <a:spLocks noGrp="1"/>
          </p:cNvSpPr>
          <p:nvPr/>
        </p:nvSpPr>
        <p:spPr>
          <a:xfrm>
            <a:off x="257175" y="914400"/>
            <a:ext cx="1166812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ASBPA (2011). Reintroducing Structures for Erosion Control on the Open Coasts of America. White paper.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9CA7507-A8FF-4B1B-ADA8-415C413FC11E}"/>
              </a:ext>
            </a:extLst>
          </p:cNvPr>
          <p:cNvSpPr>
            <a:spLocks noGrp="1"/>
          </p:cNvSpPr>
          <p:nvPr/>
        </p:nvSpPr>
        <p:spPr>
          <a:xfrm>
            <a:off x="257175" y="1743075"/>
            <a:ext cx="11668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https://asbpa.org/wp-content/uploads/2016/04/Reintroducing-Structures-for-Erosion-Control_FINAL.pdf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1C94C8-D157-48BE-9006-31528EC3AEF0}"/>
              </a:ext>
            </a:extLst>
          </p:cNvPr>
          <p:cNvSpPr>
            <a:spLocks noGrp="1"/>
          </p:cNvSpPr>
          <p:nvPr/>
        </p:nvSpPr>
        <p:spPr>
          <a:xfrm>
            <a:off x="257175" y="2314575"/>
            <a:ext cx="1166812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BRISO, C. B. (2021). O mar está engolindo esta cidade brasileira. National Geographic Brasil.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6B7AB9B-6432-4BF5-A9CA-5A34CDB8D800}"/>
              </a:ext>
            </a:extLst>
          </p:cNvPr>
          <p:cNvSpPr>
            <a:spLocks noGrp="1"/>
          </p:cNvSpPr>
          <p:nvPr/>
        </p:nvSpPr>
        <p:spPr>
          <a:xfrm>
            <a:off x="257175" y="3143250"/>
            <a:ext cx="11668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https://www.nationalgeographicbrasil.com/meio-ambiente/2021/10/atafona-rio-de-janeiro-mar-esta-engolindo-cidade-brasileira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94BCF50-FA47-49A5-B582-CF1AA633C555}"/>
              </a:ext>
            </a:extLst>
          </p:cNvPr>
          <p:cNvSpPr>
            <a:spLocks noGrp="1"/>
          </p:cNvSpPr>
          <p:nvPr/>
        </p:nvSpPr>
        <p:spPr>
          <a:xfrm>
            <a:off x="257175" y="3714750"/>
            <a:ext cx="1166812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DREAMSTIME. Core-Loc breakwater units. Sem data. Crédito informado na apresentação original.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C26DCBF-688F-4B98-B0E7-5DF006F07BD1}"/>
              </a:ext>
            </a:extLst>
          </p:cNvPr>
          <p:cNvSpPr>
            <a:spLocks noGrp="1"/>
          </p:cNvSpPr>
          <p:nvPr/>
        </p:nvSpPr>
        <p:spPr>
          <a:xfrm>
            <a:off x="257175" y="4543425"/>
            <a:ext cx="11668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https://www.dreamstime.com/core-loc-breakwater-units-image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D928A2A-29AB-4ED9-A509-7AD2C8B70738}"/>
              </a:ext>
            </a:extLst>
          </p:cNvPr>
          <p:cNvSpPr>
            <a:spLocks noGrp="1"/>
          </p:cNvSpPr>
          <p:nvPr/>
        </p:nvSpPr>
        <p:spPr>
          <a:xfrm>
            <a:off x="257175" y="5114925"/>
            <a:ext cx="1166812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575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MACHADO, B. A. et al. (2024). Dinâmica da linha de costa no flanco meridional do delta do rio Paraíba do Sul entre 1954–2018: considerações sobre o fenômeno da erosão costeira em Atafona (RJ). Revista Brasileira de Geomorfologia, 25(1). DOI: 10.20502/rbgeomorfologia.v25i1.2272.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1058190-085F-436F-8F43-A8A2093FD273}"/>
              </a:ext>
            </a:extLst>
          </p:cNvPr>
          <p:cNvSpPr>
            <a:spLocks noGrp="1"/>
          </p:cNvSpPr>
          <p:nvPr/>
        </p:nvSpPr>
        <p:spPr>
          <a:xfrm>
            <a:off x="257175" y="5943600"/>
            <a:ext cx="11668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20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https://rbgeomorfologia.org.br/rbg/article/view/2272</a:t>
            </a:r>
          </a:p>
        </p:txBody>
      </p:sp>
    </p:spTree>
    <p:extLst>
      <p:ext uri="{BB962C8B-B14F-4D97-AF65-F5344CB8AC3E}">
        <p14:creationId xmlns:p14="http://schemas.microsoft.com/office/powerpoint/2010/main" val="1801749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52AADF0E-50DC-4916-B526-1422CA9877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5AF53D4-1383-490F-B48C-152EED871D00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11715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25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Referências II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853824B-74E0-4CEB-A468-0783D88E5375}"/>
              </a:ext>
            </a:extLst>
          </p:cNvPr>
          <p:cNvSpPr>
            <a:spLocks noGrp="1"/>
          </p:cNvSpPr>
          <p:nvPr/>
        </p:nvSpPr>
        <p:spPr>
          <a:xfrm>
            <a:off x="0" y="6638925"/>
            <a:ext cx="4048125" cy="219075"/>
          </a:xfrm>
          <a:prstGeom prst="rect">
            <a:avLst/>
          </a:prstGeom>
          <a:solidFill>
            <a:srgbClr val="1B195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5CC8319-4DFB-46A6-B418-89D6CCE896A6}"/>
              </a:ext>
            </a:extLst>
          </p:cNvPr>
          <p:cNvSpPr>
            <a:spLocks noGrp="1"/>
          </p:cNvSpPr>
          <p:nvPr/>
        </p:nvSpPr>
        <p:spPr>
          <a:xfrm>
            <a:off x="4048125" y="6638925"/>
            <a:ext cx="4067175" cy="219075"/>
          </a:xfrm>
          <a:prstGeom prst="rect">
            <a:avLst/>
          </a:prstGeom>
          <a:solidFill>
            <a:srgbClr val="27248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7EE9CBA-9A80-401D-AE7D-251CC4FB1F48}"/>
              </a:ext>
            </a:extLst>
          </p:cNvPr>
          <p:cNvSpPr>
            <a:spLocks noGrp="1"/>
          </p:cNvSpPr>
          <p:nvPr/>
        </p:nvSpPr>
        <p:spPr>
          <a:xfrm>
            <a:off x="8115300" y="6638925"/>
            <a:ext cx="4076700" cy="219075"/>
          </a:xfrm>
          <a:prstGeom prst="rect">
            <a:avLst/>
          </a:prstGeom>
          <a:solidFill>
            <a:srgbClr val="3431A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DA6E651-3DB6-4714-882C-1EEC35BCD2A6}"/>
              </a:ext>
            </a:extLst>
          </p:cNvPr>
          <p:cNvSpPr>
            <a:spLocks noGrp="1"/>
          </p:cNvSpPr>
          <p:nvPr/>
        </p:nvSpPr>
        <p:spPr>
          <a:xfrm>
            <a:off x="114300" y="6657975"/>
            <a:ext cx="38385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Carneiro, Gayani e Elsas (UERJ)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2B9C95-F136-4149-B572-CC547F54770E}"/>
              </a:ext>
            </a:extLst>
          </p:cNvPr>
          <p:cNvSpPr>
            <a:spLocks noGrp="1"/>
          </p:cNvSpPr>
          <p:nvPr/>
        </p:nvSpPr>
        <p:spPr>
          <a:xfrm>
            <a:off x="4048125" y="6657975"/>
            <a:ext cx="4067175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Sem. Cartografia 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94316CC-153D-4050-9863-11458EF8A77E}"/>
              </a:ext>
            </a:extLst>
          </p:cNvPr>
          <p:cNvSpPr>
            <a:spLocks noGrp="1"/>
          </p:cNvSpPr>
          <p:nvPr/>
        </p:nvSpPr>
        <p:spPr>
          <a:xfrm>
            <a:off x="8172450" y="6657975"/>
            <a:ext cx="152400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2026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B88718C-7849-43E9-9F9B-6297ABAC3772}"/>
              </a:ext>
            </a:extLst>
          </p:cNvPr>
          <p:cNvSpPr>
            <a:spLocks noGrp="1"/>
          </p:cNvSpPr>
          <p:nvPr/>
        </p:nvSpPr>
        <p:spPr>
          <a:xfrm>
            <a:off x="10572750" y="6657975"/>
            <a:ext cx="14668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050" b="0">
                <a:solidFill>
                  <a:srgbClr val="FFFFFF"/>
                </a:solidFill>
                <a:latin typeface="Latin Modern Sans"/>
                <a:ea typeface="Latin Modern Sans"/>
                <a:cs typeface="Latin Modern Sans"/>
              </a:rPr>
              <a:t>17 / 17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1D7EDD5-6BE9-4DD0-A83C-454B776C3415}"/>
              </a:ext>
            </a:extLst>
          </p:cNvPr>
          <p:cNvSpPr>
            <a:spLocks noGrp="1"/>
          </p:cNvSpPr>
          <p:nvPr/>
        </p:nvSpPr>
        <p:spPr>
          <a:xfrm>
            <a:off x="257175" y="1000125"/>
            <a:ext cx="116681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6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MELLO, G. S.; MACHADO, B. A.; ROCHA, T. B. (2018). Avaliação dos impactos da erosão costeira no distrito de Atafona (RJ), entre os anos de 2005 e 2016. Anais do XII Simpósio Nacional de Geomorfologia, Crato, CE.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0620FAE-0482-48B4-934A-052CCE5C4185}"/>
              </a:ext>
            </a:extLst>
          </p:cNvPr>
          <p:cNvSpPr>
            <a:spLocks noGrp="1"/>
          </p:cNvSpPr>
          <p:nvPr/>
        </p:nvSpPr>
        <p:spPr>
          <a:xfrm>
            <a:off x="257175" y="2181225"/>
            <a:ext cx="11668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3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https://www.sinageo.org.br/2018/trabalhos/2/2-298-1803.html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FCB6BA3-32D4-4F88-9204-D6D82207AF49}"/>
              </a:ext>
            </a:extLst>
          </p:cNvPr>
          <p:cNvSpPr>
            <a:spLocks noGrp="1"/>
          </p:cNvSpPr>
          <p:nvPr/>
        </p:nvSpPr>
        <p:spPr>
          <a:xfrm>
            <a:off x="257175" y="2743200"/>
            <a:ext cx="116681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6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SISTEMA DE MONITORAMENTO DA COSTA BRASILEIRA (SiMCosta). Portal de Dados Meteoceanográficos. CEOCEAN, Instituto de Oceanografia, Universidade Federal do Rio Grande (FURG). 2026.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3C1DC3E-BE8A-45C5-9F33-68EEB3C3D629}"/>
              </a:ext>
            </a:extLst>
          </p:cNvPr>
          <p:cNvSpPr>
            <a:spLocks noGrp="1"/>
          </p:cNvSpPr>
          <p:nvPr/>
        </p:nvSpPr>
        <p:spPr>
          <a:xfrm>
            <a:off x="257175" y="3924300"/>
            <a:ext cx="11668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3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https://simcosta.furg.br/downloads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B2AFFE0-7A74-4FAB-A6DE-54EE74B89E6E}"/>
              </a:ext>
            </a:extLst>
          </p:cNvPr>
          <p:cNvSpPr>
            <a:spLocks noGrp="1"/>
          </p:cNvSpPr>
          <p:nvPr/>
        </p:nvSpPr>
        <p:spPr>
          <a:xfrm>
            <a:off x="257175" y="4486275"/>
            <a:ext cx="116681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650" b="0">
                <a:solidFill>
                  <a:srgbClr val="181818"/>
                </a:solidFill>
                <a:latin typeface="Latin Modern Sans"/>
                <a:ea typeface="Latin Modern Sans"/>
                <a:cs typeface="Latin Modern Sans"/>
              </a:rPr>
              <a:t>VASCONCELOS, S. C. et al. (2021). Dinâmica erosiva e progradacional das praias de Atafona e Grussaí (RJ), 1954–2019. Revista da ANPEGE, 17(33), 162–182. DOI: 10.5418/ra2021.v17i33.11946.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9178464-0A12-4872-9795-99BA39CB4DB7}"/>
              </a:ext>
            </a:extLst>
          </p:cNvPr>
          <p:cNvSpPr>
            <a:spLocks noGrp="1"/>
          </p:cNvSpPr>
          <p:nvPr/>
        </p:nvSpPr>
        <p:spPr>
          <a:xfrm>
            <a:off x="257175" y="5667375"/>
            <a:ext cx="11668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defRPr>
            </a:pPr>
            <a:r>
              <a:rPr sz="1350" b="0">
                <a:solidFill>
                  <a:srgbClr val="3431AD"/>
                </a:solidFill>
                <a:latin typeface="Latin Modern Sans"/>
                <a:ea typeface="Latin Modern Sans"/>
                <a:cs typeface="Latin Modern Sans"/>
              </a:rPr>
              <a:t>https://ojs.ufgd.edu.br/anpege/article/view/11946</a:t>
            </a:r>
          </a:p>
        </p:txBody>
      </p:sp>
    </p:spTree>
    <p:extLst>
      <p:ext uri="{BB962C8B-B14F-4D97-AF65-F5344CB8AC3E}">
        <p14:creationId xmlns:p14="http://schemas.microsoft.com/office/powerpoint/2010/main" val="5562227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2395</Words>
  <Application>Microsoft Office PowerPoint</Application>
  <DocSecurity>0</DocSecurity>
  <PresentationFormat>Widescreen</PresentationFormat>
  <Paragraphs>283</Paragraphs>
  <Slides>17</Slides>
  <Notes>17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Aptos</vt:lpstr>
      <vt:lpstr>Latin Modern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Jose Mauro Elsas</cp:lastModifiedBy>
  <cp:revision>4</cp:revision>
  <dcterms:created xsi:type="dcterms:W3CDTF">2026-09-30T17:28:47Z</dcterms:created>
  <dcterms:modified xsi:type="dcterms:W3CDTF">2026-09-30T22:20:01Z</dcterms:modified>
</cp:coreProperties>
</file>