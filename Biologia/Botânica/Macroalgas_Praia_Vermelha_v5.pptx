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Capa. José. Nomes completos, docente e data do campo ainda a confirmar. Praia Vermelha informada pelo coordenador, em divergência com Praia da Urca no roteiro. Duração total 20 minutos. As identificações em gênero são preliminares.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Estrutura do seminário: Introdução, Objetivos, Metodologia, Resultados, Discussão e Conclusão. Apresentação de aproximadamente 20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José. Cerca de 1 minuto. Fonte: roteiro da aula prática, seção 3.1, e observações do grupo. Apresentar macroalgas, ambiente e propósito do seminário.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José. 1,5 min. Fotografias do novo lote, vistas gerais do campo. Fonte teórica: roteiro seção 3.1. Apresentar substrato rochoso, umidade e tempo de emersão, dessecação, temperatura, luz e ondas. Não inferir altura da maré nem delimitar zonas apenas pelas vistas gerais.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Ricardo. 1 min. Fonte: roteiro seção 2. Relacionar observação de campo, morfologia e interpretação ecológica.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Ricardo. 1,5 min. Fonte: roteiro seção 3.1. Supralitoral acima da maré alta recebe spray. Médiolitoral alterna imersão e emersão. Infralitoral abaixo da maré baixa é predominantemente submerso. Limites variáveis com topografia e ondas.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Parte 3 com responsável ainda a definir. 1 min. Fonte: relato do coordenador e textos do grupo. Confirmados observação, registro fotográfico e descrição. Confirmar data do campo, estado da maré, trecho e atividades de laboratório. Não assumir coleta.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Israel. 1,5 min. Fonte: Zonação.pdf p.1. Fotografias correspondentes enviadas no novo lote. O grupo classificou a região como supralitoral. A posição exata e a identidade das crostas precisam de confirmação. A fotografia não delimita uma zona por si só.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Israel. 1,5 min. Fonte: Zonação.pdf p.2 e fotos do quarto lote, imagens 0 e 7. Os registros mostram distribuição irregular de cobertura verde e avermelhada nas superfícies. O grupo classifica o trecho como médiolitoral. Os limites exatos das zonas exigem conferência de maré e posição. Comparação qualitativa, sem contagem de espécies ou porcentagem de cobertura.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Israel. 1 min. Fonte: Zonação.pdf p.3. A nova foto mostra uma vista de superfície do ambiente, não uma amostra ou delimitação do infralitoral. O grupo relata continuidade e maior cobertura aparente abaixo da água, sem documentação subaquática. Não inferir forma de talos nem diversidade pela vista geral. Limitações: ouriços e ausência de câmera adequada.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Giulia. 1,5 min. Fonte: Resultados - macroalgas.docx e novas fotos. Descrições do grupo: foliáceos e filamentosos. Apenas identificação preliminar de Ulva, sem espécie. Cor isolada não confirma táxon.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Giulia. 1 min. Fonte: fotografia 2 do novo lote. Novo detalhe morfológico em comparação ao primeiro deck. Não atribuir gênero à estrutura vesicular sem confirmação. Descrever forma, cor e associação espacial. Não equivale à descoberta de nova espécie.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Giulia. 1,5 min. Fonte: Resultados - macroalgas.docx e novas fotografias 7 e 13. Fotografias destacam diversidade morfológica aparente, sem confirmação de gêneros ou espécies.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Giulia. 1 min. Fonte: novas fotografias 4 e 5. Fotos semelhantes mostram detalhe complementar. Calcificação citada pelo grupo não pode ser provada somente pelas fotos. Não atribuir a crosta a gênero ou espécie.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Giulia. 1 min. Fonte: Resultados - macroalgas.docx e nova fotografia 6. O grupo relatou presença no médiolitoral mais próximo do mar. Não afirmar retenção de água ou resistência por calcificação sem evidência.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Miguel. 1 min. Fonte: fotografias novas 8 e 10. Mostrar que a comunidade inclui outros organismos e estruturas. Não identificar essas estruturas como macroalgas. Identidade dos organismos associados a confirmar.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Miguel. 1,5 min. Fontes: roteiro seções 3.1/3.2, Discussão e conclusão. Relações funcionais plausíveis: talos flexíveis deformam com fluxo, crostas próximas ao substrato reduzem exposição ao fluxo. Umidade e submersão contribuem para distribuição. Essas hipóteses não foram testadas. Não afirmar calcificação necessariamente como proteção contra desidratação.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Miguel. 1 min. Fontes: textos do grupo e registros. Padrão qualitativo, sem densidade ou riqueza medidas. Infralitoral menos documentado.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Fontes fornecidas pelo grupo: roteiro da aula prática, Zonação.pdf, Resultados - macroalgas.docx e Discussão e conclusão.docx. Fotos do grupo, autoria individual a confirmar. Logo fornecido pelo coordenador. Confirmar autoria/data do roteiro para referência final. Nas notas de cada slide estão as fontes e ressalvas.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Encerramento. Agradecer a atenção e abrir espaço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64D84185-DCF9-47BB-A2EA-E443DE29545B}"/>
              </a:ext>
            </a:extLst>
          </p:cNvPr>
          <p:cNvSpPr>
            <a:spLocks noGrp="1"/>
          </p:cNvSpPr>
          <p:nvPr/>
        </p:nvSpPr>
        <p:spPr>
          <a:xfrm>
            <a:off x="5791200" y="22098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FEF22F0F-3D2D-4118-BC24-762686320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4FA0C028-FE78-40EC-A8CC-6485124290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rule">
            <a:extLst>
              <a:ext uri="{FF2B5EF4-FFF2-40B4-BE49-F238E27FC236}">
                <a16:creationId xmlns:a16="http://schemas.microsoft.com/office/drawing/2014/main" id="{268EC77F-1768-48C2-AB8E-55F8A393242E}"/>
              </a:ext>
            </a:extLst>
          </p:cNvPr>
          <p:cNvSpPr>
            <a:spLocks noGrp="1"/>
          </p:cNvSpPr>
          <p:nvPr/>
        </p:nvSpPr>
        <p:spPr>
          <a:xfrm>
            <a:off x="5791200" y="24765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D174E222-02E5-405E-9CA8-E2DBF7218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0B045B24-C213-4E80-8D4F-D405A193A582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D3BFFA6-A403-49CD-9EE6-C2773B203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AABB5FE0-B13C-4D75-93C9-0C7E6DD329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 rule">
            <a:extLst>
              <a:ext uri="{FF2B5EF4-FFF2-40B4-BE49-F238E27FC236}">
                <a16:creationId xmlns:a16="http://schemas.microsoft.com/office/drawing/2014/main" id="{22BA9622-39BB-421F-A816-DA669AE37E67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E6C52C6-3BB7-4398-8FD3-F613A5A45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D0DBF76A-C628-419C-8916-A23F9F4E08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4" name="Right column">
            <a:extLst>
              <a:ext uri="{FF2B5EF4-FFF2-40B4-BE49-F238E27FC236}">
                <a16:creationId xmlns:a16="http://schemas.microsoft.com/office/drawing/2014/main" id="{115A27AF-87AD-4BC3-B551-38134EA9996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F29CB5CC-10CD-45F2-B6E4-AA8885EF05F7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C09C1F9-F2D6-4F5B-BD84-4C3931AFD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798E1734-2E63-4579-9E44-7D2AC1C12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F0521D3-D4A7-4D37-9F5C-8CCDBAE28B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333399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29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Macroalgas da Praia Vermelha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8FEBB4C-838E-4183-B3DC-849E0A5A0F1B}"/>
              </a:ext>
            </a:extLst>
          </p:cNvPr>
          <p:cNvSpPr>
            <a:spLocks noGrp="1"/>
          </p:cNvSpPr>
          <p:nvPr/>
        </p:nvSpPr>
        <p:spPr>
          <a:xfrm>
            <a:off x="0" y="6496050"/>
            <a:ext cx="2428875" cy="361950"/>
          </a:xfrm>
          <a:prstGeom prst="rect">
            <a:avLst/>
          </a:prstGeom>
          <a:solidFill>
            <a:srgbClr val="252572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UERJ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1074258-77EF-457D-800E-BFA1490CE561}"/>
              </a:ext>
            </a:extLst>
          </p:cNvPr>
          <p:cNvSpPr>
            <a:spLocks noGrp="1"/>
          </p:cNvSpPr>
          <p:nvPr/>
        </p:nvSpPr>
        <p:spPr>
          <a:xfrm>
            <a:off x="2428875" y="6496050"/>
            <a:ext cx="6953250" cy="361950"/>
          </a:xfrm>
          <a:prstGeom prst="rect">
            <a:avLst/>
          </a:prstGeom>
          <a:solidFill>
            <a:srgbClr val="333399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Macroalgas da Praia Vermelha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C5A61E2-AF86-470F-96A1-CA18ADAD765E}"/>
              </a:ext>
            </a:extLst>
          </p:cNvPr>
          <p:cNvSpPr>
            <a:spLocks noGrp="1"/>
          </p:cNvSpPr>
          <p:nvPr/>
        </p:nvSpPr>
        <p:spPr>
          <a:xfrm>
            <a:off x="9382125" y="6496050"/>
            <a:ext cx="2809875" cy="361950"/>
          </a:xfrm>
          <a:prstGeom prst="rect">
            <a:avLst/>
          </a:prstGeom>
          <a:solidFill>
            <a:srgbClr val="5151AE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Seminário     1/20</a:t>
            </a:r>
          </a:p>
        </p:txBody>
      </p:sp>
      <p:pic>
        <p:nvPicPr>
          <p:cNvPr id="14" name="Imagem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9150" y="1219200"/>
            <a:ext cx="1524000" cy="1524000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19637CB8-36B1-4BD3-8790-E2958D48E77A}"/>
              </a:ext>
            </a:extLst>
          </p:cNvPr>
          <p:cNvSpPr>
            <a:spLocks noGrp="1"/>
          </p:cNvSpPr>
          <p:nvPr/>
        </p:nvSpPr>
        <p:spPr>
          <a:xfrm>
            <a:off x="2724150" y="1581150"/>
            <a:ext cx="857250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33399"/>
                </a:solidFill>
                <a:latin typeface="Arial"/>
                <a:ea typeface="Arial"/>
                <a:cs typeface="Arial"/>
              </a:rPr>
              <a:t>Universidade do Estado do Rio de Janeiro</a:t>
            </a:r>
          </a:p>
          <a:p>
            <a:pPr>
              <a:defRPr sz="2175" b="1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33399"/>
                </a:solidFill>
                <a:latin typeface="Arial"/>
                <a:ea typeface="Arial"/>
                <a:cs typeface="Arial"/>
              </a:rPr>
              <a:t>Fundamentos de Biologia III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B8FCB00-53C6-40C5-916A-358C6F5759A6}"/>
              </a:ext>
            </a:extLst>
          </p:cNvPr>
          <p:cNvSpPr>
            <a:spLocks noGrp="1"/>
          </p:cNvSpPr>
          <p:nvPr/>
        </p:nvSpPr>
        <p:spPr>
          <a:xfrm>
            <a:off x="838200" y="3190875"/>
            <a:ext cx="10477500" cy="1295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75" b="1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333399"/>
                </a:solidFill>
                <a:latin typeface="Arial"/>
                <a:ea typeface="Arial"/>
                <a:cs typeface="Arial"/>
              </a:rPr>
              <a:t>Diversidade, zonação vertical</a:t>
            </a:r>
          </a:p>
          <a:p>
            <a:pPr>
              <a:defRPr sz="3675" b="1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333399"/>
                </a:solidFill>
                <a:latin typeface="Arial"/>
                <a:ea typeface="Arial"/>
                <a:cs typeface="Arial"/>
              </a:rPr>
              <a:t>e morfologia do talo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0A764C7-3278-47F8-BCD9-8384DA139A53}"/>
              </a:ext>
            </a:extLst>
          </p:cNvPr>
          <p:cNvSpPr>
            <a:spLocks noGrp="1"/>
          </p:cNvSpPr>
          <p:nvPr/>
        </p:nvSpPr>
        <p:spPr>
          <a:xfrm>
            <a:off x="866775" y="5010150"/>
            <a:ext cx="10477500" cy="752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Seminário de campo e laboratório</a:t>
            </a:r>
          </a:p>
          <a:p>
            <a:pPr>
              <a:defRPr sz="202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Grupo: nomes completos a confirmar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29CAF42-018D-46A0-9E41-36C1908D8FD4}"/>
              </a:ext>
            </a:extLst>
          </p:cNvPr>
          <p:cNvSpPr>
            <a:spLocks noGrp="1"/>
          </p:cNvSpPr>
          <p:nvPr/>
        </p:nvSpPr>
        <p:spPr>
          <a:xfrm>
            <a:off x="866775" y="5972175"/>
            <a:ext cx="10477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Outubro de 2026</a:t>
            </a:r>
          </a:p>
        </p:txBody>
      </p:sp>
    </p:spTree>
    <p:extLst>
      <p:ext uri="{BB962C8B-B14F-4D97-AF65-F5344CB8AC3E}">
        <p14:creationId xmlns:p14="http://schemas.microsoft.com/office/powerpoint/2010/main" val="701317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D75431CD-FA7D-4910-A9F8-86EC3B43CC7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333399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29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Sumário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6BFB43F-2897-4A19-8E34-6A3EAB64EFE6}"/>
              </a:ext>
            </a:extLst>
          </p:cNvPr>
          <p:cNvSpPr>
            <a:spLocks noGrp="1"/>
          </p:cNvSpPr>
          <p:nvPr/>
        </p:nvSpPr>
        <p:spPr>
          <a:xfrm>
            <a:off x="0" y="6496050"/>
            <a:ext cx="2428875" cy="361950"/>
          </a:xfrm>
          <a:prstGeom prst="rect">
            <a:avLst/>
          </a:prstGeom>
          <a:solidFill>
            <a:srgbClr val="252572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UERJ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6FE304E-AC08-49E3-9916-12EC906BBC40}"/>
              </a:ext>
            </a:extLst>
          </p:cNvPr>
          <p:cNvSpPr>
            <a:spLocks noGrp="1"/>
          </p:cNvSpPr>
          <p:nvPr/>
        </p:nvSpPr>
        <p:spPr>
          <a:xfrm>
            <a:off x="2428875" y="6496050"/>
            <a:ext cx="6953250" cy="361950"/>
          </a:xfrm>
          <a:prstGeom prst="rect">
            <a:avLst/>
          </a:prstGeom>
          <a:solidFill>
            <a:srgbClr val="333399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Macroalgas da Praia Vermelha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8F924C6-D6D9-4393-A1AF-EB9922DC07AC}"/>
              </a:ext>
            </a:extLst>
          </p:cNvPr>
          <p:cNvSpPr>
            <a:spLocks noGrp="1"/>
          </p:cNvSpPr>
          <p:nvPr/>
        </p:nvSpPr>
        <p:spPr>
          <a:xfrm>
            <a:off x="9382125" y="6496050"/>
            <a:ext cx="2809875" cy="361950"/>
          </a:xfrm>
          <a:prstGeom prst="rect">
            <a:avLst/>
          </a:prstGeom>
          <a:solidFill>
            <a:srgbClr val="5151AE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Roteiro     2/20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B2E8706-C3EB-4B61-9186-C23CE68A4A32}"/>
              </a:ext>
            </a:extLst>
          </p:cNvPr>
          <p:cNvSpPr>
            <a:spLocks noGrp="1"/>
          </p:cNvSpPr>
          <p:nvPr/>
        </p:nvSpPr>
        <p:spPr>
          <a:xfrm>
            <a:off x="914400" y="1285875"/>
            <a:ext cx="10287000" cy="561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33399"/>
                </a:solidFill>
                <a:latin typeface="Arial"/>
                <a:ea typeface="Arial"/>
                <a:cs typeface="Arial"/>
              </a:rPr>
              <a:t>01   Introdução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1F7E7D5-34AD-4E47-A942-A0FA1345A4DE}"/>
              </a:ext>
            </a:extLst>
          </p:cNvPr>
          <p:cNvSpPr>
            <a:spLocks noGrp="1"/>
          </p:cNvSpPr>
          <p:nvPr/>
        </p:nvSpPr>
        <p:spPr>
          <a:xfrm>
            <a:off x="914400" y="2066925"/>
            <a:ext cx="10287000" cy="561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33399"/>
                </a:solidFill>
                <a:latin typeface="Arial"/>
                <a:ea typeface="Arial"/>
                <a:cs typeface="Arial"/>
              </a:rPr>
              <a:t>02   Objetivos e zonação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F2F2009-2E86-4325-BF5C-005C3D9329DC}"/>
              </a:ext>
            </a:extLst>
          </p:cNvPr>
          <p:cNvSpPr>
            <a:spLocks noGrp="1"/>
          </p:cNvSpPr>
          <p:nvPr/>
        </p:nvSpPr>
        <p:spPr>
          <a:xfrm>
            <a:off x="914400" y="2847975"/>
            <a:ext cx="10287000" cy="561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33399"/>
                </a:solidFill>
                <a:latin typeface="Arial"/>
                <a:ea typeface="Arial"/>
                <a:cs typeface="Arial"/>
              </a:rPr>
              <a:t>03   Metodologia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AF7ACDB-2D0D-46F7-9B5E-FEBF3253CB45}"/>
              </a:ext>
            </a:extLst>
          </p:cNvPr>
          <p:cNvSpPr>
            <a:spLocks noGrp="1"/>
          </p:cNvSpPr>
          <p:nvPr/>
        </p:nvSpPr>
        <p:spPr>
          <a:xfrm>
            <a:off x="914400" y="3629025"/>
            <a:ext cx="10287000" cy="561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33399"/>
                </a:solidFill>
                <a:latin typeface="Arial"/>
                <a:ea typeface="Arial"/>
                <a:cs typeface="Arial"/>
              </a:rPr>
              <a:t>04   Resultados de campo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E9546C5-8F57-4A6F-ADE5-0E8B5DE89C81}"/>
              </a:ext>
            </a:extLst>
          </p:cNvPr>
          <p:cNvSpPr>
            <a:spLocks noGrp="1"/>
          </p:cNvSpPr>
          <p:nvPr/>
        </p:nvSpPr>
        <p:spPr>
          <a:xfrm>
            <a:off x="914400" y="4410075"/>
            <a:ext cx="10287000" cy="561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33399"/>
                </a:solidFill>
                <a:latin typeface="Arial"/>
                <a:ea typeface="Arial"/>
                <a:cs typeface="Arial"/>
              </a:rPr>
              <a:t>05   Discussão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8F207A5-6474-4E98-A809-3885EE62B91C}"/>
              </a:ext>
            </a:extLst>
          </p:cNvPr>
          <p:cNvSpPr>
            <a:spLocks noGrp="1"/>
          </p:cNvSpPr>
          <p:nvPr/>
        </p:nvSpPr>
        <p:spPr>
          <a:xfrm>
            <a:off x="914400" y="5191125"/>
            <a:ext cx="10287000" cy="561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33399"/>
                </a:solidFill>
                <a:latin typeface="Arial"/>
                <a:ea typeface="Arial"/>
                <a:cs typeface="Arial"/>
              </a:rPr>
              <a:t>06   Conclusão</a:t>
            </a:r>
          </a:p>
        </p:txBody>
      </p:sp>
    </p:spTree>
    <p:extLst>
      <p:ext uri="{BB962C8B-B14F-4D97-AF65-F5344CB8AC3E}">
        <p14:creationId xmlns:p14="http://schemas.microsoft.com/office/powerpoint/2010/main" val="934199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82AC5AC3-353E-4631-B76D-B10E90530B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333399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29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Introdução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68E8660-2074-4110-BF67-47F32F451CB8}"/>
              </a:ext>
            </a:extLst>
          </p:cNvPr>
          <p:cNvSpPr>
            <a:spLocks noGrp="1"/>
          </p:cNvSpPr>
          <p:nvPr/>
        </p:nvSpPr>
        <p:spPr>
          <a:xfrm>
            <a:off x="0" y="6496050"/>
            <a:ext cx="2428875" cy="361950"/>
          </a:xfrm>
          <a:prstGeom prst="rect">
            <a:avLst/>
          </a:prstGeom>
          <a:solidFill>
            <a:srgbClr val="252572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UERJ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74DD132-5EF2-420C-9CA2-03A4A57DA755}"/>
              </a:ext>
            </a:extLst>
          </p:cNvPr>
          <p:cNvSpPr>
            <a:spLocks noGrp="1"/>
          </p:cNvSpPr>
          <p:nvPr/>
        </p:nvSpPr>
        <p:spPr>
          <a:xfrm>
            <a:off x="2428875" y="6496050"/>
            <a:ext cx="6953250" cy="361950"/>
          </a:xfrm>
          <a:prstGeom prst="rect">
            <a:avLst/>
          </a:prstGeom>
          <a:solidFill>
            <a:srgbClr val="333399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Macroalgas da Praia Vermelha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E5F18DA-DE77-42B6-AF5E-39E85A7367AC}"/>
              </a:ext>
            </a:extLst>
          </p:cNvPr>
          <p:cNvSpPr>
            <a:spLocks noGrp="1"/>
          </p:cNvSpPr>
          <p:nvPr/>
        </p:nvSpPr>
        <p:spPr>
          <a:xfrm>
            <a:off x="9382125" y="6496050"/>
            <a:ext cx="2809875" cy="361950"/>
          </a:xfrm>
          <a:prstGeom prst="rect">
            <a:avLst/>
          </a:prstGeom>
          <a:solidFill>
            <a:srgbClr val="5151AE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Introdução     3/20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63F02BD-3216-4B2E-BBD2-F5F71E3E65D9}"/>
              </a:ext>
            </a:extLst>
          </p:cNvPr>
          <p:cNvSpPr>
            <a:spLocks noGrp="1"/>
          </p:cNvSpPr>
          <p:nvPr/>
        </p:nvSpPr>
        <p:spPr>
          <a:xfrm>
            <a:off x="838200" y="1447800"/>
            <a:ext cx="10477500" cy="1657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As macroalgas fazem parte da comunidade dos costões rochosos. Sua distribuição varia conforme o contato com a água, a exposição ao ar e a ação das ondas.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75C37F5-E354-4255-88A3-853AD069EFEB}"/>
              </a:ext>
            </a:extLst>
          </p:cNvPr>
          <p:cNvSpPr>
            <a:spLocks noGrp="1"/>
          </p:cNvSpPr>
          <p:nvPr/>
        </p:nvSpPr>
        <p:spPr>
          <a:xfrm>
            <a:off x="838200" y="3448050"/>
            <a:ext cx="10477500" cy="1257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Na Praia Vermelha, observamos diferentes cores e formas de talo e registramos sua ocorrência em fotografias.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4E274BC-7A2A-4BBB-899C-F5F032067D14}"/>
              </a:ext>
            </a:extLst>
          </p:cNvPr>
          <p:cNvSpPr>
            <a:spLocks noGrp="1"/>
          </p:cNvSpPr>
          <p:nvPr/>
        </p:nvSpPr>
        <p:spPr>
          <a:xfrm>
            <a:off x="838200" y="5114925"/>
            <a:ext cx="10477500" cy="1066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0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333399"/>
                </a:solidFill>
                <a:latin typeface="Arial"/>
                <a:ea typeface="Arial"/>
                <a:cs typeface="Arial"/>
              </a:rPr>
              <a:t>Neste seminário, relacionamos esses registros às condições ambientais e à zonação do costão.</a:t>
            </a:r>
          </a:p>
        </p:txBody>
      </p:sp>
    </p:spTree>
    <p:extLst>
      <p:ext uri="{BB962C8B-B14F-4D97-AF65-F5344CB8AC3E}">
        <p14:creationId xmlns:p14="http://schemas.microsoft.com/office/powerpoint/2010/main" val="1897434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4B9A52D4-DE03-4A90-BF6D-E9A7B62B08C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333399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29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 costão da Praia Vermelha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8A7D7B7-42CB-4B79-8167-16D73C954D26}"/>
              </a:ext>
            </a:extLst>
          </p:cNvPr>
          <p:cNvSpPr>
            <a:spLocks noGrp="1"/>
          </p:cNvSpPr>
          <p:nvPr/>
        </p:nvSpPr>
        <p:spPr>
          <a:xfrm>
            <a:off x="0" y="6496050"/>
            <a:ext cx="2428875" cy="361950"/>
          </a:xfrm>
          <a:prstGeom prst="rect">
            <a:avLst/>
          </a:prstGeom>
          <a:solidFill>
            <a:srgbClr val="252572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UERJ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B265908-2BC1-40BE-8366-4E545EDCEC09}"/>
              </a:ext>
            </a:extLst>
          </p:cNvPr>
          <p:cNvSpPr>
            <a:spLocks noGrp="1"/>
          </p:cNvSpPr>
          <p:nvPr/>
        </p:nvSpPr>
        <p:spPr>
          <a:xfrm>
            <a:off x="2428875" y="6496050"/>
            <a:ext cx="6953250" cy="361950"/>
          </a:xfrm>
          <a:prstGeom prst="rect">
            <a:avLst/>
          </a:prstGeom>
          <a:solidFill>
            <a:srgbClr val="333399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Macroalgas da Praia Vermelha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B793F7D-FACC-4657-818A-60077C64CD61}"/>
              </a:ext>
            </a:extLst>
          </p:cNvPr>
          <p:cNvSpPr>
            <a:spLocks noGrp="1"/>
          </p:cNvSpPr>
          <p:nvPr/>
        </p:nvSpPr>
        <p:spPr>
          <a:xfrm>
            <a:off x="9382125" y="6496050"/>
            <a:ext cx="2809875" cy="361950"/>
          </a:xfrm>
          <a:prstGeom prst="rect">
            <a:avLst/>
          </a:prstGeom>
          <a:solidFill>
            <a:srgbClr val="5151AE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Introdução     4/20</a:t>
            </a:r>
          </a:p>
        </p:txBody>
      </p:sp>
      <p:pic>
        <p:nvPicPr>
          <p:cNvPr id="13" name="Imagem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1500188"/>
            <a:ext cx="5143500" cy="3857625"/>
          </a:xfrm>
          <a:prstGeom prst="rect">
            <a:avLst/>
          </a:prstGeom>
        </p:spPr>
      </p:pic>
      <p:pic>
        <p:nvPicPr>
          <p:cNvPr id="14" name="Imagem 1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438900" y="1500188"/>
            <a:ext cx="5143500" cy="3857625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EA2917E2-CEF7-4B8D-8C68-B188F5F61E97}"/>
              </a:ext>
            </a:extLst>
          </p:cNvPr>
          <p:cNvSpPr>
            <a:spLocks noGrp="1"/>
          </p:cNvSpPr>
          <p:nvPr/>
        </p:nvSpPr>
        <p:spPr>
          <a:xfrm>
            <a:off x="609600" y="5972175"/>
            <a:ext cx="5143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Rochas expostas e trechos umedecidos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ED5BA3D-4545-4E3A-813D-2896D3B405E3}"/>
              </a:ext>
            </a:extLst>
          </p:cNvPr>
          <p:cNvSpPr>
            <a:spLocks noGrp="1"/>
          </p:cNvSpPr>
          <p:nvPr/>
        </p:nvSpPr>
        <p:spPr>
          <a:xfrm>
            <a:off x="6438900" y="5972175"/>
            <a:ext cx="5143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Ondas, iluminação e topografia local</a:t>
            </a:r>
          </a:p>
        </p:txBody>
      </p:sp>
    </p:spTree>
    <p:extLst>
      <p:ext uri="{BB962C8B-B14F-4D97-AF65-F5344CB8AC3E}">
        <p14:creationId xmlns:p14="http://schemas.microsoft.com/office/powerpoint/2010/main" val="563885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538ACE18-281A-4DEE-BA53-A1FF4231F3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333399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29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Objetivos da prática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CADE33C-0C26-4425-80EB-C70BE90543F5}"/>
              </a:ext>
            </a:extLst>
          </p:cNvPr>
          <p:cNvSpPr>
            <a:spLocks noGrp="1"/>
          </p:cNvSpPr>
          <p:nvPr/>
        </p:nvSpPr>
        <p:spPr>
          <a:xfrm>
            <a:off x="0" y="6496050"/>
            <a:ext cx="2428875" cy="361950"/>
          </a:xfrm>
          <a:prstGeom prst="rect">
            <a:avLst/>
          </a:prstGeom>
          <a:solidFill>
            <a:srgbClr val="252572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UERJ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3BE718-E17E-4291-80E2-D713602009C1}"/>
              </a:ext>
            </a:extLst>
          </p:cNvPr>
          <p:cNvSpPr>
            <a:spLocks noGrp="1"/>
          </p:cNvSpPr>
          <p:nvPr/>
        </p:nvSpPr>
        <p:spPr>
          <a:xfrm>
            <a:off x="2428875" y="6496050"/>
            <a:ext cx="6953250" cy="361950"/>
          </a:xfrm>
          <a:prstGeom prst="rect">
            <a:avLst/>
          </a:prstGeom>
          <a:solidFill>
            <a:srgbClr val="333399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Macroalgas da Praia Vermelha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ED8864D-94F6-4F42-B4A7-AFC21242944F}"/>
              </a:ext>
            </a:extLst>
          </p:cNvPr>
          <p:cNvSpPr>
            <a:spLocks noGrp="1"/>
          </p:cNvSpPr>
          <p:nvPr/>
        </p:nvSpPr>
        <p:spPr>
          <a:xfrm>
            <a:off x="9382125" y="6496050"/>
            <a:ext cx="2809875" cy="361950"/>
          </a:xfrm>
          <a:prstGeom prst="rect">
            <a:avLst/>
          </a:prstGeom>
          <a:solidFill>
            <a:srgbClr val="5151AE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Objetivos     5/20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8AAA428-A1DA-4D59-865A-AA0F9B5B70CE}"/>
              </a:ext>
            </a:extLst>
          </p:cNvPr>
          <p:cNvSpPr>
            <a:spLocks noGrp="1"/>
          </p:cNvSpPr>
          <p:nvPr/>
        </p:nvSpPr>
        <p:spPr>
          <a:xfrm>
            <a:off x="838200" y="1447800"/>
            <a:ext cx="104775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75" b="1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333399"/>
                </a:solidFill>
                <a:latin typeface="Arial"/>
                <a:ea typeface="Arial"/>
                <a:cs typeface="Arial"/>
              </a:rPr>
              <a:t>Reconhecer a zonação do costão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E66D4A5-F0DF-44DE-903C-F5EF98B71E27}"/>
              </a:ext>
            </a:extLst>
          </p:cNvPr>
          <p:cNvSpPr>
            <a:spLocks noGrp="1"/>
          </p:cNvSpPr>
          <p:nvPr/>
        </p:nvSpPr>
        <p:spPr>
          <a:xfrm>
            <a:off x="838200" y="2771775"/>
            <a:ext cx="104775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75" b="1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333399"/>
                </a:solidFill>
                <a:latin typeface="Arial"/>
                <a:ea typeface="Arial"/>
                <a:cs typeface="Arial"/>
              </a:rPr>
              <a:t>Descrever grupos e formas de talo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828D7D5-4561-4793-929B-9F1DC694A244}"/>
              </a:ext>
            </a:extLst>
          </p:cNvPr>
          <p:cNvSpPr>
            <a:spLocks noGrp="1"/>
          </p:cNvSpPr>
          <p:nvPr/>
        </p:nvSpPr>
        <p:spPr>
          <a:xfrm>
            <a:off x="838200" y="4095750"/>
            <a:ext cx="104775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75" b="1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333399"/>
                </a:solidFill>
                <a:latin typeface="Arial"/>
                <a:ea typeface="Arial"/>
                <a:cs typeface="Arial"/>
              </a:rPr>
              <a:t>Relacionar a distribuição ao ambiente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B50BA07-D7F4-43F4-811A-70512FADA121}"/>
              </a:ext>
            </a:extLst>
          </p:cNvPr>
          <p:cNvSpPr>
            <a:spLocks noGrp="1"/>
          </p:cNvSpPr>
          <p:nvPr/>
        </p:nvSpPr>
        <p:spPr>
          <a:xfrm>
            <a:off x="838200" y="5619750"/>
            <a:ext cx="10477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Observação, registro fotográfico e comparação qualitativa</a:t>
            </a:r>
          </a:p>
        </p:txBody>
      </p:sp>
    </p:spTree>
    <p:extLst>
      <p:ext uri="{BB962C8B-B14F-4D97-AF65-F5344CB8AC3E}">
        <p14:creationId xmlns:p14="http://schemas.microsoft.com/office/powerpoint/2010/main" val="1948702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F07E8DB3-08F1-4849-8B76-97FC3EAC4C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333399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29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Zonação vertical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195A1E3-2E1D-4228-9E3B-14A5892ACA06}"/>
              </a:ext>
            </a:extLst>
          </p:cNvPr>
          <p:cNvSpPr>
            <a:spLocks noGrp="1"/>
          </p:cNvSpPr>
          <p:nvPr/>
        </p:nvSpPr>
        <p:spPr>
          <a:xfrm>
            <a:off x="0" y="6496050"/>
            <a:ext cx="2428875" cy="361950"/>
          </a:xfrm>
          <a:prstGeom prst="rect">
            <a:avLst/>
          </a:prstGeom>
          <a:solidFill>
            <a:srgbClr val="252572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UERJ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EBE943F-02F0-4C1E-A08E-CEBAEE9AE8E3}"/>
              </a:ext>
            </a:extLst>
          </p:cNvPr>
          <p:cNvSpPr>
            <a:spLocks noGrp="1"/>
          </p:cNvSpPr>
          <p:nvPr/>
        </p:nvSpPr>
        <p:spPr>
          <a:xfrm>
            <a:off x="2428875" y="6496050"/>
            <a:ext cx="6953250" cy="361950"/>
          </a:xfrm>
          <a:prstGeom prst="rect">
            <a:avLst/>
          </a:prstGeom>
          <a:solidFill>
            <a:srgbClr val="333399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Macroalgas da Praia Vermelha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6F8DD6C-4052-48AD-96CF-435CB7046181}"/>
              </a:ext>
            </a:extLst>
          </p:cNvPr>
          <p:cNvSpPr>
            <a:spLocks noGrp="1"/>
          </p:cNvSpPr>
          <p:nvPr/>
        </p:nvSpPr>
        <p:spPr>
          <a:xfrm>
            <a:off x="9382125" y="6496050"/>
            <a:ext cx="2809875" cy="361950"/>
          </a:xfrm>
          <a:prstGeom prst="rect">
            <a:avLst/>
          </a:prstGeom>
          <a:solidFill>
            <a:srgbClr val="5151AE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Zonação     6/20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5F07F77-1AE4-490D-AB06-567F9DF8C305}"/>
              </a:ext>
            </a:extLst>
          </p:cNvPr>
          <p:cNvSpPr>
            <a:spLocks noGrp="1"/>
          </p:cNvSpPr>
          <p:nvPr/>
        </p:nvSpPr>
        <p:spPr>
          <a:xfrm>
            <a:off x="828675" y="1371600"/>
            <a:ext cx="103822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33399"/>
                </a:solidFill>
                <a:latin typeface="Arial"/>
                <a:ea typeface="Arial"/>
                <a:cs typeface="Arial"/>
              </a:rPr>
              <a:t>Supralitoral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2D5BA20-1E13-4332-B0C5-A841F1977165}"/>
              </a:ext>
            </a:extLst>
          </p:cNvPr>
          <p:cNvSpPr>
            <a:spLocks noGrp="1"/>
          </p:cNvSpPr>
          <p:nvPr/>
        </p:nvSpPr>
        <p:spPr>
          <a:xfrm>
            <a:off x="838200" y="1952625"/>
            <a:ext cx="1038225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Predomínio da exposição ao ar e respingos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6251BC0-A80F-4E70-8A38-79B045B75514}"/>
              </a:ext>
            </a:extLst>
          </p:cNvPr>
          <p:cNvSpPr>
            <a:spLocks noGrp="1"/>
          </p:cNvSpPr>
          <p:nvPr/>
        </p:nvSpPr>
        <p:spPr>
          <a:xfrm>
            <a:off x="828675" y="2790825"/>
            <a:ext cx="103822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33399"/>
                </a:solidFill>
                <a:latin typeface="Arial"/>
                <a:ea typeface="Arial"/>
                <a:cs typeface="Arial"/>
              </a:rPr>
              <a:t>Médiolitoral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19382C8-B9F2-4664-BE56-3849C19E0D54}"/>
              </a:ext>
            </a:extLst>
          </p:cNvPr>
          <p:cNvSpPr>
            <a:spLocks noGrp="1"/>
          </p:cNvSpPr>
          <p:nvPr/>
        </p:nvSpPr>
        <p:spPr>
          <a:xfrm>
            <a:off x="838200" y="3371850"/>
            <a:ext cx="1038225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Alternância de imersão e emersão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44728FA-21F4-4B63-8ACF-7BD7F25C6A43}"/>
              </a:ext>
            </a:extLst>
          </p:cNvPr>
          <p:cNvSpPr>
            <a:spLocks noGrp="1"/>
          </p:cNvSpPr>
          <p:nvPr/>
        </p:nvSpPr>
        <p:spPr>
          <a:xfrm>
            <a:off x="828675" y="4210050"/>
            <a:ext cx="103822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33399"/>
                </a:solidFill>
                <a:latin typeface="Arial"/>
                <a:ea typeface="Arial"/>
                <a:cs typeface="Arial"/>
              </a:rPr>
              <a:t>Infralitoral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80D7CF6-C9E7-48FE-81EC-9679730A86B5}"/>
              </a:ext>
            </a:extLst>
          </p:cNvPr>
          <p:cNvSpPr>
            <a:spLocks noGrp="1"/>
          </p:cNvSpPr>
          <p:nvPr/>
        </p:nvSpPr>
        <p:spPr>
          <a:xfrm>
            <a:off x="838200" y="4791075"/>
            <a:ext cx="1038225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Predomínio da submersão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2FD030E-C24C-42E2-B458-DB8C409EFF49}"/>
              </a:ext>
            </a:extLst>
          </p:cNvPr>
          <p:cNvSpPr>
            <a:spLocks noGrp="1"/>
          </p:cNvSpPr>
          <p:nvPr/>
        </p:nvSpPr>
        <p:spPr>
          <a:xfrm>
            <a:off x="838200" y="586740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Limites aproximados, condicionados pelas ondas e pela topografia</a:t>
            </a:r>
          </a:p>
        </p:txBody>
      </p:sp>
    </p:spTree>
    <p:extLst>
      <p:ext uri="{BB962C8B-B14F-4D97-AF65-F5344CB8AC3E}">
        <p14:creationId xmlns:p14="http://schemas.microsoft.com/office/powerpoint/2010/main" val="917518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055508F4-DC02-4878-9BC0-634AE366BE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333399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29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Observação e registro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02F4C0E-8C3A-4B32-B10F-7F5244D4D76E}"/>
              </a:ext>
            </a:extLst>
          </p:cNvPr>
          <p:cNvSpPr>
            <a:spLocks noGrp="1"/>
          </p:cNvSpPr>
          <p:nvPr/>
        </p:nvSpPr>
        <p:spPr>
          <a:xfrm>
            <a:off x="0" y="6496050"/>
            <a:ext cx="2428875" cy="361950"/>
          </a:xfrm>
          <a:prstGeom prst="rect">
            <a:avLst/>
          </a:prstGeom>
          <a:solidFill>
            <a:srgbClr val="252572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UERJ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6143634-B5DB-4377-AF9B-57AB39CCFFEE}"/>
              </a:ext>
            </a:extLst>
          </p:cNvPr>
          <p:cNvSpPr>
            <a:spLocks noGrp="1"/>
          </p:cNvSpPr>
          <p:nvPr/>
        </p:nvSpPr>
        <p:spPr>
          <a:xfrm>
            <a:off x="2428875" y="6496050"/>
            <a:ext cx="6953250" cy="361950"/>
          </a:xfrm>
          <a:prstGeom prst="rect">
            <a:avLst/>
          </a:prstGeom>
          <a:solidFill>
            <a:srgbClr val="333399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Macroalgas da Praia Vermelha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DF9CC90-DAB7-45D4-88E4-FF52686469B6}"/>
              </a:ext>
            </a:extLst>
          </p:cNvPr>
          <p:cNvSpPr>
            <a:spLocks noGrp="1"/>
          </p:cNvSpPr>
          <p:nvPr/>
        </p:nvSpPr>
        <p:spPr>
          <a:xfrm>
            <a:off x="9382125" y="6496050"/>
            <a:ext cx="2809875" cy="361950"/>
          </a:xfrm>
          <a:prstGeom prst="rect">
            <a:avLst/>
          </a:prstGeom>
          <a:solidFill>
            <a:srgbClr val="5151AE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Metodologia     7/20</a:t>
            </a:r>
          </a:p>
        </p:txBody>
      </p:sp>
      <p:pic>
        <p:nvPicPr>
          <p:cNvPr id="13" name="Imagem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" y="1312069"/>
            <a:ext cx="6000750" cy="4500563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988C7DE2-9993-452E-B300-5DA36C2583BB}"/>
              </a:ext>
            </a:extLst>
          </p:cNvPr>
          <p:cNvSpPr>
            <a:spLocks noGrp="1"/>
          </p:cNvSpPr>
          <p:nvPr/>
        </p:nvSpPr>
        <p:spPr>
          <a:xfrm>
            <a:off x="7029450" y="1524000"/>
            <a:ext cx="4619625" cy="1104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33399"/>
                </a:solidFill>
                <a:latin typeface="Arial"/>
                <a:ea typeface="Arial"/>
                <a:cs typeface="Arial"/>
              </a:rPr>
              <a:t>Fotografar o costão e as macroalgas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05F1CCF-52E9-4095-B1ED-7C99CB1F82F9}"/>
              </a:ext>
            </a:extLst>
          </p:cNvPr>
          <p:cNvSpPr>
            <a:spLocks noGrp="1"/>
          </p:cNvSpPr>
          <p:nvPr/>
        </p:nvSpPr>
        <p:spPr>
          <a:xfrm>
            <a:off x="7029450" y="2895600"/>
            <a:ext cx="4619625" cy="1104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Descrever cor, talo e posição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8C5FDC8-F68D-4A98-84DE-99CDE0770DD7}"/>
              </a:ext>
            </a:extLst>
          </p:cNvPr>
          <p:cNvSpPr>
            <a:spLocks noGrp="1"/>
          </p:cNvSpPr>
          <p:nvPr/>
        </p:nvSpPr>
        <p:spPr>
          <a:xfrm>
            <a:off x="7029450" y="4267200"/>
            <a:ext cx="4619625" cy="1104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Comparar trechos do gradiente</a:t>
            </a:r>
          </a:p>
        </p:txBody>
      </p:sp>
    </p:spTree>
    <p:extLst>
      <p:ext uri="{BB962C8B-B14F-4D97-AF65-F5344CB8AC3E}">
        <p14:creationId xmlns:p14="http://schemas.microsoft.com/office/powerpoint/2010/main" val="1356496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C2A8A262-296D-4E3E-9662-44A89BABBF1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333399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29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Faixa superior e região de respingos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5A8ADBF-4EE4-4F30-ABB5-9AC4EFEC106E}"/>
              </a:ext>
            </a:extLst>
          </p:cNvPr>
          <p:cNvSpPr>
            <a:spLocks noGrp="1"/>
          </p:cNvSpPr>
          <p:nvPr/>
        </p:nvSpPr>
        <p:spPr>
          <a:xfrm>
            <a:off x="0" y="6496050"/>
            <a:ext cx="2428875" cy="361950"/>
          </a:xfrm>
          <a:prstGeom prst="rect">
            <a:avLst/>
          </a:prstGeom>
          <a:solidFill>
            <a:srgbClr val="252572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UERJ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B664A0F-D830-46E7-BC33-3EB88C5CAC28}"/>
              </a:ext>
            </a:extLst>
          </p:cNvPr>
          <p:cNvSpPr>
            <a:spLocks noGrp="1"/>
          </p:cNvSpPr>
          <p:nvPr/>
        </p:nvSpPr>
        <p:spPr>
          <a:xfrm>
            <a:off x="2428875" y="6496050"/>
            <a:ext cx="6953250" cy="361950"/>
          </a:xfrm>
          <a:prstGeom prst="rect">
            <a:avLst/>
          </a:prstGeom>
          <a:solidFill>
            <a:srgbClr val="333399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Macroalgas da Praia Vermelha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DD90327-6774-41DF-AFD7-63E60F5D3758}"/>
              </a:ext>
            </a:extLst>
          </p:cNvPr>
          <p:cNvSpPr>
            <a:spLocks noGrp="1"/>
          </p:cNvSpPr>
          <p:nvPr/>
        </p:nvSpPr>
        <p:spPr>
          <a:xfrm>
            <a:off x="9382125" y="6496050"/>
            <a:ext cx="2809875" cy="361950"/>
          </a:xfrm>
          <a:prstGeom prst="rect">
            <a:avLst/>
          </a:prstGeom>
          <a:solidFill>
            <a:srgbClr val="5151AE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Resultados     8/20</a:t>
            </a:r>
          </a:p>
        </p:txBody>
      </p:sp>
      <p:pic>
        <p:nvPicPr>
          <p:cNvPr id="13" name="Imagem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1009650"/>
            <a:ext cx="4838700" cy="4838700"/>
          </a:xfrm>
          <a:prstGeom prst="rect">
            <a:avLst/>
          </a:prstGeom>
        </p:spPr>
      </p:pic>
      <p:pic>
        <p:nvPicPr>
          <p:cNvPr id="14" name="Imagem 1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591300" y="1009650"/>
            <a:ext cx="4838700" cy="4838700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50DB8F5B-B747-487E-A7BD-2B15AE9B2D6D}"/>
              </a:ext>
            </a:extLst>
          </p:cNvPr>
          <p:cNvSpPr>
            <a:spLocks noGrp="1"/>
          </p:cNvSpPr>
          <p:nvPr/>
        </p:nvSpPr>
        <p:spPr>
          <a:xfrm>
            <a:off x="609600" y="5972175"/>
            <a:ext cx="5143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Crostas e organismos junto à rocha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A856D9C-08B7-40E3-BDCF-B6EBFB749486}"/>
              </a:ext>
            </a:extLst>
          </p:cNvPr>
          <p:cNvSpPr>
            <a:spLocks noGrp="1"/>
          </p:cNvSpPr>
          <p:nvPr/>
        </p:nvSpPr>
        <p:spPr>
          <a:xfrm>
            <a:off x="6438900" y="5972175"/>
            <a:ext cx="5143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Cobertura irregular no trecho registrado</a:t>
            </a:r>
          </a:p>
        </p:txBody>
      </p:sp>
    </p:spTree>
    <p:extLst>
      <p:ext uri="{BB962C8B-B14F-4D97-AF65-F5344CB8AC3E}">
        <p14:creationId xmlns:p14="http://schemas.microsoft.com/office/powerpoint/2010/main" val="1278137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BC62AAC4-BC94-4133-97A6-CADEF37199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333399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29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Distribuição das algas na faixa entre marés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819D793-BC2A-4834-B041-186BD812CB03}"/>
              </a:ext>
            </a:extLst>
          </p:cNvPr>
          <p:cNvSpPr>
            <a:spLocks noGrp="1"/>
          </p:cNvSpPr>
          <p:nvPr/>
        </p:nvSpPr>
        <p:spPr>
          <a:xfrm>
            <a:off x="0" y="6496050"/>
            <a:ext cx="2428875" cy="361950"/>
          </a:xfrm>
          <a:prstGeom prst="rect">
            <a:avLst/>
          </a:prstGeom>
          <a:solidFill>
            <a:srgbClr val="252572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UERJ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97A5A9E-0F6E-4E7E-8026-F309813D7C83}"/>
              </a:ext>
            </a:extLst>
          </p:cNvPr>
          <p:cNvSpPr>
            <a:spLocks noGrp="1"/>
          </p:cNvSpPr>
          <p:nvPr/>
        </p:nvSpPr>
        <p:spPr>
          <a:xfrm>
            <a:off x="2428875" y="6496050"/>
            <a:ext cx="6953250" cy="361950"/>
          </a:xfrm>
          <a:prstGeom prst="rect">
            <a:avLst/>
          </a:prstGeom>
          <a:solidFill>
            <a:srgbClr val="333399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Macroalgas da Praia Vermelha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0F243B5-F109-436B-AAC6-EEB25022077F}"/>
              </a:ext>
            </a:extLst>
          </p:cNvPr>
          <p:cNvSpPr>
            <a:spLocks noGrp="1"/>
          </p:cNvSpPr>
          <p:nvPr/>
        </p:nvSpPr>
        <p:spPr>
          <a:xfrm>
            <a:off x="9382125" y="6496050"/>
            <a:ext cx="2809875" cy="361950"/>
          </a:xfrm>
          <a:prstGeom prst="rect">
            <a:avLst/>
          </a:prstGeom>
          <a:solidFill>
            <a:srgbClr val="5151AE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Resultados     9/20</a:t>
            </a:r>
          </a:p>
        </p:txBody>
      </p:sp>
      <p:pic>
        <p:nvPicPr>
          <p:cNvPr id="13" name="Imagem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1500188"/>
            <a:ext cx="5143500" cy="3857625"/>
          </a:xfrm>
          <a:prstGeom prst="rect">
            <a:avLst/>
          </a:prstGeom>
        </p:spPr>
      </p:pic>
      <p:pic>
        <p:nvPicPr>
          <p:cNvPr id="14" name="Imagem 1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438900" y="1500188"/>
            <a:ext cx="5143500" cy="3857625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ADB04CF7-0FA8-46EF-A090-E03597466E9F}"/>
              </a:ext>
            </a:extLst>
          </p:cNvPr>
          <p:cNvSpPr>
            <a:spLocks noGrp="1"/>
          </p:cNvSpPr>
          <p:nvPr/>
        </p:nvSpPr>
        <p:spPr>
          <a:xfrm>
            <a:off x="609600" y="5972175"/>
            <a:ext cx="5143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Cobertura verde e avermelhada sobre a rocha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F62BC9D-29CB-4D7C-884C-6ED2EC3CF23D}"/>
              </a:ext>
            </a:extLst>
          </p:cNvPr>
          <p:cNvSpPr>
            <a:spLocks noGrp="1"/>
          </p:cNvSpPr>
          <p:nvPr/>
        </p:nvSpPr>
        <p:spPr>
          <a:xfrm>
            <a:off x="6438900" y="5972175"/>
            <a:ext cx="5143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Detalhe da distribuição irregular</a:t>
            </a:r>
          </a:p>
        </p:txBody>
      </p:sp>
    </p:spTree>
    <p:extLst>
      <p:ext uri="{BB962C8B-B14F-4D97-AF65-F5344CB8AC3E}">
        <p14:creationId xmlns:p14="http://schemas.microsoft.com/office/powerpoint/2010/main" val="1052694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5DC57BC4-FC6D-427B-91AE-363EF61BDB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333399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29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Infralitoral: limites do registro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8225496-ED38-43D0-B861-C142B4A933DA}"/>
              </a:ext>
            </a:extLst>
          </p:cNvPr>
          <p:cNvSpPr>
            <a:spLocks noGrp="1"/>
          </p:cNvSpPr>
          <p:nvPr/>
        </p:nvSpPr>
        <p:spPr>
          <a:xfrm>
            <a:off x="0" y="6496050"/>
            <a:ext cx="2428875" cy="361950"/>
          </a:xfrm>
          <a:prstGeom prst="rect">
            <a:avLst/>
          </a:prstGeom>
          <a:solidFill>
            <a:srgbClr val="252572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UERJ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2016B85-FBA7-4750-8A09-30CCBABEE409}"/>
              </a:ext>
            </a:extLst>
          </p:cNvPr>
          <p:cNvSpPr>
            <a:spLocks noGrp="1"/>
          </p:cNvSpPr>
          <p:nvPr/>
        </p:nvSpPr>
        <p:spPr>
          <a:xfrm>
            <a:off x="2428875" y="6496050"/>
            <a:ext cx="6953250" cy="361950"/>
          </a:xfrm>
          <a:prstGeom prst="rect">
            <a:avLst/>
          </a:prstGeom>
          <a:solidFill>
            <a:srgbClr val="333399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Macroalgas da Praia Vermelha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7B5F3D3-4A12-4017-BF35-8805DA8430A5}"/>
              </a:ext>
            </a:extLst>
          </p:cNvPr>
          <p:cNvSpPr>
            <a:spLocks noGrp="1"/>
          </p:cNvSpPr>
          <p:nvPr/>
        </p:nvSpPr>
        <p:spPr>
          <a:xfrm>
            <a:off x="9382125" y="6496050"/>
            <a:ext cx="2809875" cy="361950"/>
          </a:xfrm>
          <a:prstGeom prst="rect">
            <a:avLst/>
          </a:prstGeom>
          <a:solidFill>
            <a:srgbClr val="5151AE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Resultados     10/20</a:t>
            </a:r>
          </a:p>
        </p:txBody>
      </p:sp>
      <p:pic>
        <p:nvPicPr>
          <p:cNvPr id="14" name="Imagem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" y="1312069"/>
            <a:ext cx="6000750" cy="4500563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0249DC9B-FD03-4C01-B07A-A0AF16CD080B}"/>
              </a:ext>
            </a:extLst>
          </p:cNvPr>
          <p:cNvSpPr>
            <a:spLocks noGrp="1"/>
          </p:cNvSpPr>
          <p:nvPr/>
        </p:nvSpPr>
        <p:spPr>
          <a:xfrm>
            <a:off x="7029450" y="1524000"/>
            <a:ext cx="4619625" cy="1104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33399"/>
                </a:solidFill>
                <a:latin typeface="Arial"/>
                <a:ea typeface="Arial"/>
                <a:cs typeface="Arial"/>
              </a:rPr>
              <a:t>Continuidade relatada abaixo da superfície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B88E7DB-DA56-4D64-9159-1814DF6253A5}"/>
              </a:ext>
            </a:extLst>
          </p:cNvPr>
          <p:cNvSpPr>
            <a:spLocks noGrp="1"/>
          </p:cNvSpPr>
          <p:nvPr/>
        </p:nvSpPr>
        <p:spPr>
          <a:xfrm>
            <a:off x="7029450" y="2895600"/>
            <a:ext cx="4619625" cy="1104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Observação visual do grupo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B5744DE-F9B3-423D-92D3-6BF84F6DD4CA}"/>
              </a:ext>
            </a:extLst>
          </p:cNvPr>
          <p:cNvSpPr>
            <a:spLocks noGrp="1"/>
          </p:cNvSpPr>
          <p:nvPr/>
        </p:nvSpPr>
        <p:spPr>
          <a:xfrm>
            <a:off x="7029450" y="4267200"/>
            <a:ext cx="4619625" cy="1104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Sem fotografia subaquática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2D40460-BFDC-4042-ABE9-B49283BE8CB5}"/>
              </a:ext>
            </a:extLst>
          </p:cNvPr>
          <p:cNvSpPr>
            <a:spLocks noGrp="1"/>
          </p:cNvSpPr>
          <p:nvPr/>
        </p:nvSpPr>
        <p:spPr>
          <a:xfrm>
            <a:off x="476250" y="6105525"/>
            <a:ext cx="11144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Vista de superfície. A faixa submersa não tem registro representativo.</a:t>
            </a:r>
          </a:p>
        </p:txBody>
      </p:sp>
    </p:spTree>
    <p:extLst>
      <p:ext uri="{BB962C8B-B14F-4D97-AF65-F5344CB8AC3E}">
        <p14:creationId xmlns:p14="http://schemas.microsoft.com/office/powerpoint/2010/main" val="12920671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47CFFB0E-5DC8-47E7-A0AE-61154595622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333399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29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Algas verdes: lâminas e filamentos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4884CF5-88A0-4A4E-946D-25288051F300}"/>
              </a:ext>
            </a:extLst>
          </p:cNvPr>
          <p:cNvSpPr>
            <a:spLocks noGrp="1"/>
          </p:cNvSpPr>
          <p:nvPr/>
        </p:nvSpPr>
        <p:spPr>
          <a:xfrm>
            <a:off x="0" y="6496050"/>
            <a:ext cx="2428875" cy="361950"/>
          </a:xfrm>
          <a:prstGeom prst="rect">
            <a:avLst/>
          </a:prstGeom>
          <a:solidFill>
            <a:srgbClr val="252572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UERJ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E1C33A4-FFD4-4D91-B7A3-55561FDFB8F0}"/>
              </a:ext>
            </a:extLst>
          </p:cNvPr>
          <p:cNvSpPr>
            <a:spLocks noGrp="1"/>
          </p:cNvSpPr>
          <p:nvPr/>
        </p:nvSpPr>
        <p:spPr>
          <a:xfrm>
            <a:off x="2428875" y="6496050"/>
            <a:ext cx="6953250" cy="361950"/>
          </a:xfrm>
          <a:prstGeom prst="rect">
            <a:avLst/>
          </a:prstGeom>
          <a:solidFill>
            <a:srgbClr val="333399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Macroalgas da Praia Vermelha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215D760-E41C-4154-8671-CFA9AC1476CB}"/>
              </a:ext>
            </a:extLst>
          </p:cNvPr>
          <p:cNvSpPr>
            <a:spLocks noGrp="1"/>
          </p:cNvSpPr>
          <p:nvPr/>
        </p:nvSpPr>
        <p:spPr>
          <a:xfrm>
            <a:off x="9382125" y="6496050"/>
            <a:ext cx="2809875" cy="361950"/>
          </a:xfrm>
          <a:prstGeom prst="rect">
            <a:avLst/>
          </a:prstGeom>
          <a:solidFill>
            <a:srgbClr val="5151AE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Macroalgas     11/20</a:t>
            </a:r>
          </a:p>
        </p:txBody>
      </p:sp>
      <p:pic>
        <p:nvPicPr>
          <p:cNvPr id="13" name="Imagem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1009650"/>
            <a:ext cx="4838700" cy="4838700"/>
          </a:xfrm>
          <a:prstGeom prst="rect">
            <a:avLst/>
          </a:prstGeom>
        </p:spPr>
      </p:pic>
      <p:pic>
        <p:nvPicPr>
          <p:cNvPr id="14" name="Imagem 1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591300" y="1009650"/>
            <a:ext cx="4838700" cy="4838700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C6E85C91-531C-41F5-A54A-8F9C432B891C}"/>
              </a:ext>
            </a:extLst>
          </p:cNvPr>
          <p:cNvSpPr>
            <a:spLocks noGrp="1"/>
          </p:cNvSpPr>
          <p:nvPr/>
        </p:nvSpPr>
        <p:spPr>
          <a:xfrm>
            <a:off x="609600" y="5972175"/>
            <a:ext cx="5143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Talos foliáceos. Ulva, identificação preliminar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D4C6278-D993-4581-967D-C070AAAEAB85}"/>
              </a:ext>
            </a:extLst>
          </p:cNvPr>
          <p:cNvSpPr>
            <a:spLocks noGrp="1"/>
          </p:cNvSpPr>
          <p:nvPr/>
        </p:nvSpPr>
        <p:spPr>
          <a:xfrm>
            <a:off x="6438900" y="5972175"/>
            <a:ext cx="5143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Formas alongadas no registro do grupo</a:t>
            </a:r>
          </a:p>
        </p:txBody>
      </p:sp>
    </p:spTree>
    <p:extLst>
      <p:ext uri="{BB962C8B-B14F-4D97-AF65-F5344CB8AC3E}">
        <p14:creationId xmlns:p14="http://schemas.microsoft.com/office/powerpoint/2010/main" val="16715138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F1E3F5B4-E402-4E41-A632-6048454D04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333399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29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Formas arredondadas no conjunto de algas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6E79461-0B52-47C5-8ACD-E667D3373B32}"/>
              </a:ext>
            </a:extLst>
          </p:cNvPr>
          <p:cNvSpPr>
            <a:spLocks noGrp="1"/>
          </p:cNvSpPr>
          <p:nvPr/>
        </p:nvSpPr>
        <p:spPr>
          <a:xfrm>
            <a:off x="0" y="6496050"/>
            <a:ext cx="2428875" cy="361950"/>
          </a:xfrm>
          <a:prstGeom prst="rect">
            <a:avLst/>
          </a:prstGeom>
          <a:solidFill>
            <a:srgbClr val="252572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UERJ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D7EDF13-C4B4-43CA-8FCD-A03346CB8873}"/>
              </a:ext>
            </a:extLst>
          </p:cNvPr>
          <p:cNvSpPr>
            <a:spLocks noGrp="1"/>
          </p:cNvSpPr>
          <p:nvPr/>
        </p:nvSpPr>
        <p:spPr>
          <a:xfrm>
            <a:off x="2428875" y="6496050"/>
            <a:ext cx="6953250" cy="361950"/>
          </a:xfrm>
          <a:prstGeom prst="rect">
            <a:avLst/>
          </a:prstGeom>
          <a:solidFill>
            <a:srgbClr val="333399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Macroalgas da Praia Vermelha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22C79BC-67ED-4191-A783-5140C217959C}"/>
              </a:ext>
            </a:extLst>
          </p:cNvPr>
          <p:cNvSpPr>
            <a:spLocks noGrp="1"/>
          </p:cNvSpPr>
          <p:nvPr/>
        </p:nvSpPr>
        <p:spPr>
          <a:xfrm>
            <a:off x="9382125" y="6496050"/>
            <a:ext cx="2809875" cy="361950"/>
          </a:xfrm>
          <a:prstGeom prst="rect">
            <a:avLst/>
          </a:prstGeom>
          <a:solidFill>
            <a:srgbClr val="5151AE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Macroalgas     12/20</a:t>
            </a:r>
          </a:p>
        </p:txBody>
      </p:sp>
      <p:pic>
        <p:nvPicPr>
          <p:cNvPr id="13" name="Imagem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42975" y="1047750"/>
            <a:ext cx="5029200" cy="5029200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23B4C84E-9B98-47F4-8BBC-30684C0335DB}"/>
              </a:ext>
            </a:extLst>
          </p:cNvPr>
          <p:cNvSpPr>
            <a:spLocks noGrp="1"/>
          </p:cNvSpPr>
          <p:nvPr/>
        </p:nvSpPr>
        <p:spPr>
          <a:xfrm>
            <a:off x="7029450" y="1524000"/>
            <a:ext cx="4619625" cy="1104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33399"/>
                </a:solidFill>
                <a:latin typeface="Arial"/>
                <a:ea typeface="Arial"/>
                <a:cs typeface="Arial"/>
              </a:rPr>
              <a:t>Estrutura verde arredondada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D798FD8-C3D9-4327-A4DD-9CAE033CC81F}"/>
              </a:ext>
            </a:extLst>
          </p:cNvPr>
          <p:cNvSpPr>
            <a:spLocks noGrp="1"/>
          </p:cNvSpPr>
          <p:nvPr/>
        </p:nvSpPr>
        <p:spPr>
          <a:xfrm>
            <a:off x="7029450" y="2895600"/>
            <a:ext cx="4619625" cy="1104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Lâminas verdes e formas ramificadas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1D42AFA-6B72-4BCB-B8EA-F01F65086D23}"/>
              </a:ext>
            </a:extLst>
          </p:cNvPr>
          <p:cNvSpPr>
            <a:spLocks noGrp="1"/>
          </p:cNvSpPr>
          <p:nvPr/>
        </p:nvSpPr>
        <p:spPr>
          <a:xfrm>
            <a:off x="7029450" y="4267200"/>
            <a:ext cx="4619625" cy="1104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Identificação a confirmar</a:t>
            </a:r>
          </a:p>
        </p:txBody>
      </p:sp>
    </p:spTree>
    <p:extLst>
      <p:ext uri="{BB962C8B-B14F-4D97-AF65-F5344CB8AC3E}">
        <p14:creationId xmlns:p14="http://schemas.microsoft.com/office/powerpoint/2010/main" val="1969989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EFD576E8-B5BB-465F-A0F3-8BB0D45ACC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333399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29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Algas vermelhas: formas ramificadas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BADDB4C-C3E5-404A-B5EC-CF0FE3786182}"/>
              </a:ext>
            </a:extLst>
          </p:cNvPr>
          <p:cNvSpPr>
            <a:spLocks noGrp="1"/>
          </p:cNvSpPr>
          <p:nvPr/>
        </p:nvSpPr>
        <p:spPr>
          <a:xfrm>
            <a:off x="0" y="6496050"/>
            <a:ext cx="2428875" cy="361950"/>
          </a:xfrm>
          <a:prstGeom prst="rect">
            <a:avLst/>
          </a:prstGeom>
          <a:solidFill>
            <a:srgbClr val="252572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UERJ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7CADACB-DC0E-4B5E-90E2-4C6005C7FA51}"/>
              </a:ext>
            </a:extLst>
          </p:cNvPr>
          <p:cNvSpPr>
            <a:spLocks noGrp="1"/>
          </p:cNvSpPr>
          <p:nvPr/>
        </p:nvSpPr>
        <p:spPr>
          <a:xfrm>
            <a:off x="2428875" y="6496050"/>
            <a:ext cx="6953250" cy="361950"/>
          </a:xfrm>
          <a:prstGeom prst="rect">
            <a:avLst/>
          </a:prstGeom>
          <a:solidFill>
            <a:srgbClr val="333399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Macroalgas da Praia Vermelha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2915466-F311-4284-A009-AE0AAEE45500}"/>
              </a:ext>
            </a:extLst>
          </p:cNvPr>
          <p:cNvSpPr>
            <a:spLocks noGrp="1"/>
          </p:cNvSpPr>
          <p:nvPr/>
        </p:nvSpPr>
        <p:spPr>
          <a:xfrm>
            <a:off x="9382125" y="6496050"/>
            <a:ext cx="2809875" cy="361950"/>
          </a:xfrm>
          <a:prstGeom prst="rect">
            <a:avLst/>
          </a:prstGeom>
          <a:solidFill>
            <a:srgbClr val="5151AE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Macroalgas     13/20</a:t>
            </a:r>
          </a:p>
        </p:txBody>
      </p:sp>
      <p:pic>
        <p:nvPicPr>
          <p:cNvPr id="13" name="Imagem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1009650"/>
            <a:ext cx="4838700" cy="4838700"/>
          </a:xfrm>
          <a:prstGeom prst="rect">
            <a:avLst/>
          </a:prstGeom>
        </p:spPr>
      </p:pic>
      <p:pic>
        <p:nvPicPr>
          <p:cNvPr id="14" name="Imagem 1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591300" y="1009650"/>
            <a:ext cx="4838700" cy="4838700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C8794DB7-2FF1-4EF7-9CC1-5CBF14C60561}"/>
              </a:ext>
            </a:extLst>
          </p:cNvPr>
          <p:cNvSpPr>
            <a:spLocks noGrp="1"/>
          </p:cNvSpPr>
          <p:nvPr/>
        </p:nvSpPr>
        <p:spPr>
          <a:xfrm>
            <a:off x="609600" y="5972175"/>
            <a:ext cx="5143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Aspecto rosado com ramificações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41C0B50-A7A8-4194-AEBB-3781184CDC2A}"/>
              </a:ext>
            </a:extLst>
          </p:cNvPr>
          <p:cNvSpPr>
            <a:spLocks noGrp="1"/>
          </p:cNvSpPr>
          <p:nvPr/>
        </p:nvSpPr>
        <p:spPr>
          <a:xfrm>
            <a:off x="6438900" y="5972175"/>
            <a:ext cx="5143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Aspecto escuro e compacto entre lâminas verdes</a:t>
            </a:r>
          </a:p>
        </p:txBody>
      </p:sp>
    </p:spTree>
    <p:extLst>
      <p:ext uri="{BB962C8B-B14F-4D97-AF65-F5344CB8AC3E}">
        <p14:creationId xmlns:p14="http://schemas.microsoft.com/office/powerpoint/2010/main" val="562943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60572FDF-5B1E-4C0D-A925-6DB64C287AD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333399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29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Crostas e ramificações finas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43B9AB3-F52B-4947-9623-B21E31050883}"/>
              </a:ext>
            </a:extLst>
          </p:cNvPr>
          <p:cNvSpPr>
            <a:spLocks noGrp="1"/>
          </p:cNvSpPr>
          <p:nvPr/>
        </p:nvSpPr>
        <p:spPr>
          <a:xfrm>
            <a:off x="0" y="6496050"/>
            <a:ext cx="2428875" cy="361950"/>
          </a:xfrm>
          <a:prstGeom prst="rect">
            <a:avLst/>
          </a:prstGeom>
          <a:solidFill>
            <a:srgbClr val="252572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UERJ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5C20E8B-93A1-4771-9DE9-0EE76F3363CF}"/>
              </a:ext>
            </a:extLst>
          </p:cNvPr>
          <p:cNvSpPr>
            <a:spLocks noGrp="1"/>
          </p:cNvSpPr>
          <p:nvPr/>
        </p:nvSpPr>
        <p:spPr>
          <a:xfrm>
            <a:off x="2428875" y="6496050"/>
            <a:ext cx="6953250" cy="361950"/>
          </a:xfrm>
          <a:prstGeom prst="rect">
            <a:avLst/>
          </a:prstGeom>
          <a:solidFill>
            <a:srgbClr val="333399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Macroalgas da Praia Vermelha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BACB5C7-1420-4E8B-9839-E0E644C4828F}"/>
              </a:ext>
            </a:extLst>
          </p:cNvPr>
          <p:cNvSpPr>
            <a:spLocks noGrp="1"/>
          </p:cNvSpPr>
          <p:nvPr/>
        </p:nvSpPr>
        <p:spPr>
          <a:xfrm>
            <a:off x="9382125" y="6496050"/>
            <a:ext cx="2809875" cy="361950"/>
          </a:xfrm>
          <a:prstGeom prst="rect">
            <a:avLst/>
          </a:prstGeom>
          <a:solidFill>
            <a:srgbClr val="5151AE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Macroalgas     14/20</a:t>
            </a:r>
          </a:p>
        </p:txBody>
      </p:sp>
      <p:pic>
        <p:nvPicPr>
          <p:cNvPr id="13" name="Imagem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1009650"/>
            <a:ext cx="4838700" cy="4838700"/>
          </a:xfrm>
          <a:prstGeom prst="rect">
            <a:avLst/>
          </a:prstGeom>
        </p:spPr>
      </p:pic>
      <p:pic>
        <p:nvPicPr>
          <p:cNvPr id="14" name="Imagem 1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591300" y="1009650"/>
            <a:ext cx="4838700" cy="4838700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6821A217-D550-4896-ABE1-D45C671A9519}"/>
              </a:ext>
            </a:extLst>
          </p:cNvPr>
          <p:cNvSpPr>
            <a:spLocks noGrp="1"/>
          </p:cNvSpPr>
          <p:nvPr/>
        </p:nvSpPr>
        <p:spPr>
          <a:xfrm>
            <a:off x="609600" y="5972175"/>
            <a:ext cx="5143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Superfície rosada de aspecto crostoso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1F3BEE6-F6A9-4724-AA55-EE236F6D32DF}"/>
              </a:ext>
            </a:extLst>
          </p:cNvPr>
          <p:cNvSpPr>
            <a:spLocks noGrp="1"/>
          </p:cNvSpPr>
          <p:nvPr/>
        </p:nvSpPr>
        <p:spPr>
          <a:xfrm>
            <a:off x="6438900" y="5972175"/>
            <a:ext cx="5143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Detalhe das ramificações sobre a rocha</a:t>
            </a:r>
          </a:p>
        </p:txBody>
      </p:sp>
    </p:spTree>
    <p:extLst>
      <p:ext uri="{BB962C8B-B14F-4D97-AF65-F5344CB8AC3E}">
        <p14:creationId xmlns:p14="http://schemas.microsoft.com/office/powerpoint/2010/main" val="4311320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DB66CEB2-6841-460C-87F5-6D73AE3E995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333399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29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Algas pardas: talos em leque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71B7DF4-D09A-481D-9EE9-FC90C6AD1717}"/>
              </a:ext>
            </a:extLst>
          </p:cNvPr>
          <p:cNvSpPr>
            <a:spLocks noGrp="1"/>
          </p:cNvSpPr>
          <p:nvPr/>
        </p:nvSpPr>
        <p:spPr>
          <a:xfrm>
            <a:off x="0" y="6496050"/>
            <a:ext cx="2428875" cy="361950"/>
          </a:xfrm>
          <a:prstGeom prst="rect">
            <a:avLst/>
          </a:prstGeom>
          <a:solidFill>
            <a:srgbClr val="252572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UERJ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CB008FA-2B75-4A4A-AE58-A5F9EBE7E98E}"/>
              </a:ext>
            </a:extLst>
          </p:cNvPr>
          <p:cNvSpPr>
            <a:spLocks noGrp="1"/>
          </p:cNvSpPr>
          <p:nvPr/>
        </p:nvSpPr>
        <p:spPr>
          <a:xfrm>
            <a:off x="2428875" y="6496050"/>
            <a:ext cx="6953250" cy="361950"/>
          </a:xfrm>
          <a:prstGeom prst="rect">
            <a:avLst/>
          </a:prstGeom>
          <a:solidFill>
            <a:srgbClr val="333399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Macroalgas da Praia Vermelha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AD9F683-9E29-4C5A-AAA8-2ACE45BC24F1}"/>
              </a:ext>
            </a:extLst>
          </p:cNvPr>
          <p:cNvSpPr>
            <a:spLocks noGrp="1"/>
          </p:cNvSpPr>
          <p:nvPr/>
        </p:nvSpPr>
        <p:spPr>
          <a:xfrm>
            <a:off x="9382125" y="6496050"/>
            <a:ext cx="2809875" cy="361950"/>
          </a:xfrm>
          <a:prstGeom prst="rect">
            <a:avLst/>
          </a:prstGeom>
          <a:solidFill>
            <a:srgbClr val="5151AE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Macroalgas     15/20</a:t>
            </a:r>
          </a:p>
        </p:txBody>
      </p:sp>
      <p:pic>
        <p:nvPicPr>
          <p:cNvPr id="13" name="Imagem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42975" y="1047750"/>
            <a:ext cx="5029200" cy="5029200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69731B45-3134-4F02-A6CA-4A33C8E40038}"/>
              </a:ext>
            </a:extLst>
          </p:cNvPr>
          <p:cNvSpPr>
            <a:spLocks noGrp="1"/>
          </p:cNvSpPr>
          <p:nvPr/>
        </p:nvSpPr>
        <p:spPr>
          <a:xfrm>
            <a:off x="7029450" y="1524000"/>
            <a:ext cx="4619625" cy="1104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33399"/>
                </a:solidFill>
                <a:latin typeface="Arial"/>
                <a:ea typeface="Arial"/>
                <a:cs typeface="Arial"/>
              </a:rPr>
              <a:t>Phaeophyceae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96BA3C6-9701-40B0-A23C-69AFBBF02A1D}"/>
              </a:ext>
            </a:extLst>
          </p:cNvPr>
          <p:cNvSpPr>
            <a:spLocks noGrp="1"/>
          </p:cNvSpPr>
          <p:nvPr/>
        </p:nvSpPr>
        <p:spPr>
          <a:xfrm>
            <a:off x="7029450" y="2895600"/>
            <a:ext cx="4619625" cy="1104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Lâminas em leque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E2D131A-CFBA-4ADA-A7C3-391E53DDF738}"/>
              </a:ext>
            </a:extLst>
          </p:cNvPr>
          <p:cNvSpPr>
            <a:spLocks noGrp="1"/>
          </p:cNvSpPr>
          <p:nvPr/>
        </p:nvSpPr>
        <p:spPr>
          <a:xfrm>
            <a:off x="7029450" y="4267200"/>
            <a:ext cx="4619625" cy="1104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Padina, identificação preliminar</a:t>
            </a:r>
          </a:p>
        </p:txBody>
      </p:sp>
    </p:spTree>
    <p:extLst>
      <p:ext uri="{BB962C8B-B14F-4D97-AF65-F5344CB8AC3E}">
        <p14:creationId xmlns:p14="http://schemas.microsoft.com/office/powerpoint/2010/main" val="19907882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8BD938A6-1E42-4C88-9B73-1999427CDD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333399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29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Macroalgas e a comunidade do costão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E29F341-D9E0-4949-84F0-D2336E6E4DBE}"/>
              </a:ext>
            </a:extLst>
          </p:cNvPr>
          <p:cNvSpPr>
            <a:spLocks noGrp="1"/>
          </p:cNvSpPr>
          <p:nvPr/>
        </p:nvSpPr>
        <p:spPr>
          <a:xfrm>
            <a:off x="0" y="6496050"/>
            <a:ext cx="2428875" cy="361950"/>
          </a:xfrm>
          <a:prstGeom prst="rect">
            <a:avLst/>
          </a:prstGeom>
          <a:solidFill>
            <a:srgbClr val="252572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UERJ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0A8B6A7-5B23-471F-AFAC-F98F9F0584BE}"/>
              </a:ext>
            </a:extLst>
          </p:cNvPr>
          <p:cNvSpPr>
            <a:spLocks noGrp="1"/>
          </p:cNvSpPr>
          <p:nvPr/>
        </p:nvSpPr>
        <p:spPr>
          <a:xfrm>
            <a:off x="2428875" y="6496050"/>
            <a:ext cx="6953250" cy="361950"/>
          </a:xfrm>
          <a:prstGeom prst="rect">
            <a:avLst/>
          </a:prstGeom>
          <a:solidFill>
            <a:srgbClr val="333399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Macroalgas da Praia Vermelha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F279046-3A79-4BB7-B14D-8E6EF7D01187}"/>
              </a:ext>
            </a:extLst>
          </p:cNvPr>
          <p:cNvSpPr>
            <a:spLocks noGrp="1"/>
          </p:cNvSpPr>
          <p:nvPr/>
        </p:nvSpPr>
        <p:spPr>
          <a:xfrm>
            <a:off x="9382125" y="6496050"/>
            <a:ext cx="2809875" cy="361950"/>
          </a:xfrm>
          <a:prstGeom prst="rect">
            <a:avLst/>
          </a:prstGeom>
          <a:solidFill>
            <a:srgbClr val="5151AE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Discussão     16/20</a:t>
            </a:r>
          </a:p>
        </p:txBody>
      </p:sp>
      <p:pic>
        <p:nvPicPr>
          <p:cNvPr id="13" name="Imagem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1009650"/>
            <a:ext cx="4838700" cy="4838700"/>
          </a:xfrm>
          <a:prstGeom prst="rect">
            <a:avLst/>
          </a:prstGeom>
        </p:spPr>
      </p:pic>
      <p:pic>
        <p:nvPicPr>
          <p:cNvPr id="14" name="Imagem 1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591300" y="1009650"/>
            <a:ext cx="4838700" cy="4838700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C1314B08-1F83-4932-A180-2294F5A6C711}"/>
              </a:ext>
            </a:extLst>
          </p:cNvPr>
          <p:cNvSpPr>
            <a:spLocks noGrp="1"/>
          </p:cNvSpPr>
          <p:nvPr/>
        </p:nvSpPr>
        <p:spPr>
          <a:xfrm>
            <a:off x="609600" y="5972175"/>
            <a:ext cx="5143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Formas verdes entre estruturas aderidas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BD676B6-B1E5-446A-810C-9A634B57846B}"/>
              </a:ext>
            </a:extLst>
          </p:cNvPr>
          <p:cNvSpPr>
            <a:spLocks noGrp="1"/>
          </p:cNvSpPr>
          <p:nvPr/>
        </p:nvSpPr>
        <p:spPr>
          <a:xfrm>
            <a:off x="6438900" y="5972175"/>
            <a:ext cx="5143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Microambientes na superfície rochosa</a:t>
            </a:r>
          </a:p>
        </p:txBody>
      </p:sp>
    </p:spTree>
    <p:extLst>
      <p:ext uri="{BB962C8B-B14F-4D97-AF65-F5344CB8AC3E}">
        <p14:creationId xmlns:p14="http://schemas.microsoft.com/office/powerpoint/2010/main" val="946271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A9531D79-E49E-4EA7-8F94-21E33A8759D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333399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29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Morfologia e condições ambientais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C215199-EB4B-4C13-9494-A7938C2059DC}"/>
              </a:ext>
            </a:extLst>
          </p:cNvPr>
          <p:cNvSpPr>
            <a:spLocks noGrp="1"/>
          </p:cNvSpPr>
          <p:nvPr/>
        </p:nvSpPr>
        <p:spPr>
          <a:xfrm>
            <a:off x="0" y="6496050"/>
            <a:ext cx="2428875" cy="361950"/>
          </a:xfrm>
          <a:prstGeom prst="rect">
            <a:avLst/>
          </a:prstGeom>
          <a:solidFill>
            <a:srgbClr val="252572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UERJ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EC10F22-8BF8-4018-A230-ED2FB2287538}"/>
              </a:ext>
            </a:extLst>
          </p:cNvPr>
          <p:cNvSpPr>
            <a:spLocks noGrp="1"/>
          </p:cNvSpPr>
          <p:nvPr/>
        </p:nvSpPr>
        <p:spPr>
          <a:xfrm>
            <a:off x="2428875" y="6496050"/>
            <a:ext cx="6953250" cy="361950"/>
          </a:xfrm>
          <a:prstGeom prst="rect">
            <a:avLst/>
          </a:prstGeom>
          <a:solidFill>
            <a:srgbClr val="333399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Macroalgas da Praia Vermelha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E582DAF-E18B-4E02-8172-542B70E339CE}"/>
              </a:ext>
            </a:extLst>
          </p:cNvPr>
          <p:cNvSpPr>
            <a:spLocks noGrp="1"/>
          </p:cNvSpPr>
          <p:nvPr/>
        </p:nvSpPr>
        <p:spPr>
          <a:xfrm>
            <a:off x="9382125" y="6496050"/>
            <a:ext cx="2809875" cy="361950"/>
          </a:xfrm>
          <a:prstGeom prst="rect">
            <a:avLst/>
          </a:prstGeom>
          <a:solidFill>
            <a:srgbClr val="5151AE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Discussão     17/20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C5CB845-2172-4194-9944-1FDCAD3C5B29}"/>
              </a:ext>
            </a:extLst>
          </p:cNvPr>
          <p:cNvSpPr>
            <a:spLocks noGrp="1"/>
          </p:cNvSpPr>
          <p:nvPr/>
        </p:nvSpPr>
        <p:spPr>
          <a:xfrm>
            <a:off x="838200" y="1447800"/>
            <a:ext cx="104775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75" b="1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333399"/>
                </a:solidFill>
                <a:latin typeface="Arial"/>
                <a:ea typeface="Arial"/>
                <a:cs typeface="Arial"/>
              </a:rPr>
              <a:t>Talos flexíveis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DD880F0-80C3-48D1-B8F9-5378CB5AE1F5}"/>
              </a:ext>
            </a:extLst>
          </p:cNvPr>
          <p:cNvSpPr>
            <a:spLocks noGrp="1"/>
          </p:cNvSpPr>
          <p:nvPr/>
        </p:nvSpPr>
        <p:spPr>
          <a:xfrm>
            <a:off x="838200" y="2047875"/>
            <a:ext cx="10477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Deformação com o movimento da água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E683DBE-3778-4467-84AB-152A10EE4E28}"/>
              </a:ext>
            </a:extLst>
          </p:cNvPr>
          <p:cNvSpPr>
            <a:spLocks noGrp="1"/>
          </p:cNvSpPr>
          <p:nvPr/>
        </p:nvSpPr>
        <p:spPr>
          <a:xfrm>
            <a:off x="838200" y="3076575"/>
            <a:ext cx="104775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75" b="1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333399"/>
                </a:solidFill>
                <a:latin typeface="Arial"/>
                <a:ea typeface="Arial"/>
                <a:cs typeface="Arial"/>
              </a:rPr>
              <a:t>Formas junto ao substrato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08B4E65-8E16-40E5-9ECF-5C5BBE2BF0DA}"/>
              </a:ext>
            </a:extLst>
          </p:cNvPr>
          <p:cNvSpPr>
            <a:spLocks noGrp="1"/>
          </p:cNvSpPr>
          <p:nvPr/>
        </p:nvSpPr>
        <p:spPr>
          <a:xfrm>
            <a:off x="838200" y="3676650"/>
            <a:ext cx="10477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Menor exposição direta ao fluxo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B28919E-2D56-4C9C-B5E6-9F263188CC36}"/>
              </a:ext>
            </a:extLst>
          </p:cNvPr>
          <p:cNvSpPr>
            <a:spLocks noGrp="1"/>
          </p:cNvSpPr>
          <p:nvPr/>
        </p:nvSpPr>
        <p:spPr>
          <a:xfrm>
            <a:off x="838200" y="4714875"/>
            <a:ext cx="104775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75" b="1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333399"/>
                </a:solidFill>
                <a:latin typeface="Arial"/>
                <a:ea typeface="Arial"/>
                <a:cs typeface="Arial"/>
              </a:rPr>
              <a:t>Umidade e tempo de submersão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5D28B11-FFA1-4DC1-9303-ABA8CBEF2964}"/>
              </a:ext>
            </a:extLst>
          </p:cNvPr>
          <p:cNvSpPr>
            <a:spLocks noGrp="1"/>
          </p:cNvSpPr>
          <p:nvPr/>
        </p:nvSpPr>
        <p:spPr>
          <a:xfrm>
            <a:off x="838200" y="5314950"/>
            <a:ext cx="10477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Condições para interpretar a distribuição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61731F6-8D2A-4432-95CB-07258A4A9A1A}"/>
              </a:ext>
            </a:extLst>
          </p:cNvPr>
          <p:cNvSpPr>
            <a:spLocks noGrp="1"/>
          </p:cNvSpPr>
          <p:nvPr/>
        </p:nvSpPr>
        <p:spPr>
          <a:xfrm>
            <a:off x="838200" y="6010275"/>
            <a:ext cx="10477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Interpretações ecológicas, sem teste experimental dos mecanismos</a:t>
            </a:r>
          </a:p>
        </p:txBody>
      </p:sp>
    </p:spTree>
    <p:extLst>
      <p:ext uri="{BB962C8B-B14F-4D97-AF65-F5344CB8AC3E}">
        <p14:creationId xmlns:p14="http://schemas.microsoft.com/office/powerpoint/2010/main" val="9531465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6E052FBC-A400-462A-AB33-D3D6C34947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333399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29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Conclusão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31255B6-145B-43B2-B4F1-0BD93508C119}"/>
              </a:ext>
            </a:extLst>
          </p:cNvPr>
          <p:cNvSpPr>
            <a:spLocks noGrp="1"/>
          </p:cNvSpPr>
          <p:nvPr/>
        </p:nvSpPr>
        <p:spPr>
          <a:xfrm>
            <a:off x="0" y="6496050"/>
            <a:ext cx="2428875" cy="361950"/>
          </a:xfrm>
          <a:prstGeom prst="rect">
            <a:avLst/>
          </a:prstGeom>
          <a:solidFill>
            <a:srgbClr val="252572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UERJ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756AE4E-111A-46E7-BD36-C0CB60140939}"/>
              </a:ext>
            </a:extLst>
          </p:cNvPr>
          <p:cNvSpPr>
            <a:spLocks noGrp="1"/>
          </p:cNvSpPr>
          <p:nvPr/>
        </p:nvSpPr>
        <p:spPr>
          <a:xfrm>
            <a:off x="2428875" y="6496050"/>
            <a:ext cx="6953250" cy="361950"/>
          </a:xfrm>
          <a:prstGeom prst="rect">
            <a:avLst/>
          </a:prstGeom>
          <a:solidFill>
            <a:srgbClr val="333399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Macroalgas da Praia Vermelha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AC79B52-BA09-46C3-B5AD-7387D2DA92AE}"/>
              </a:ext>
            </a:extLst>
          </p:cNvPr>
          <p:cNvSpPr>
            <a:spLocks noGrp="1"/>
          </p:cNvSpPr>
          <p:nvPr/>
        </p:nvSpPr>
        <p:spPr>
          <a:xfrm>
            <a:off x="9382125" y="6496050"/>
            <a:ext cx="2809875" cy="361950"/>
          </a:xfrm>
          <a:prstGeom prst="rect">
            <a:avLst/>
          </a:prstGeom>
          <a:solidFill>
            <a:srgbClr val="5151AE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Conclusão     18/20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777DA09-4DE2-4E65-8356-A97BA3F07242}"/>
              </a:ext>
            </a:extLst>
          </p:cNvPr>
          <p:cNvSpPr>
            <a:spLocks noGrp="1"/>
          </p:cNvSpPr>
          <p:nvPr/>
        </p:nvSpPr>
        <p:spPr>
          <a:xfrm>
            <a:off x="838200" y="1514475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33399"/>
                </a:solidFill>
                <a:latin typeface="Arial"/>
                <a:ea typeface="Arial"/>
                <a:cs typeface="Arial"/>
              </a:rPr>
              <a:t>Diversidade de cores e formas de talo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51D44C3-0888-410F-B331-3DFF719E9771}"/>
              </a:ext>
            </a:extLst>
          </p:cNvPr>
          <p:cNvSpPr>
            <a:spLocks noGrp="1"/>
          </p:cNvSpPr>
          <p:nvPr/>
        </p:nvSpPr>
        <p:spPr>
          <a:xfrm>
            <a:off x="838200" y="2857500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33399"/>
                </a:solidFill>
                <a:latin typeface="Arial"/>
                <a:ea typeface="Arial"/>
                <a:cs typeface="Arial"/>
              </a:rPr>
              <a:t>Maior cobertura aparente em trechos úmidos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AFDAF3B-106A-40BA-8879-92BDAB87A8BC}"/>
              </a:ext>
            </a:extLst>
          </p:cNvPr>
          <p:cNvSpPr>
            <a:spLocks noGrp="1"/>
          </p:cNvSpPr>
          <p:nvPr/>
        </p:nvSpPr>
        <p:spPr>
          <a:xfrm>
            <a:off x="838200" y="4210050"/>
            <a:ext cx="104775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33399"/>
                </a:solidFill>
                <a:latin typeface="Arial"/>
                <a:ea typeface="Arial"/>
                <a:cs typeface="Arial"/>
              </a:rPr>
              <a:t>Exposição ao ar e ondas ajudam a interpretar o padrão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5EB64B8-B9C1-4C92-89D1-C2174F3D205E}"/>
              </a:ext>
            </a:extLst>
          </p:cNvPr>
          <p:cNvSpPr>
            <a:spLocks noGrp="1"/>
          </p:cNvSpPr>
          <p:nvPr/>
        </p:nvSpPr>
        <p:spPr>
          <a:xfrm>
            <a:off x="838200" y="5810250"/>
            <a:ext cx="10477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Resultados qualitativos, com documentação limitada do infralitoral</a:t>
            </a:r>
          </a:p>
        </p:txBody>
      </p:sp>
    </p:spTree>
    <p:extLst>
      <p:ext uri="{BB962C8B-B14F-4D97-AF65-F5344CB8AC3E}">
        <p14:creationId xmlns:p14="http://schemas.microsoft.com/office/powerpoint/2010/main" val="3663990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0FB8E791-BC1C-4B2C-878A-EBA5606F07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333399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29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Fontes e registros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46CA1FC-7896-4878-9F8E-9A41589B6D28}"/>
              </a:ext>
            </a:extLst>
          </p:cNvPr>
          <p:cNvSpPr>
            <a:spLocks noGrp="1"/>
          </p:cNvSpPr>
          <p:nvPr/>
        </p:nvSpPr>
        <p:spPr>
          <a:xfrm>
            <a:off x="0" y="6496050"/>
            <a:ext cx="2428875" cy="361950"/>
          </a:xfrm>
          <a:prstGeom prst="rect">
            <a:avLst/>
          </a:prstGeom>
          <a:solidFill>
            <a:srgbClr val="252572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UERJ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773DD28-3BFE-425C-AD5E-F8A84617808A}"/>
              </a:ext>
            </a:extLst>
          </p:cNvPr>
          <p:cNvSpPr>
            <a:spLocks noGrp="1"/>
          </p:cNvSpPr>
          <p:nvPr/>
        </p:nvSpPr>
        <p:spPr>
          <a:xfrm>
            <a:off x="2428875" y="6496050"/>
            <a:ext cx="6953250" cy="361950"/>
          </a:xfrm>
          <a:prstGeom prst="rect">
            <a:avLst/>
          </a:prstGeom>
          <a:solidFill>
            <a:srgbClr val="333399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Macroalgas da Praia Vermelha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2FFB4D5-6C36-4C3B-ADD6-897848668D91}"/>
              </a:ext>
            </a:extLst>
          </p:cNvPr>
          <p:cNvSpPr>
            <a:spLocks noGrp="1"/>
          </p:cNvSpPr>
          <p:nvPr/>
        </p:nvSpPr>
        <p:spPr>
          <a:xfrm>
            <a:off x="9382125" y="6496050"/>
            <a:ext cx="2809875" cy="361950"/>
          </a:xfrm>
          <a:prstGeom prst="rect">
            <a:avLst/>
          </a:prstGeom>
          <a:solidFill>
            <a:srgbClr val="5151AE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Referências     19/20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8BDC388-CD9E-42C9-BF1D-19840DF45F7C}"/>
              </a:ext>
            </a:extLst>
          </p:cNvPr>
          <p:cNvSpPr>
            <a:spLocks noGrp="1"/>
          </p:cNvSpPr>
          <p:nvPr/>
        </p:nvSpPr>
        <p:spPr>
          <a:xfrm>
            <a:off x="838200" y="1381125"/>
            <a:ext cx="104775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33399"/>
                </a:solidFill>
                <a:latin typeface="Arial"/>
                <a:ea typeface="Arial"/>
                <a:cs typeface="Arial"/>
              </a:rPr>
              <a:t>Roteiro da aula prática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1081D4D-6E44-49AB-AA34-980CED5F7235}"/>
              </a:ext>
            </a:extLst>
          </p:cNvPr>
          <p:cNvSpPr>
            <a:spLocks noGrp="1"/>
          </p:cNvSpPr>
          <p:nvPr/>
        </p:nvSpPr>
        <p:spPr>
          <a:xfrm>
            <a:off x="838200" y="1943100"/>
            <a:ext cx="104775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Fundamentos de Biologia III. Material da disciplina.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8C7E8F3-158C-40ED-BE71-6A2BCEF941F9}"/>
              </a:ext>
            </a:extLst>
          </p:cNvPr>
          <p:cNvSpPr>
            <a:spLocks noGrp="1"/>
          </p:cNvSpPr>
          <p:nvPr/>
        </p:nvSpPr>
        <p:spPr>
          <a:xfrm>
            <a:off x="838200" y="2847975"/>
            <a:ext cx="104775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33399"/>
                </a:solidFill>
                <a:latin typeface="Arial"/>
                <a:ea typeface="Arial"/>
                <a:cs typeface="Arial"/>
              </a:rPr>
              <a:t>Relatos do grupo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3093543-D912-4E23-8547-B1A7A28AA9F7}"/>
              </a:ext>
            </a:extLst>
          </p:cNvPr>
          <p:cNvSpPr>
            <a:spLocks noGrp="1"/>
          </p:cNvSpPr>
          <p:nvPr/>
        </p:nvSpPr>
        <p:spPr>
          <a:xfrm>
            <a:off x="838200" y="3409950"/>
            <a:ext cx="1047750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Zonação</a:t>
            </a:r>
          </a:p>
          <a:p>
            <a:pPr>
              <a:defRPr sz="2100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Resultados: macroalgas</a:t>
            </a:r>
          </a:p>
          <a:p>
            <a:pPr>
              <a:defRPr sz="2100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Discussão e conclusão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4D82015-91EF-4C04-BDEC-59DD31BCF082}"/>
              </a:ext>
            </a:extLst>
          </p:cNvPr>
          <p:cNvSpPr>
            <a:spLocks noGrp="1"/>
          </p:cNvSpPr>
          <p:nvPr/>
        </p:nvSpPr>
        <p:spPr>
          <a:xfrm>
            <a:off x="838200" y="5572125"/>
            <a:ext cx="10477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1950" b="0" dirty="0" err="1">
                <a:solidFill>
                  <a:srgbClr val="202D40"/>
                </a:solidFill>
                <a:latin typeface="Arial"/>
                <a:ea typeface="Arial"/>
                <a:cs typeface="Arial"/>
              </a:rPr>
              <a:t>Fotografias</a:t>
            </a:r>
            <a:r>
              <a:rPr sz="1950" b="0" dirty="0">
                <a:solidFill>
                  <a:srgbClr val="202D40"/>
                </a:solidFill>
                <a:latin typeface="Arial"/>
                <a:ea typeface="Arial"/>
                <a:cs typeface="Arial"/>
              </a:rPr>
              <a:t> de campo do </a:t>
            </a:r>
            <a:r>
              <a:rPr sz="1950" b="0" dirty="0" err="1">
                <a:solidFill>
                  <a:srgbClr val="202D40"/>
                </a:solidFill>
                <a:latin typeface="Arial"/>
                <a:ea typeface="Arial"/>
                <a:cs typeface="Arial"/>
              </a:rPr>
              <a:t>grupo</a:t>
            </a:r>
            <a:r>
              <a:rPr lang="pt-BR" sz="1950" dirty="0">
                <a:solidFill>
                  <a:srgbClr val="202D40"/>
                </a:solidFill>
                <a:latin typeface="Arial"/>
                <a:ea typeface="Arial"/>
                <a:cs typeface="Arial"/>
              </a:rPr>
              <a:t>.</a:t>
            </a:r>
            <a:endParaRPr sz="1950" b="0" dirty="0">
              <a:solidFill>
                <a:srgbClr val="202D4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28463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E94E250D-A585-45F7-83EE-142DD9BF375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333399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29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Muito obrigado!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79B01D3-58DA-4CD4-A098-AB225ABF5FFB}"/>
              </a:ext>
            </a:extLst>
          </p:cNvPr>
          <p:cNvSpPr>
            <a:spLocks noGrp="1"/>
          </p:cNvSpPr>
          <p:nvPr/>
        </p:nvSpPr>
        <p:spPr>
          <a:xfrm>
            <a:off x="0" y="6496050"/>
            <a:ext cx="2428875" cy="361950"/>
          </a:xfrm>
          <a:prstGeom prst="rect">
            <a:avLst/>
          </a:prstGeom>
          <a:solidFill>
            <a:srgbClr val="252572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UERJ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FD87A26-34D8-4DC0-8514-6645E2A675B3}"/>
              </a:ext>
            </a:extLst>
          </p:cNvPr>
          <p:cNvSpPr>
            <a:spLocks noGrp="1"/>
          </p:cNvSpPr>
          <p:nvPr/>
        </p:nvSpPr>
        <p:spPr>
          <a:xfrm>
            <a:off x="2428875" y="6496050"/>
            <a:ext cx="6953250" cy="361950"/>
          </a:xfrm>
          <a:prstGeom prst="rect">
            <a:avLst/>
          </a:prstGeom>
          <a:solidFill>
            <a:srgbClr val="333399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Macroalgas da Praia Vermelha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4997B23-C7E8-4FC3-89B9-520CAF6076F1}"/>
              </a:ext>
            </a:extLst>
          </p:cNvPr>
          <p:cNvSpPr>
            <a:spLocks noGrp="1"/>
          </p:cNvSpPr>
          <p:nvPr/>
        </p:nvSpPr>
        <p:spPr>
          <a:xfrm>
            <a:off x="9382125" y="6496050"/>
            <a:ext cx="2809875" cy="361950"/>
          </a:xfrm>
          <a:prstGeom prst="rect">
            <a:avLst/>
          </a:prstGeom>
          <a:solidFill>
            <a:srgbClr val="5151AE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Encerramento     20/20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5FE3A48-953F-4446-A804-4E954B74A143}"/>
              </a:ext>
            </a:extLst>
          </p:cNvPr>
          <p:cNvSpPr>
            <a:spLocks noGrp="1"/>
          </p:cNvSpPr>
          <p:nvPr/>
        </p:nvSpPr>
        <p:spPr>
          <a:xfrm>
            <a:off x="838200" y="2238375"/>
            <a:ext cx="1047750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800" b="1">
                <a:solidFill>
                  <a:srgbClr val="333399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333399"/>
                </a:solidFill>
                <a:latin typeface="Arial"/>
                <a:ea typeface="Arial"/>
                <a:cs typeface="Arial"/>
              </a:rPr>
              <a:t>Muito obrigado!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7DDEBE8-CDCA-45E8-8E6D-E86A22DD10C1}"/>
              </a:ext>
            </a:extLst>
          </p:cNvPr>
          <p:cNvSpPr>
            <a:spLocks noGrp="1"/>
          </p:cNvSpPr>
          <p:nvPr/>
        </p:nvSpPr>
        <p:spPr>
          <a:xfrm>
            <a:off x="866775" y="3762375"/>
            <a:ext cx="104775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25" b="0">
                <a:solidFill>
                  <a:srgbClr val="202D40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02D40"/>
                </a:solidFill>
                <a:latin typeface="Arial"/>
                <a:ea typeface="Arial"/>
                <a:cs typeface="Arial"/>
              </a:rPr>
              <a:t>Perguntas e comentários</a:t>
            </a:r>
          </a:p>
        </p:txBody>
      </p:sp>
      <p:pic>
        <p:nvPicPr>
          <p:cNvPr id="14" name="Imagem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01250" y="4810125"/>
            <a:ext cx="123825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75702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1457</Words>
  <Application>Microsoft Office PowerPoint</Application>
  <DocSecurity>0</DocSecurity>
  <PresentationFormat>Widescreen</PresentationFormat>
  <Paragraphs>174</Paragraphs>
  <Slides>20</Slides>
  <Notes>20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3" baseType="lpstr">
      <vt:lpstr>Aptos</vt:lpstr>
      <vt:lpstr>Arial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Jose Mauro Elsas</cp:lastModifiedBy>
  <cp:revision>1</cp:revision>
  <dcterms:created xsi:type="dcterms:W3CDTF">2026-10-05T20:11:11Z</dcterms:created>
  <dcterms:modified xsi:type="dcterms:W3CDTF">2026-10-05T20:15:36Z</dcterms:modified>
</cp:coreProperties>
</file>