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256" r:id="rId2"/>
    <p:sldId id="257" r:id="rId3"/>
    <p:sldId id="258" r:id="rId4"/>
    <p:sldId id="259" r:id="rId5"/>
    <p:sldId id="260" r:id="rId6"/>
    <p:sldId id="262" r:id="rId7"/>
    <p:sldId id="261"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1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Capa. José. Seis nomes confirmados pelo coordenador. Docente e data do campo a confirmar. Praia Vermelha informada pelo coordenador, em divergência com Praia da Urca no roteiro. Duração total 20 minutos. As identificações em gênero são preliminares.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Estrutura do seminário: Introdução, Objetivos, Metodologia, Resultados, Discussão e Conclusão. Apresentação de aproximadamente 20 minutos.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José. Cerca de 1 minuto. Fonte: roteiro da aula prática, seção 3.1, e observações do grupo. Apresentar macroalgas, ambiente e propósito do seminário.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José. 1,5 min. Fotografias do novo lote, vistas gerais do campo. Fonte teórica: roteiro seção 3.1. Apresentar substrato rochoso, umidade e tempo de emersão, dessecação, temperatura, luz e ondas. Não inferir altura da maré nem delimitar zonas apenas pelas vistas gerais.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Ricardo. 1 min. Fonte: roteiro seção 2. Relacionar observação de campo, morfologia e interpretação ecológica.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Daniel Martinz. 1 min. Fonte: relato do coordenador e textos do grupo. Confirmados observação, registro fotográfico e descrição. Confirmar data do campo, estado da maré, trecho e atividades de laboratório. Não assumir coleta.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Ricardo. 1,5 min. Fonte: roteiro seção 3.1. Supralitoral acima da maré alta recebe spray. Médiolitoral alterna imersão e emersão. Infralitoral abaixo da maré baixa é predominantemente submerso. Limites variáveis com topografia e ondas.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Israel. 1,5 min. Fonte: Zonação.pdf p.1. Fotografias correspondentes enviadas no novo lote. O grupo classificou a região como supralitoral. A posição exata e a identidade das crostas precisam de confirmação. A fotografia não delimita uma zona por si só.</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Israel. 1,5 min. Fonte: Zonação.pdf p.2 e fotos do quarto lote, imagens 0 e 7. Os registros mostram distribuição irregular de cobertura verde e avermelhada nas superfícies. O grupo classifica o trecho como médiolitoral. Os limites exatos das zonas exigem conferência de maré e posição. Comparação qualitativa, sem contagem de espécies ou porcentagem de cobertura.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Israel. 1 min. Fonte: Zonação.pdf p.3. A nova foto mostra uma vista de superfície do ambiente, não uma amostra ou delimitação do infralitoral. O grupo relata continuidade e maior cobertura aparente abaixo da água, sem documentação subaquática. Não inferir forma de talos nem diversidade pela vista geral. Limitações: ouriços e ausência de câmera adequada.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Giullia. Fonte: Resultados - macroalgas.docx. Recuperadas localização, tamanho qualitativo e sinais de ressecamento. O texto original fala em algas mortas, mas as fotos não demonstram mortalidade nem sua causa. Identificação preliminar de Ulva. Talos flexíveis podem se deformar com a água, interpretação discutida adiante. Não equiparar flexibilidade a tolerância comprovada à dessecação.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Giullia. 1 min. Fonte: fotografia 2 do novo lote. Novo detalhe morfológico em comparação ao primeiro deck. Não atribuir gênero à estrutura vesicular sem confirmação. Descrever forma, cor e associação espacial. Não equivale à descoberta de nova espécie.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Giullia. Fonte: Resultados - macroalgas.docx. Recuperada relação espacial com verdes e maior contato relatado com a maré. Documento descreve talos calcificados, crostosos, laminares e ramificados, representados em conjunto com o slide seguinte. Fotografias não confirmam gêneros, espécies ou calcificação.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Giullia. Fontes: Resultados - macroalgas.docx e novas fotos 4/5. As formas listadas são descrições do grupo, não identificação de cada estrutura apenas pela foto. Calcificação necessita confirmação. A variedade morfológica permite discutir relações com o hidrodinamismo, sem concluir adaptações específicas comprovadas.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Giullia. Fonte: Resultados - macroalgas.docx. Algas pequenas, castanhas, com aspecto translúcido e talos em leque, identificadas preliminarmente como Padina pelo grupo. Documento relata presença no médiolitoral mais em direção ao mar. Calcificação descrita pelo grupo não foi confirmada pela foto. Retenção de água e resistência atribuídas à morfologia são hipóteses que o campo não testou.</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Miguel. Fonte: DISCUSSÃO E CONCLUSÃO.docx e roteiro seção 3.1. Recuperada discussão por zona. No supralitoral, o grupo relata cobertura reduzida e crostas na faixa de respingos. No médiolitoral, alternância água/ar e ocorrência conjunta de verdes e vermelhas. No infralitoral, menor dessecação e relato de talos maiores e delicados. Esta última observação não tem foto subaquática. Não concluir que calcificação protege necessariamente contra perda de água.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Miguel. Fontes: DISCUSSÃO E CONCLUSÃO.docx, Resultados - macroalgas.docx e roteiro. Recuperadas relações entre formas dos talos e ambiente, com linguagem de interpretação. A flexibilidade permite deformação com a água, mas sua tolerância à exposição exige outros mecanismos. Formas crostosas têm crescimento próximo à rocha. A submersão reduz risco de dessecação, mas ondas continuam atuando. Evitar generalização de talos delicados para todo infralitoral.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Miguel. Fonte: DISCUSSÃO E CONCLUSÃO.docx, resultados e Zonação.pdf. Recuperado argumento central sobre exposição ao ar, umidade e zonação. Corrigido aumento de densidade/população para cobertura e variedade aparente, pois faltam contagens ou medidas. O infralitoral depende de relato visual, sem imagem representativa.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Fontes fornecidas pelo grupo: roteiro da aula prática, Zonação.pdf, Resultados - macroalgas.docx e Discussão e conclusão.docx. Fotos do grupo, autoria individual a confirmar. Logo fornecido pelo coordenador. Confirmar autoria/data do roteiro para referência final. Nas notas de cada slide estão as fontes e ressalvas.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Encerramento. Agradecer a atenção e abrir espaço para perguntas.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FA1E0A47-CEF0-4A54-8D19-E33646B796D6}"/>
              </a:ext>
            </a:extLst>
          </p:cNvPr>
          <p:cNvSpPr>
            <a:spLocks noGrp="1"/>
          </p:cNvSpPr>
          <p:nvPr/>
        </p:nvSpPr>
        <p:spPr>
          <a:xfrm>
            <a:off x="5791200" y="22098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1E94B853-40DB-4C6C-A89D-12A6C7653DCA}"/>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Subtitle">
            <a:extLst>
              <a:ext uri="{FF2B5EF4-FFF2-40B4-BE49-F238E27FC236}">
                <a16:creationId xmlns:a16="http://schemas.microsoft.com/office/drawing/2014/main" id="{0358140A-34B9-4AEF-864F-B121E85EFE19}"/>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3" name="Accent rule">
            <a:extLst>
              <a:ext uri="{FF2B5EF4-FFF2-40B4-BE49-F238E27FC236}">
                <a16:creationId xmlns:a16="http://schemas.microsoft.com/office/drawing/2014/main" id="{2AD9363E-B344-4699-A706-F83DA7AB99ED}"/>
              </a:ext>
            </a:extLst>
          </p:cNvPr>
          <p:cNvSpPr>
            <a:spLocks noGrp="1"/>
          </p:cNvSpPr>
          <p:nvPr/>
        </p:nvSpPr>
        <p:spPr>
          <a:xfrm>
            <a:off x="5791200" y="2476500"/>
            <a:ext cx="609600" cy="38100"/>
          </a:xfrm>
          <a:prstGeom prst="rect">
            <a:avLst/>
          </a:prstGeom>
          <a:solidFill>
            <a:schemeClr val="accent1"/>
          </a:solidFill>
          <a:ln>
            <a:noFill/>
            <a:prstDash val="solid"/>
          </a:ln>
        </p:spPr>
      </p:sp>
      <p:sp>
        <p:nvSpPr>
          <p:cNvPr id="2" name="Section title">
            <a:extLst>
              <a:ext uri="{FF2B5EF4-FFF2-40B4-BE49-F238E27FC236}">
                <a16:creationId xmlns:a16="http://schemas.microsoft.com/office/drawing/2014/main" id="{0F114807-C411-425D-B723-845C38F26029}"/>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E095606E-155D-4C31-A63C-076D2029C019}"/>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337E9649-D9FB-4132-A0CB-B34A898AB2A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Body">
            <a:extLst>
              <a:ext uri="{FF2B5EF4-FFF2-40B4-BE49-F238E27FC236}">
                <a16:creationId xmlns:a16="http://schemas.microsoft.com/office/drawing/2014/main" id="{31BB16BC-DB63-48F7-AF25-2F77B109E92A}"/>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5" name="Accent rule">
            <a:extLst>
              <a:ext uri="{FF2B5EF4-FFF2-40B4-BE49-F238E27FC236}">
                <a16:creationId xmlns:a16="http://schemas.microsoft.com/office/drawing/2014/main" id="{70DC8725-5FFD-4C25-8D56-D9750F0ACCA2}"/>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3C35571C-741C-4418-A888-FD384EAC9708}"/>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Left column">
            <a:extLst>
              <a:ext uri="{FF2B5EF4-FFF2-40B4-BE49-F238E27FC236}">
                <a16:creationId xmlns:a16="http://schemas.microsoft.com/office/drawing/2014/main" id="{88821F54-E4A6-41C8-B24C-C5DA35716EE5}"/>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4" name="Right column">
            <a:extLst>
              <a:ext uri="{FF2B5EF4-FFF2-40B4-BE49-F238E27FC236}">
                <a16:creationId xmlns:a16="http://schemas.microsoft.com/office/drawing/2014/main" id="{4ABAB326-C744-4D69-988B-0C1AE7510EE4}"/>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AE8D5D1B-0E84-4965-A1CB-4FA97F9D3BEA}"/>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B48B0163-5CE4-498B-8A1C-B2C137B27526}"/>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Left column">
            <a:extLst>
              <a:ext uri="{FF2B5EF4-FFF2-40B4-BE49-F238E27FC236}">
                <a16:creationId xmlns:a16="http://schemas.microsoft.com/office/drawing/2014/main" id="{315C4F6D-45AC-44F0-8B7D-7ED7167B9BC7}"/>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6.jpeg"/></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8.jpeg"/></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image" Target="../media/image11.jpeg"/></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3.xml"/><Relationship Id="rId1" Type="http://schemas.openxmlformats.org/officeDocument/2006/relationships/slideLayout" Target="../slideLayouts/slideLayout6.xml"/><Relationship Id="rId4" Type="http://schemas.openxmlformats.org/officeDocument/2006/relationships/image" Target="../media/image14.jpeg"/></Relationships>
</file>

<file path=ppt/slides/_rels/slide1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openxmlformats.org/officeDocument/2006/relationships/image" Target="../media/image16.jpeg"/></Relationships>
</file>

<file path=ppt/slides/_rels/slide1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tângulo 10">
            <a:extLst>
              <a:ext uri="{FF2B5EF4-FFF2-40B4-BE49-F238E27FC236}">
                <a16:creationId xmlns:a16="http://schemas.microsoft.com/office/drawing/2014/main" id="{1BF44139-B677-4874-9697-9D4ADEABF0E2}"/>
              </a:ext>
            </a:extLst>
          </p:cNvPr>
          <p:cNvSpPr>
            <a:spLocks noGrp="1"/>
          </p:cNvSpPr>
          <p:nvPr/>
        </p:nvSpPr>
        <p:spPr>
          <a:xfrm>
            <a:off x="0" y="0"/>
            <a:ext cx="12192000" cy="781050"/>
          </a:xfrm>
          <a:prstGeom prst="rect">
            <a:avLst/>
          </a:prstGeom>
          <a:solidFill>
            <a:srgbClr val="333399"/>
          </a:solidFill>
          <a:ln w="0">
            <a:noFill/>
          </a:ln>
        </p:spPr>
        <p:txBody>
          <a:bodyPr>
            <a:noAutofit/>
          </a:bodyPr>
          <a:lstStyle/>
          <a:p>
            <a:pPr>
              <a:defRPr sz="2925" b="0">
                <a:solidFill>
                  <a:srgbClr val="FFFFFF"/>
                </a:solidFill>
                <a:latin typeface="Arial"/>
                <a:ea typeface="Arial"/>
                <a:cs typeface="Arial"/>
              </a:defRPr>
            </a:pPr>
            <a:r>
              <a:rPr sz="2925" b="0">
                <a:solidFill>
                  <a:srgbClr val="FFFFFF"/>
                </a:solidFill>
                <a:latin typeface="Arial"/>
                <a:ea typeface="Arial"/>
                <a:cs typeface="Arial"/>
              </a:rPr>
              <a:t>Macroalgas da Praia Vermelha</a:t>
            </a:r>
          </a:p>
        </p:txBody>
      </p:sp>
      <p:sp>
        <p:nvSpPr>
          <p:cNvPr id="2" name="Retângulo 1">
            <a:extLst>
              <a:ext uri="{FF2B5EF4-FFF2-40B4-BE49-F238E27FC236}">
                <a16:creationId xmlns:a16="http://schemas.microsoft.com/office/drawing/2014/main" id="{4D88F562-102A-45B5-B3DF-2F9071DFF6BB}"/>
              </a:ext>
            </a:extLst>
          </p:cNvPr>
          <p:cNvSpPr>
            <a:spLocks noGrp="1"/>
          </p:cNvSpPr>
          <p:nvPr/>
        </p:nvSpPr>
        <p:spPr>
          <a:xfrm>
            <a:off x="0" y="6496050"/>
            <a:ext cx="2428875" cy="361950"/>
          </a:xfrm>
          <a:prstGeom prst="rect">
            <a:avLst/>
          </a:prstGeom>
          <a:solidFill>
            <a:srgbClr val="252572"/>
          </a:solidFill>
          <a:ln w="0">
            <a:noFill/>
          </a:ln>
        </p:spPr>
        <p:txBody>
          <a:bodyPr>
            <a:noAutofit/>
          </a:bodyPr>
          <a:lstStyle/>
          <a:p>
            <a:pPr>
              <a:defRPr sz="1350" b="0">
                <a:solidFill>
                  <a:srgbClr val="FFFFFF"/>
                </a:solidFill>
                <a:latin typeface="Arial"/>
                <a:ea typeface="Arial"/>
                <a:cs typeface="Arial"/>
              </a:defRPr>
            </a:pPr>
            <a:r>
              <a:rPr sz="1350" b="0">
                <a:solidFill>
                  <a:srgbClr val="FFFFFF"/>
                </a:solidFill>
                <a:latin typeface="Arial"/>
                <a:ea typeface="Arial"/>
                <a:cs typeface="Arial"/>
              </a:rPr>
              <a:t>UERJ</a:t>
            </a:r>
          </a:p>
        </p:txBody>
      </p:sp>
      <p:sp>
        <p:nvSpPr>
          <p:cNvPr id="3" name="Retângulo 2">
            <a:extLst>
              <a:ext uri="{FF2B5EF4-FFF2-40B4-BE49-F238E27FC236}">
                <a16:creationId xmlns:a16="http://schemas.microsoft.com/office/drawing/2014/main" id="{B01792AD-6A71-41B6-9294-4574C2600715}"/>
              </a:ext>
            </a:extLst>
          </p:cNvPr>
          <p:cNvSpPr>
            <a:spLocks noGrp="1"/>
          </p:cNvSpPr>
          <p:nvPr/>
        </p:nvSpPr>
        <p:spPr>
          <a:xfrm>
            <a:off x="2428875" y="6496050"/>
            <a:ext cx="6953250" cy="361950"/>
          </a:xfrm>
          <a:prstGeom prst="rect">
            <a:avLst/>
          </a:prstGeom>
          <a:solidFill>
            <a:srgbClr val="333399"/>
          </a:solidFill>
          <a:ln w="0">
            <a:noFill/>
          </a:ln>
        </p:spPr>
        <p:txBody>
          <a:bodyPr>
            <a:noAutofit/>
          </a:bodyPr>
          <a:lstStyle/>
          <a:p>
            <a:pPr>
              <a:defRPr sz="1350" b="0">
                <a:solidFill>
                  <a:srgbClr val="FFFFFF"/>
                </a:solidFill>
                <a:latin typeface="Arial"/>
                <a:ea typeface="Arial"/>
                <a:cs typeface="Arial"/>
              </a:defRPr>
            </a:pPr>
            <a:r>
              <a:rPr sz="1350" b="0">
                <a:solidFill>
                  <a:srgbClr val="FFFFFF"/>
                </a:solidFill>
                <a:latin typeface="Arial"/>
                <a:ea typeface="Arial"/>
                <a:cs typeface="Arial"/>
              </a:rPr>
              <a:t>Macroalgas da Praia Vermelha</a:t>
            </a:r>
          </a:p>
        </p:txBody>
      </p:sp>
      <p:sp>
        <p:nvSpPr>
          <p:cNvPr id="4" name="Retângulo 3">
            <a:extLst>
              <a:ext uri="{FF2B5EF4-FFF2-40B4-BE49-F238E27FC236}">
                <a16:creationId xmlns:a16="http://schemas.microsoft.com/office/drawing/2014/main" id="{C7DCC8CF-287C-401E-BD5A-227FE2B4873A}"/>
              </a:ext>
            </a:extLst>
          </p:cNvPr>
          <p:cNvSpPr>
            <a:spLocks noGrp="1"/>
          </p:cNvSpPr>
          <p:nvPr/>
        </p:nvSpPr>
        <p:spPr>
          <a:xfrm>
            <a:off x="9382125" y="6496050"/>
            <a:ext cx="2809875" cy="361950"/>
          </a:xfrm>
          <a:prstGeom prst="rect">
            <a:avLst/>
          </a:prstGeom>
          <a:solidFill>
            <a:srgbClr val="5151AE"/>
          </a:solidFill>
          <a:ln w="0">
            <a:noFill/>
          </a:ln>
        </p:spPr>
        <p:txBody>
          <a:bodyPr>
            <a:noAutofit/>
          </a:bodyPr>
          <a:lstStyle/>
          <a:p>
            <a:pPr>
              <a:defRPr sz="1275" b="0">
                <a:solidFill>
                  <a:srgbClr val="FFFFFF"/>
                </a:solidFill>
                <a:latin typeface="Arial"/>
                <a:ea typeface="Arial"/>
                <a:cs typeface="Arial"/>
              </a:defRPr>
            </a:pPr>
            <a:r>
              <a:rPr sz="1275" b="0">
                <a:solidFill>
                  <a:srgbClr val="FFFFFF"/>
                </a:solidFill>
                <a:latin typeface="Arial"/>
                <a:ea typeface="Arial"/>
                <a:cs typeface="Arial"/>
              </a:rPr>
              <a:t>Seminário     1/20</a:t>
            </a:r>
          </a:p>
        </p:txBody>
      </p:sp>
      <p:pic>
        <p:nvPicPr>
          <p:cNvPr id="15" name="Imagem 14"/>
          <p:cNvPicPr>
            <a:picLocks noChangeAspect="1"/>
          </p:cNvPicPr>
          <p:nvPr/>
        </p:nvPicPr>
        <p:blipFill>
          <a:blip r:embed="rId3"/>
          <a:stretch/>
        </p:blipFill>
        <p:spPr>
          <a:xfrm>
            <a:off x="819150" y="1219200"/>
            <a:ext cx="1524000" cy="1524000"/>
          </a:xfrm>
          <a:prstGeom prst="rect">
            <a:avLst/>
          </a:prstGeom>
        </p:spPr>
      </p:pic>
      <p:sp>
        <p:nvSpPr>
          <p:cNvPr id="6" name="Retângulo 5">
            <a:extLst>
              <a:ext uri="{FF2B5EF4-FFF2-40B4-BE49-F238E27FC236}">
                <a16:creationId xmlns:a16="http://schemas.microsoft.com/office/drawing/2014/main" id="{4419CEDD-994D-4EEC-A2B7-B1932380EEC4}"/>
              </a:ext>
            </a:extLst>
          </p:cNvPr>
          <p:cNvSpPr>
            <a:spLocks noGrp="1"/>
          </p:cNvSpPr>
          <p:nvPr/>
        </p:nvSpPr>
        <p:spPr>
          <a:xfrm>
            <a:off x="2724150" y="1581150"/>
            <a:ext cx="8572500" cy="838200"/>
          </a:xfrm>
          <a:prstGeom prst="rect">
            <a:avLst/>
          </a:prstGeom>
          <a:noFill/>
          <a:ln w="0">
            <a:noFill/>
          </a:ln>
        </p:spPr>
        <p:txBody>
          <a:bodyPr>
            <a:noAutofit/>
          </a:bodyPr>
          <a:lstStyle/>
          <a:p>
            <a:pPr>
              <a:defRPr sz="2175" b="1">
                <a:solidFill>
                  <a:srgbClr val="333399"/>
                </a:solidFill>
                <a:latin typeface="Arial"/>
                <a:ea typeface="Arial"/>
                <a:cs typeface="Arial"/>
              </a:defRPr>
            </a:pPr>
            <a:r>
              <a:rPr sz="2175" b="1">
                <a:solidFill>
                  <a:srgbClr val="333399"/>
                </a:solidFill>
                <a:latin typeface="Arial"/>
                <a:ea typeface="Arial"/>
                <a:cs typeface="Arial"/>
              </a:rPr>
              <a:t>Universidade do Estado do Rio de Janeiro</a:t>
            </a:r>
          </a:p>
          <a:p>
            <a:pPr>
              <a:defRPr sz="2175" b="1">
                <a:solidFill>
                  <a:srgbClr val="333399"/>
                </a:solidFill>
                <a:latin typeface="Arial"/>
                <a:ea typeface="Arial"/>
                <a:cs typeface="Arial"/>
              </a:defRPr>
            </a:pPr>
            <a:r>
              <a:rPr sz="2175" b="1">
                <a:solidFill>
                  <a:srgbClr val="333399"/>
                </a:solidFill>
                <a:latin typeface="Arial"/>
                <a:ea typeface="Arial"/>
                <a:cs typeface="Arial"/>
              </a:rPr>
              <a:t>Fundamentos de Biologia III</a:t>
            </a:r>
          </a:p>
        </p:txBody>
      </p:sp>
      <p:sp>
        <p:nvSpPr>
          <p:cNvPr id="7" name="Retângulo 6">
            <a:extLst>
              <a:ext uri="{FF2B5EF4-FFF2-40B4-BE49-F238E27FC236}">
                <a16:creationId xmlns:a16="http://schemas.microsoft.com/office/drawing/2014/main" id="{9CE8E46D-EB59-45C4-918E-A56B9282E0B4}"/>
              </a:ext>
            </a:extLst>
          </p:cNvPr>
          <p:cNvSpPr>
            <a:spLocks noGrp="1"/>
          </p:cNvSpPr>
          <p:nvPr/>
        </p:nvSpPr>
        <p:spPr>
          <a:xfrm>
            <a:off x="838200" y="3190875"/>
            <a:ext cx="10477500" cy="1295400"/>
          </a:xfrm>
          <a:prstGeom prst="rect">
            <a:avLst/>
          </a:prstGeom>
          <a:noFill/>
          <a:ln w="0">
            <a:noFill/>
          </a:ln>
        </p:spPr>
        <p:txBody>
          <a:bodyPr>
            <a:noAutofit/>
          </a:bodyPr>
          <a:lstStyle/>
          <a:p>
            <a:pPr>
              <a:defRPr sz="3675" b="1">
                <a:solidFill>
                  <a:srgbClr val="333399"/>
                </a:solidFill>
                <a:latin typeface="Arial"/>
                <a:ea typeface="Arial"/>
                <a:cs typeface="Arial"/>
              </a:defRPr>
            </a:pPr>
            <a:r>
              <a:rPr sz="3675" b="1">
                <a:solidFill>
                  <a:srgbClr val="333399"/>
                </a:solidFill>
                <a:latin typeface="Arial"/>
                <a:ea typeface="Arial"/>
                <a:cs typeface="Arial"/>
              </a:rPr>
              <a:t>Diversidade, zonação vertical</a:t>
            </a:r>
          </a:p>
          <a:p>
            <a:pPr>
              <a:defRPr sz="3675" b="1">
                <a:solidFill>
                  <a:srgbClr val="333399"/>
                </a:solidFill>
                <a:latin typeface="Arial"/>
                <a:ea typeface="Arial"/>
                <a:cs typeface="Arial"/>
              </a:defRPr>
            </a:pPr>
            <a:r>
              <a:rPr sz="3675" b="1">
                <a:solidFill>
                  <a:srgbClr val="333399"/>
                </a:solidFill>
                <a:latin typeface="Arial"/>
                <a:ea typeface="Arial"/>
                <a:cs typeface="Arial"/>
              </a:rPr>
              <a:t>e morfologia do talo</a:t>
            </a:r>
          </a:p>
        </p:txBody>
      </p:sp>
      <p:sp>
        <p:nvSpPr>
          <p:cNvPr id="8" name="Retângulo 7">
            <a:extLst>
              <a:ext uri="{FF2B5EF4-FFF2-40B4-BE49-F238E27FC236}">
                <a16:creationId xmlns:a16="http://schemas.microsoft.com/office/drawing/2014/main" id="{55A6FD96-D8A7-44F9-B517-0832B9946222}"/>
              </a:ext>
            </a:extLst>
          </p:cNvPr>
          <p:cNvSpPr>
            <a:spLocks noGrp="1"/>
          </p:cNvSpPr>
          <p:nvPr/>
        </p:nvSpPr>
        <p:spPr>
          <a:xfrm>
            <a:off x="866775" y="4933950"/>
            <a:ext cx="5429250" cy="1143000"/>
          </a:xfrm>
          <a:prstGeom prst="rect">
            <a:avLst/>
          </a:prstGeom>
          <a:noFill/>
          <a:ln w="0">
            <a:noFill/>
          </a:ln>
        </p:spPr>
        <p:txBody>
          <a:bodyPr>
            <a:noAutofit/>
          </a:bodyPr>
          <a:lstStyle/>
          <a:p>
            <a:pPr>
              <a:defRPr sz="1725" b="0">
                <a:solidFill>
                  <a:srgbClr val="202D40"/>
                </a:solidFill>
                <a:latin typeface="Arial"/>
                <a:ea typeface="Arial"/>
                <a:cs typeface="Arial"/>
              </a:defRPr>
            </a:pPr>
            <a:r>
              <a:rPr sz="1725" b="0">
                <a:solidFill>
                  <a:srgbClr val="202D40"/>
                </a:solidFill>
                <a:latin typeface="Arial"/>
                <a:ea typeface="Arial"/>
                <a:cs typeface="Arial"/>
              </a:rPr>
              <a:t>Ricardo Renan Barbosa de Souza</a:t>
            </a:r>
          </a:p>
          <a:p>
            <a:pPr>
              <a:defRPr sz="1725" b="0">
                <a:solidFill>
                  <a:srgbClr val="202D40"/>
                </a:solidFill>
                <a:latin typeface="Arial"/>
                <a:ea typeface="Arial"/>
                <a:cs typeface="Arial"/>
              </a:defRPr>
            </a:pPr>
            <a:r>
              <a:rPr sz="1725" b="0">
                <a:solidFill>
                  <a:srgbClr val="202D40"/>
                </a:solidFill>
                <a:latin typeface="Arial"/>
                <a:ea typeface="Arial"/>
                <a:cs typeface="Arial"/>
              </a:rPr>
              <a:t>Giullia Calito Carvalho Azevedo</a:t>
            </a:r>
          </a:p>
          <a:p>
            <a:pPr>
              <a:defRPr sz="1725" b="0">
                <a:solidFill>
                  <a:srgbClr val="202D40"/>
                </a:solidFill>
                <a:latin typeface="Arial"/>
                <a:ea typeface="Arial"/>
                <a:cs typeface="Arial"/>
              </a:defRPr>
            </a:pPr>
            <a:r>
              <a:rPr sz="1725" b="0">
                <a:solidFill>
                  <a:srgbClr val="202D40"/>
                </a:solidFill>
                <a:latin typeface="Arial"/>
                <a:ea typeface="Arial"/>
                <a:cs typeface="Arial"/>
              </a:rPr>
              <a:t>Jose Mauro Elsas</a:t>
            </a:r>
          </a:p>
        </p:txBody>
      </p:sp>
      <p:sp>
        <p:nvSpPr>
          <p:cNvPr id="9" name="Retângulo 8">
            <a:extLst>
              <a:ext uri="{FF2B5EF4-FFF2-40B4-BE49-F238E27FC236}">
                <a16:creationId xmlns:a16="http://schemas.microsoft.com/office/drawing/2014/main" id="{8342D6D2-90EE-4983-B65A-693E33B46FAE}"/>
              </a:ext>
            </a:extLst>
          </p:cNvPr>
          <p:cNvSpPr>
            <a:spLocks noGrp="1"/>
          </p:cNvSpPr>
          <p:nvPr/>
        </p:nvSpPr>
        <p:spPr>
          <a:xfrm>
            <a:off x="6667500" y="4933950"/>
            <a:ext cx="4762500" cy="1143000"/>
          </a:xfrm>
          <a:prstGeom prst="rect">
            <a:avLst/>
          </a:prstGeom>
          <a:noFill/>
          <a:ln w="0">
            <a:noFill/>
          </a:ln>
        </p:spPr>
        <p:txBody>
          <a:bodyPr>
            <a:noAutofit/>
          </a:bodyPr>
          <a:lstStyle/>
          <a:p>
            <a:pPr>
              <a:defRPr sz="1725" b="0">
                <a:solidFill>
                  <a:srgbClr val="202D40"/>
                </a:solidFill>
                <a:latin typeface="Arial"/>
                <a:ea typeface="Arial"/>
                <a:cs typeface="Arial"/>
              </a:defRPr>
            </a:pPr>
            <a:r>
              <a:rPr sz="1725" b="0">
                <a:solidFill>
                  <a:srgbClr val="202D40"/>
                </a:solidFill>
                <a:latin typeface="Arial"/>
                <a:ea typeface="Arial"/>
                <a:cs typeface="Arial"/>
              </a:rPr>
              <a:t>Israel Oliveira Carneiro</a:t>
            </a:r>
          </a:p>
          <a:p>
            <a:pPr>
              <a:defRPr sz="1725" b="0">
                <a:solidFill>
                  <a:srgbClr val="202D40"/>
                </a:solidFill>
                <a:latin typeface="Arial"/>
                <a:ea typeface="Arial"/>
                <a:cs typeface="Arial"/>
              </a:defRPr>
            </a:pPr>
            <a:r>
              <a:rPr sz="1725" b="0">
                <a:solidFill>
                  <a:srgbClr val="202D40"/>
                </a:solidFill>
                <a:latin typeface="Arial"/>
                <a:ea typeface="Arial"/>
                <a:cs typeface="Arial"/>
              </a:rPr>
              <a:t>Miguel Gayani</a:t>
            </a:r>
          </a:p>
          <a:p>
            <a:pPr>
              <a:defRPr sz="1725" b="0">
                <a:solidFill>
                  <a:srgbClr val="202D40"/>
                </a:solidFill>
                <a:latin typeface="Arial"/>
                <a:ea typeface="Arial"/>
                <a:cs typeface="Arial"/>
              </a:defRPr>
            </a:pPr>
            <a:r>
              <a:rPr sz="1725" b="0">
                <a:solidFill>
                  <a:srgbClr val="202D40"/>
                </a:solidFill>
                <a:latin typeface="Arial"/>
                <a:ea typeface="Arial"/>
                <a:cs typeface="Arial"/>
              </a:rPr>
              <a:t>Daniel Martinz</a:t>
            </a:r>
          </a:p>
        </p:txBody>
      </p:sp>
      <p:sp>
        <p:nvSpPr>
          <p:cNvPr id="10" name="Retângulo 9">
            <a:extLst>
              <a:ext uri="{FF2B5EF4-FFF2-40B4-BE49-F238E27FC236}">
                <a16:creationId xmlns:a16="http://schemas.microsoft.com/office/drawing/2014/main" id="{F89F738D-FCA9-419C-AC98-584BA10C0872}"/>
              </a:ext>
            </a:extLst>
          </p:cNvPr>
          <p:cNvSpPr>
            <a:spLocks noGrp="1"/>
          </p:cNvSpPr>
          <p:nvPr/>
        </p:nvSpPr>
        <p:spPr>
          <a:xfrm>
            <a:off x="866775" y="6143625"/>
            <a:ext cx="10477500" cy="285750"/>
          </a:xfrm>
          <a:prstGeom prst="rect">
            <a:avLst/>
          </a:prstGeom>
          <a:noFill/>
          <a:ln w="0">
            <a:noFill/>
          </a:ln>
        </p:spPr>
        <p:txBody>
          <a:bodyPr>
            <a:noAutofit/>
          </a:bodyPr>
          <a:lstStyle/>
          <a:p>
            <a:pPr>
              <a:defRPr sz="1575" b="0">
                <a:solidFill>
                  <a:srgbClr val="202D40"/>
                </a:solidFill>
                <a:latin typeface="Arial"/>
                <a:ea typeface="Arial"/>
                <a:cs typeface="Arial"/>
              </a:defRPr>
            </a:pPr>
            <a:r>
              <a:rPr sz="1575" b="0">
                <a:solidFill>
                  <a:srgbClr val="202D40"/>
                </a:solidFill>
                <a:latin typeface="Arial"/>
                <a:ea typeface="Arial"/>
                <a:cs typeface="Arial"/>
              </a:rPr>
              <a:t>Outubro de 2026</a:t>
            </a:r>
          </a:p>
        </p:txBody>
      </p:sp>
    </p:spTree>
    <p:extLst>
      <p:ext uri="{BB962C8B-B14F-4D97-AF65-F5344CB8AC3E}">
        <p14:creationId xmlns:p14="http://schemas.microsoft.com/office/powerpoint/2010/main" val="371906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tângulo 10">
            <a:extLst>
              <a:ext uri="{FF2B5EF4-FFF2-40B4-BE49-F238E27FC236}">
                <a16:creationId xmlns:a16="http://schemas.microsoft.com/office/drawing/2014/main" id="{DDEB0F7A-C134-4739-AFD5-DF442F476DFA}"/>
              </a:ext>
            </a:extLst>
          </p:cNvPr>
          <p:cNvSpPr>
            <a:spLocks noGrp="1"/>
          </p:cNvSpPr>
          <p:nvPr/>
        </p:nvSpPr>
        <p:spPr>
          <a:xfrm>
            <a:off x="0" y="0"/>
            <a:ext cx="12192000" cy="781050"/>
          </a:xfrm>
          <a:prstGeom prst="rect">
            <a:avLst/>
          </a:prstGeom>
          <a:solidFill>
            <a:srgbClr val="333399"/>
          </a:solidFill>
          <a:ln w="0">
            <a:noFill/>
          </a:ln>
        </p:spPr>
        <p:txBody>
          <a:bodyPr>
            <a:noAutofit/>
          </a:bodyPr>
          <a:lstStyle/>
          <a:p>
            <a:pPr>
              <a:defRPr sz="2925" b="0">
                <a:solidFill>
                  <a:srgbClr val="FFFFFF"/>
                </a:solidFill>
                <a:latin typeface="Arial"/>
                <a:ea typeface="Arial"/>
                <a:cs typeface="Arial"/>
              </a:defRPr>
            </a:pPr>
            <a:r>
              <a:rPr sz="2925" b="0">
                <a:solidFill>
                  <a:srgbClr val="FFFFFF"/>
                </a:solidFill>
                <a:latin typeface="Arial"/>
                <a:ea typeface="Arial"/>
                <a:cs typeface="Arial"/>
              </a:rPr>
              <a:t>Sumário</a:t>
            </a:r>
          </a:p>
        </p:txBody>
      </p:sp>
      <p:sp>
        <p:nvSpPr>
          <p:cNvPr id="2" name="Retângulo 1">
            <a:extLst>
              <a:ext uri="{FF2B5EF4-FFF2-40B4-BE49-F238E27FC236}">
                <a16:creationId xmlns:a16="http://schemas.microsoft.com/office/drawing/2014/main" id="{E5C75748-BBF9-41C2-B9B2-ABD795146395}"/>
              </a:ext>
            </a:extLst>
          </p:cNvPr>
          <p:cNvSpPr>
            <a:spLocks noGrp="1"/>
          </p:cNvSpPr>
          <p:nvPr/>
        </p:nvSpPr>
        <p:spPr>
          <a:xfrm>
            <a:off x="0" y="6496050"/>
            <a:ext cx="2428875" cy="361950"/>
          </a:xfrm>
          <a:prstGeom prst="rect">
            <a:avLst/>
          </a:prstGeom>
          <a:solidFill>
            <a:srgbClr val="252572"/>
          </a:solidFill>
          <a:ln w="0">
            <a:noFill/>
          </a:ln>
        </p:spPr>
        <p:txBody>
          <a:bodyPr>
            <a:noAutofit/>
          </a:bodyPr>
          <a:lstStyle/>
          <a:p>
            <a:pPr>
              <a:defRPr sz="1350" b="0">
                <a:solidFill>
                  <a:srgbClr val="FFFFFF"/>
                </a:solidFill>
                <a:latin typeface="Arial"/>
                <a:ea typeface="Arial"/>
                <a:cs typeface="Arial"/>
              </a:defRPr>
            </a:pPr>
            <a:r>
              <a:rPr sz="1350" b="0">
                <a:solidFill>
                  <a:srgbClr val="FFFFFF"/>
                </a:solidFill>
                <a:latin typeface="Arial"/>
                <a:ea typeface="Arial"/>
                <a:cs typeface="Arial"/>
              </a:rPr>
              <a:t>UERJ</a:t>
            </a:r>
          </a:p>
        </p:txBody>
      </p:sp>
      <p:sp>
        <p:nvSpPr>
          <p:cNvPr id="3" name="Retângulo 2">
            <a:extLst>
              <a:ext uri="{FF2B5EF4-FFF2-40B4-BE49-F238E27FC236}">
                <a16:creationId xmlns:a16="http://schemas.microsoft.com/office/drawing/2014/main" id="{05546787-D3E3-4427-BA9D-5F8A1FE99D83}"/>
              </a:ext>
            </a:extLst>
          </p:cNvPr>
          <p:cNvSpPr>
            <a:spLocks noGrp="1"/>
          </p:cNvSpPr>
          <p:nvPr/>
        </p:nvSpPr>
        <p:spPr>
          <a:xfrm>
            <a:off x="2428875" y="6496050"/>
            <a:ext cx="6953250" cy="361950"/>
          </a:xfrm>
          <a:prstGeom prst="rect">
            <a:avLst/>
          </a:prstGeom>
          <a:solidFill>
            <a:srgbClr val="333399"/>
          </a:solidFill>
          <a:ln w="0">
            <a:noFill/>
          </a:ln>
        </p:spPr>
        <p:txBody>
          <a:bodyPr>
            <a:noAutofit/>
          </a:bodyPr>
          <a:lstStyle/>
          <a:p>
            <a:pPr>
              <a:defRPr sz="1350" b="0">
                <a:solidFill>
                  <a:srgbClr val="FFFFFF"/>
                </a:solidFill>
                <a:latin typeface="Arial"/>
                <a:ea typeface="Arial"/>
                <a:cs typeface="Arial"/>
              </a:defRPr>
            </a:pPr>
            <a:r>
              <a:rPr sz="1350" b="0">
                <a:solidFill>
                  <a:srgbClr val="FFFFFF"/>
                </a:solidFill>
                <a:latin typeface="Arial"/>
                <a:ea typeface="Arial"/>
                <a:cs typeface="Arial"/>
              </a:rPr>
              <a:t>Macroalgas da Praia Vermelha</a:t>
            </a:r>
          </a:p>
        </p:txBody>
      </p:sp>
      <p:sp>
        <p:nvSpPr>
          <p:cNvPr id="4" name="Retângulo 3">
            <a:extLst>
              <a:ext uri="{FF2B5EF4-FFF2-40B4-BE49-F238E27FC236}">
                <a16:creationId xmlns:a16="http://schemas.microsoft.com/office/drawing/2014/main" id="{19E4CD74-6A7A-4925-83AE-E45695AEB219}"/>
              </a:ext>
            </a:extLst>
          </p:cNvPr>
          <p:cNvSpPr>
            <a:spLocks noGrp="1"/>
          </p:cNvSpPr>
          <p:nvPr/>
        </p:nvSpPr>
        <p:spPr>
          <a:xfrm>
            <a:off x="9382125" y="6496050"/>
            <a:ext cx="2809875" cy="361950"/>
          </a:xfrm>
          <a:prstGeom prst="rect">
            <a:avLst/>
          </a:prstGeom>
          <a:solidFill>
            <a:srgbClr val="5151AE"/>
          </a:solidFill>
          <a:ln w="0">
            <a:noFill/>
          </a:ln>
        </p:spPr>
        <p:txBody>
          <a:bodyPr>
            <a:noAutofit/>
          </a:bodyPr>
          <a:lstStyle/>
          <a:p>
            <a:pPr>
              <a:defRPr sz="1275" b="0">
                <a:solidFill>
                  <a:srgbClr val="FFFFFF"/>
                </a:solidFill>
                <a:latin typeface="Arial"/>
                <a:ea typeface="Arial"/>
                <a:cs typeface="Arial"/>
              </a:defRPr>
            </a:pPr>
            <a:r>
              <a:rPr sz="1275" b="0">
                <a:solidFill>
                  <a:srgbClr val="FFFFFF"/>
                </a:solidFill>
                <a:latin typeface="Arial"/>
                <a:ea typeface="Arial"/>
                <a:cs typeface="Arial"/>
              </a:rPr>
              <a:t>Roteiro     2/20</a:t>
            </a:r>
          </a:p>
        </p:txBody>
      </p:sp>
      <p:sp>
        <p:nvSpPr>
          <p:cNvPr id="5" name="Retângulo 4">
            <a:extLst>
              <a:ext uri="{FF2B5EF4-FFF2-40B4-BE49-F238E27FC236}">
                <a16:creationId xmlns:a16="http://schemas.microsoft.com/office/drawing/2014/main" id="{8F6AB165-3009-495B-B504-CAA0D3006CE6}"/>
              </a:ext>
            </a:extLst>
          </p:cNvPr>
          <p:cNvSpPr>
            <a:spLocks noGrp="1"/>
          </p:cNvSpPr>
          <p:nvPr/>
        </p:nvSpPr>
        <p:spPr>
          <a:xfrm>
            <a:off x="914400" y="1285875"/>
            <a:ext cx="10287000" cy="561975"/>
          </a:xfrm>
          <a:prstGeom prst="rect">
            <a:avLst/>
          </a:prstGeom>
          <a:noFill/>
          <a:ln w="0">
            <a:noFill/>
          </a:ln>
        </p:spPr>
        <p:txBody>
          <a:bodyPr>
            <a:noAutofit/>
          </a:bodyPr>
          <a:lstStyle/>
          <a:p>
            <a:pPr>
              <a:defRPr sz="2550" b="0">
                <a:solidFill>
                  <a:srgbClr val="333399"/>
                </a:solidFill>
                <a:latin typeface="Arial"/>
                <a:ea typeface="Arial"/>
                <a:cs typeface="Arial"/>
              </a:defRPr>
            </a:pPr>
            <a:r>
              <a:rPr sz="2550" b="0">
                <a:solidFill>
                  <a:srgbClr val="333399"/>
                </a:solidFill>
                <a:latin typeface="Arial"/>
                <a:ea typeface="Arial"/>
                <a:cs typeface="Arial"/>
              </a:rPr>
              <a:t>01   Introdução</a:t>
            </a:r>
          </a:p>
        </p:txBody>
      </p:sp>
      <p:sp>
        <p:nvSpPr>
          <p:cNvPr id="6" name="Retângulo 5">
            <a:extLst>
              <a:ext uri="{FF2B5EF4-FFF2-40B4-BE49-F238E27FC236}">
                <a16:creationId xmlns:a16="http://schemas.microsoft.com/office/drawing/2014/main" id="{8561B6D3-E063-4E77-9307-24D7AFB84788}"/>
              </a:ext>
            </a:extLst>
          </p:cNvPr>
          <p:cNvSpPr>
            <a:spLocks noGrp="1"/>
          </p:cNvSpPr>
          <p:nvPr/>
        </p:nvSpPr>
        <p:spPr>
          <a:xfrm>
            <a:off x="914400" y="2066925"/>
            <a:ext cx="10287000" cy="561975"/>
          </a:xfrm>
          <a:prstGeom prst="rect">
            <a:avLst/>
          </a:prstGeom>
          <a:noFill/>
          <a:ln w="0">
            <a:noFill/>
          </a:ln>
        </p:spPr>
        <p:txBody>
          <a:bodyPr>
            <a:noAutofit/>
          </a:bodyPr>
          <a:lstStyle/>
          <a:p>
            <a:pPr>
              <a:defRPr sz="2550" b="0">
                <a:solidFill>
                  <a:srgbClr val="333399"/>
                </a:solidFill>
                <a:latin typeface="Arial"/>
                <a:ea typeface="Arial"/>
                <a:cs typeface="Arial"/>
              </a:defRPr>
            </a:pPr>
            <a:r>
              <a:rPr sz="2550" b="0">
                <a:solidFill>
                  <a:srgbClr val="333399"/>
                </a:solidFill>
                <a:latin typeface="Arial"/>
                <a:ea typeface="Arial"/>
                <a:cs typeface="Arial"/>
              </a:rPr>
              <a:t>02   Objetivos e zonação</a:t>
            </a:r>
          </a:p>
        </p:txBody>
      </p:sp>
      <p:sp>
        <p:nvSpPr>
          <p:cNvPr id="7" name="Retângulo 6">
            <a:extLst>
              <a:ext uri="{FF2B5EF4-FFF2-40B4-BE49-F238E27FC236}">
                <a16:creationId xmlns:a16="http://schemas.microsoft.com/office/drawing/2014/main" id="{F5360C07-CAA7-4697-B8B3-81F676493EC7}"/>
              </a:ext>
            </a:extLst>
          </p:cNvPr>
          <p:cNvSpPr>
            <a:spLocks noGrp="1"/>
          </p:cNvSpPr>
          <p:nvPr/>
        </p:nvSpPr>
        <p:spPr>
          <a:xfrm>
            <a:off x="914400" y="2847975"/>
            <a:ext cx="10287000" cy="561975"/>
          </a:xfrm>
          <a:prstGeom prst="rect">
            <a:avLst/>
          </a:prstGeom>
          <a:noFill/>
          <a:ln w="0">
            <a:noFill/>
          </a:ln>
        </p:spPr>
        <p:txBody>
          <a:bodyPr>
            <a:noAutofit/>
          </a:bodyPr>
          <a:lstStyle/>
          <a:p>
            <a:pPr>
              <a:defRPr sz="2550" b="0">
                <a:solidFill>
                  <a:srgbClr val="333399"/>
                </a:solidFill>
                <a:latin typeface="Arial"/>
                <a:ea typeface="Arial"/>
                <a:cs typeface="Arial"/>
              </a:defRPr>
            </a:pPr>
            <a:r>
              <a:rPr sz="2550" b="0">
                <a:solidFill>
                  <a:srgbClr val="333399"/>
                </a:solidFill>
                <a:latin typeface="Arial"/>
                <a:ea typeface="Arial"/>
                <a:cs typeface="Arial"/>
              </a:rPr>
              <a:t>03   Metodologia</a:t>
            </a:r>
          </a:p>
        </p:txBody>
      </p:sp>
      <p:sp>
        <p:nvSpPr>
          <p:cNvPr id="8" name="Retângulo 7">
            <a:extLst>
              <a:ext uri="{FF2B5EF4-FFF2-40B4-BE49-F238E27FC236}">
                <a16:creationId xmlns:a16="http://schemas.microsoft.com/office/drawing/2014/main" id="{6C664D3B-CF82-4A99-BB84-99A41BE9ACB5}"/>
              </a:ext>
            </a:extLst>
          </p:cNvPr>
          <p:cNvSpPr>
            <a:spLocks noGrp="1"/>
          </p:cNvSpPr>
          <p:nvPr/>
        </p:nvSpPr>
        <p:spPr>
          <a:xfrm>
            <a:off x="914400" y="3629025"/>
            <a:ext cx="10287000" cy="561975"/>
          </a:xfrm>
          <a:prstGeom prst="rect">
            <a:avLst/>
          </a:prstGeom>
          <a:noFill/>
          <a:ln w="0">
            <a:noFill/>
          </a:ln>
        </p:spPr>
        <p:txBody>
          <a:bodyPr>
            <a:noAutofit/>
          </a:bodyPr>
          <a:lstStyle/>
          <a:p>
            <a:pPr>
              <a:defRPr sz="2550" b="0">
                <a:solidFill>
                  <a:srgbClr val="333399"/>
                </a:solidFill>
                <a:latin typeface="Arial"/>
                <a:ea typeface="Arial"/>
                <a:cs typeface="Arial"/>
              </a:defRPr>
            </a:pPr>
            <a:r>
              <a:rPr sz="2550" b="0">
                <a:solidFill>
                  <a:srgbClr val="333399"/>
                </a:solidFill>
                <a:latin typeface="Arial"/>
                <a:ea typeface="Arial"/>
                <a:cs typeface="Arial"/>
              </a:rPr>
              <a:t>04   Resultados de campo</a:t>
            </a:r>
          </a:p>
        </p:txBody>
      </p:sp>
      <p:sp>
        <p:nvSpPr>
          <p:cNvPr id="9" name="Retângulo 8">
            <a:extLst>
              <a:ext uri="{FF2B5EF4-FFF2-40B4-BE49-F238E27FC236}">
                <a16:creationId xmlns:a16="http://schemas.microsoft.com/office/drawing/2014/main" id="{85C4E888-C23F-4172-8C1E-EADDB4A01017}"/>
              </a:ext>
            </a:extLst>
          </p:cNvPr>
          <p:cNvSpPr>
            <a:spLocks noGrp="1"/>
          </p:cNvSpPr>
          <p:nvPr/>
        </p:nvSpPr>
        <p:spPr>
          <a:xfrm>
            <a:off x="914400" y="4410075"/>
            <a:ext cx="10287000" cy="561975"/>
          </a:xfrm>
          <a:prstGeom prst="rect">
            <a:avLst/>
          </a:prstGeom>
          <a:noFill/>
          <a:ln w="0">
            <a:noFill/>
          </a:ln>
        </p:spPr>
        <p:txBody>
          <a:bodyPr>
            <a:noAutofit/>
          </a:bodyPr>
          <a:lstStyle/>
          <a:p>
            <a:pPr>
              <a:defRPr sz="2550" b="0">
                <a:solidFill>
                  <a:srgbClr val="333399"/>
                </a:solidFill>
                <a:latin typeface="Arial"/>
                <a:ea typeface="Arial"/>
                <a:cs typeface="Arial"/>
              </a:defRPr>
            </a:pPr>
            <a:r>
              <a:rPr sz="2550" b="0">
                <a:solidFill>
                  <a:srgbClr val="333399"/>
                </a:solidFill>
                <a:latin typeface="Arial"/>
                <a:ea typeface="Arial"/>
                <a:cs typeface="Arial"/>
              </a:rPr>
              <a:t>05   Discussão</a:t>
            </a:r>
          </a:p>
        </p:txBody>
      </p:sp>
      <p:sp>
        <p:nvSpPr>
          <p:cNvPr id="10" name="Retângulo 9">
            <a:extLst>
              <a:ext uri="{FF2B5EF4-FFF2-40B4-BE49-F238E27FC236}">
                <a16:creationId xmlns:a16="http://schemas.microsoft.com/office/drawing/2014/main" id="{BBFBEE64-A4D7-4E5A-A75C-64CF7CD4AC60}"/>
              </a:ext>
            </a:extLst>
          </p:cNvPr>
          <p:cNvSpPr>
            <a:spLocks noGrp="1"/>
          </p:cNvSpPr>
          <p:nvPr/>
        </p:nvSpPr>
        <p:spPr>
          <a:xfrm>
            <a:off x="914400" y="5191125"/>
            <a:ext cx="10287000" cy="561975"/>
          </a:xfrm>
          <a:prstGeom prst="rect">
            <a:avLst/>
          </a:prstGeom>
          <a:noFill/>
          <a:ln w="0">
            <a:noFill/>
          </a:ln>
        </p:spPr>
        <p:txBody>
          <a:bodyPr>
            <a:noAutofit/>
          </a:bodyPr>
          <a:lstStyle/>
          <a:p>
            <a:pPr>
              <a:defRPr sz="2550" b="0">
                <a:solidFill>
                  <a:srgbClr val="333399"/>
                </a:solidFill>
                <a:latin typeface="Arial"/>
                <a:ea typeface="Arial"/>
                <a:cs typeface="Arial"/>
              </a:defRPr>
            </a:pPr>
            <a:r>
              <a:rPr sz="2550" b="0">
                <a:solidFill>
                  <a:srgbClr val="333399"/>
                </a:solidFill>
                <a:latin typeface="Arial"/>
                <a:ea typeface="Arial"/>
                <a:cs typeface="Arial"/>
              </a:rPr>
              <a:t>06   Conclusão</a:t>
            </a:r>
          </a:p>
        </p:txBody>
      </p:sp>
    </p:spTree>
    <p:extLst>
      <p:ext uri="{BB962C8B-B14F-4D97-AF65-F5344CB8AC3E}">
        <p14:creationId xmlns:p14="http://schemas.microsoft.com/office/powerpoint/2010/main" val="20211369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tângulo 7">
            <a:extLst>
              <a:ext uri="{FF2B5EF4-FFF2-40B4-BE49-F238E27FC236}">
                <a16:creationId xmlns:a16="http://schemas.microsoft.com/office/drawing/2014/main" id="{513EB643-2981-49B3-A40F-927CF2A3CE47}"/>
              </a:ext>
            </a:extLst>
          </p:cNvPr>
          <p:cNvSpPr>
            <a:spLocks noGrp="1"/>
          </p:cNvSpPr>
          <p:nvPr/>
        </p:nvSpPr>
        <p:spPr>
          <a:xfrm>
            <a:off x="0" y="0"/>
            <a:ext cx="12192000" cy="781050"/>
          </a:xfrm>
          <a:prstGeom prst="rect">
            <a:avLst/>
          </a:prstGeom>
          <a:solidFill>
            <a:srgbClr val="333399"/>
          </a:solidFill>
          <a:ln w="0">
            <a:noFill/>
          </a:ln>
        </p:spPr>
        <p:txBody>
          <a:bodyPr>
            <a:noAutofit/>
          </a:bodyPr>
          <a:lstStyle/>
          <a:p>
            <a:pPr>
              <a:defRPr sz="2925" b="0">
                <a:solidFill>
                  <a:srgbClr val="FFFFFF"/>
                </a:solidFill>
                <a:latin typeface="Arial"/>
                <a:ea typeface="Arial"/>
                <a:cs typeface="Arial"/>
              </a:defRPr>
            </a:pPr>
            <a:r>
              <a:rPr sz="2925" b="0">
                <a:solidFill>
                  <a:srgbClr val="FFFFFF"/>
                </a:solidFill>
                <a:latin typeface="Arial"/>
                <a:ea typeface="Arial"/>
                <a:cs typeface="Arial"/>
              </a:rPr>
              <a:t>Introdução</a:t>
            </a:r>
          </a:p>
        </p:txBody>
      </p:sp>
      <p:sp>
        <p:nvSpPr>
          <p:cNvPr id="2" name="Retângulo 1">
            <a:extLst>
              <a:ext uri="{FF2B5EF4-FFF2-40B4-BE49-F238E27FC236}">
                <a16:creationId xmlns:a16="http://schemas.microsoft.com/office/drawing/2014/main" id="{92117284-9BA6-4F96-9228-F079FA0EB33F}"/>
              </a:ext>
            </a:extLst>
          </p:cNvPr>
          <p:cNvSpPr>
            <a:spLocks noGrp="1"/>
          </p:cNvSpPr>
          <p:nvPr/>
        </p:nvSpPr>
        <p:spPr>
          <a:xfrm>
            <a:off x="0" y="6496050"/>
            <a:ext cx="2428875" cy="361950"/>
          </a:xfrm>
          <a:prstGeom prst="rect">
            <a:avLst/>
          </a:prstGeom>
          <a:solidFill>
            <a:srgbClr val="252572"/>
          </a:solidFill>
          <a:ln w="0">
            <a:noFill/>
          </a:ln>
        </p:spPr>
        <p:txBody>
          <a:bodyPr>
            <a:noAutofit/>
          </a:bodyPr>
          <a:lstStyle/>
          <a:p>
            <a:pPr>
              <a:defRPr sz="1350" b="0">
                <a:solidFill>
                  <a:srgbClr val="FFFFFF"/>
                </a:solidFill>
                <a:latin typeface="Arial"/>
                <a:ea typeface="Arial"/>
                <a:cs typeface="Arial"/>
              </a:defRPr>
            </a:pPr>
            <a:r>
              <a:rPr sz="1350" b="0">
                <a:solidFill>
                  <a:srgbClr val="FFFFFF"/>
                </a:solidFill>
                <a:latin typeface="Arial"/>
                <a:ea typeface="Arial"/>
                <a:cs typeface="Arial"/>
              </a:rPr>
              <a:t>UERJ</a:t>
            </a:r>
          </a:p>
        </p:txBody>
      </p:sp>
      <p:sp>
        <p:nvSpPr>
          <p:cNvPr id="3" name="Retângulo 2">
            <a:extLst>
              <a:ext uri="{FF2B5EF4-FFF2-40B4-BE49-F238E27FC236}">
                <a16:creationId xmlns:a16="http://schemas.microsoft.com/office/drawing/2014/main" id="{55844404-ECA3-48CA-B1E4-AADD80CDD7EC}"/>
              </a:ext>
            </a:extLst>
          </p:cNvPr>
          <p:cNvSpPr>
            <a:spLocks noGrp="1"/>
          </p:cNvSpPr>
          <p:nvPr/>
        </p:nvSpPr>
        <p:spPr>
          <a:xfrm>
            <a:off x="2428875" y="6496050"/>
            <a:ext cx="6953250" cy="361950"/>
          </a:xfrm>
          <a:prstGeom prst="rect">
            <a:avLst/>
          </a:prstGeom>
          <a:solidFill>
            <a:srgbClr val="333399"/>
          </a:solidFill>
          <a:ln w="0">
            <a:noFill/>
          </a:ln>
        </p:spPr>
        <p:txBody>
          <a:bodyPr>
            <a:noAutofit/>
          </a:bodyPr>
          <a:lstStyle/>
          <a:p>
            <a:pPr>
              <a:defRPr sz="1350" b="0">
                <a:solidFill>
                  <a:srgbClr val="FFFFFF"/>
                </a:solidFill>
                <a:latin typeface="Arial"/>
                <a:ea typeface="Arial"/>
                <a:cs typeface="Arial"/>
              </a:defRPr>
            </a:pPr>
            <a:r>
              <a:rPr sz="1350" b="0">
                <a:solidFill>
                  <a:srgbClr val="FFFFFF"/>
                </a:solidFill>
                <a:latin typeface="Arial"/>
                <a:ea typeface="Arial"/>
                <a:cs typeface="Arial"/>
              </a:rPr>
              <a:t>Macroalgas da Praia Vermelha</a:t>
            </a:r>
          </a:p>
        </p:txBody>
      </p:sp>
      <p:sp>
        <p:nvSpPr>
          <p:cNvPr id="4" name="Retângulo 3">
            <a:extLst>
              <a:ext uri="{FF2B5EF4-FFF2-40B4-BE49-F238E27FC236}">
                <a16:creationId xmlns:a16="http://schemas.microsoft.com/office/drawing/2014/main" id="{16F7D192-072F-4A38-883A-2E42F164F1AB}"/>
              </a:ext>
            </a:extLst>
          </p:cNvPr>
          <p:cNvSpPr>
            <a:spLocks noGrp="1"/>
          </p:cNvSpPr>
          <p:nvPr/>
        </p:nvSpPr>
        <p:spPr>
          <a:xfrm>
            <a:off x="9382125" y="6496050"/>
            <a:ext cx="2809875" cy="361950"/>
          </a:xfrm>
          <a:prstGeom prst="rect">
            <a:avLst/>
          </a:prstGeom>
          <a:solidFill>
            <a:srgbClr val="5151AE"/>
          </a:solidFill>
          <a:ln w="0">
            <a:noFill/>
          </a:ln>
        </p:spPr>
        <p:txBody>
          <a:bodyPr>
            <a:noAutofit/>
          </a:bodyPr>
          <a:lstStyle/>
          <a:p>
            <a:pPr>
              <a:defRPr sz="1275" b="0">
                <a:solidFill>
                  <a:srgbClr val="FFFFFF"/>
                </a:solidFill>
                <a:latin typeface="Arial"/>
                <a:ea typeface="Arial"/>
                <a:cs typeface="Arial"/>
              </a:defRPr>
            </a:pPr>
            <a:r>
              <a:rPr sz="1275" b="0">
                <a:solidFill>
                  <a:srgbClr val="FFFFFF"/>
                </a:solidFill>
                <a:latin typeface="Arial"/>
                <a:ea typeface="Arial"/>
                <a:cs typeface="Arial"/>
              </a:rPr>
              <a:t>Introdução     3/20</a:t>
            </a:r>
          </a:p>
        </p:txBody>
      </p:sp>
      <p:sp>
        <p:nvSpPr>
          <p:cNvPr id="5" name="Retângulo 4">
            <a:extLst>
              <a:ext uri="{FF2B5EF4-FFF2-40B4-BE49-F238E27FC236}">
                <a16:creationId xmlns:a16="http://schemas.microsoft.com/office/drawing/2014/main" id="{F3C59186-A88A-410A-B8E0-072143526312}"/>
              </a:ext>
            </a:extLst>
          </p:cNvPr>
          <p:cNvSpPr>
            <a:spLocks noGrp="1"/>
          </p:cNvSpPr>
          <p:nvPr/>
        </p:nvSpPr>
        <p:spPr>
          <a:xfrm>
            <a:off x="838200" y="1447800"/>
            <a:ext cx="10477500" cy="1657350"/>
          </a:xfrm>
          <a:prstGeom prst="rect">
            <a:avLst/>
          </a:prstGeom>
          <a:noFill/>
          <a:ln w="0">
            <a:noFill/>
          </a:ln>
        </p:spPr>
        <p:txBody>
          <a:bodyPr>
            <a:noAutofit/>
          </a:bodyPr>
          <a:lstStyle/>
          <a:p>
            <a:pPr>
              <a:defRPr sz="2475" b="0">
                <a:solidFill>
                  <a:srgbClr val="202D40"/>
                </a:solidFill>
                <a:latin typeface="Arial"/>
                <a:ea typeface="Arial"/>
                <a:cs typeface="Arial"/>
              </a:defRPr>
            </a:pPr>
            <a:r>
              <a:rPr sz="2475" b="0">
                <a:solidFill>
                  <a:srgbClr val="202D40"/>
                </a:solidFill>
                <a:latin typeface="Arial"/>
                <a:ea typeface="Arial"/>
                <a:cs typeface="Arial"/>
              </a:rPr>
              <a:t>As macroalgas fazem parte da comunidade dos costões rochosos. Sua distribuição varia conforme o contato com a água, a exposição ao ar e a ação das ondas.</a:t>
            </a:r>
          </a:p>
        </p:txBody>
      </p:sp>
      <p:sp>
        <p:nvSpPr>
          <p:cNvPr id="6" name="Retângulo 5">
            <a:extLst>
              <a:ext uri="{FF2B5EF4-FFF2-40B4-BE49-F238E27FC236}">
                <a16:creationId xmlns:a16="http://schemas.microsoft.com/office/drawing/2014/main" id="{3C0C6765-FD83-45CB-A93B-25FBA31C2A36}"/>
              </a:ext>
            </a:extLst>
          </p:cNvPr>
          <p:cNvSpPr>
            <a:spLocks noGrp="1"/>
          </p:cNvSpPr>
          <p:nvPr/>
        </p:nvSpPr>
        <p:spPr>
          <a:xfrm>
            <a:off x="838200" y="3448050"/>
            <a:ext cx="10477500" cy="1257300"/>
          </a:xfrm>
          <a:prstGeom prst="rect">
            <a:avLst/>
          </a:prstGeom>
          <a:noFill/>
          <a:ln w="0">
            <a:noFill/>
          </a:ln>
        </p:spPr>
        <p:txBody>
          <a:bodyPr>
            <a:noAutofit/>
          </a:bodyPr>
          <a:lstStyle/>
          <a:p>
            <a:pPr>
              <a:defRPr sz="2475" b="0">
                <a:solidFill>
                  <a:srgbClr val="202D40"/>
                </a:solidFill>
                <a:latin typeface="Arial"/>
                <a:ea typeface="Arial"/>
                <a:cs typeface="Arial"/>
              </a:defRPr>
            </a:pPr>
            <a:r>
              <a:rPr sz="2475" b="0">
                <a:solidFill>
                  <a:srgbClr val="202D40"/>
                </a:solidFill>
                <a:latin typeface="Arial"/>
                <a:ea typeface="Arial"/>
                <a:cs typeface="Arial"/>
              </a:rPr>
              <a:t>Na Praia Vermelha, observamos diferentes cores e formas de talo e registramos sua ocorrência em fotografias.</a:t>
            </a:r>
          </a:p>
        </p:txBody>
      </p:sp>
      <p:sp>
        <p:nvSpPr>
          <p:cNvPr id="7" name="Retângulo 6">
            <a:extLst>
              <a:ext uri="{FF2B5EF4-FFF2-40B4-BE49-F238E27FC236}">
                <a16:creationId xmlns:a16="http://schemas.microsoft.com/office/drawing/2014/main" id="{2F883E77-BC24-4BD9-ABB7-67DC45468B9E}"/>
              </a:ext>
            </a:extLst>
          </p:cNvPr>
          <p:cNvSpPr>
            <a:spLocks noGrp="1"/>
          </p:cNvSpPr>
          <p:nvPr/>
        </p:nvSpPr>
        <p:spPr>
          <a:xfrm>
            <a:off x="838200" y="5114925"/>
            <a:ext cx="10477500" cy="1066800"/>
          </a:xfrm>
          <a:prstGeom prst="rect">
            <a:avLst/>
          </a:prstGeom>
          <a:noFill/>
          <a:ln w="0">
            <a:noFill/>
          </a:ln>
        </p:spPr>
        <p:txBody>
          <a:bodyPr>
            <a:noAutofit/>
          </a:bodyPr>
          <a:lstStyle/>
          <a:p>
            <a:pPr>
              <a:defRPr sz="2475" b="0">
                <a:solidFill>
                  <a:srgbClr val="333399"/>
                </a:solidFill>
                <a:latin typeface="Arial"/>
                <a:ea typeface="Arial"/>
                <a:cs typeface="Arial"/>
              </a:defRPr>
            </a:pPr>
            <a:r>
              <a:rPr sz="2475" b="0">
                <a:solidFill>
                  <a:srgbClr val="333399"/>
                </a:solidFill>
                <a:latin typeface="Arial"/>
                <a:ea typeface="Arial"/>
                <a:cs typeface="Arial"/>
              </a:rPr>
              <a:t>Neste seminário, relacionamos esses registros às condições ambientais e à zonação do costão.</a:t>
            </a:r>
          </a:p>
        </p:txBody>
      </p:sp>
    </p:spTree>
    <p:extLst>
      <p:ext uri="{BB962C8B-B14F-4D97-AF65-F5344CB8AC3E}">
        <p14:creationId xmlns:p14="http://schemas.microsoft.com/office/powerpoint/2010/main" val="15235098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tângulo 8">
            <a:extLst>
              <a:ext uri="{FF2B5EF4-FFF2-40B4-BE49-F238E27FC236}">
                <a16:creationId xmlns:a16="http://schemas.microsoft.com/office/drawing/2014/main" id="{FBFA4781-F44E-4F95-A19C-544EE3C92914}"/>
              </a:ext>
            </a:extLst>
          </p:cNvPr>
          <p:cNvSpPr>
            <a:spLocks noGrp="1"/>
          </p:cNvSpPr>
          <p:nvPr/>
        </p:nvSpPr>
        <p:spPr>
          <a:xfrm>
            <a:off x="0" y="0"/>
            <a:ext cx="12192000" cy="781050"/>
          </a:xfrm>
          <a:prstGeom prst="rect">
            <a:avLst/>
          </a:prstGeom>
          <a:solidFill>
            <a:srgbClr val="333399"/>
          </a:solidFill>
          <a:ln w="0">
            <a:noFill/>
          </a:ln>
        </p:spPr>
        <p:txBody>
          <a:bodyPr>
            <a:noAutofit/>
          </a:bodyPr>
          <a:lstStyle/>
          <a:p>
            <a:pPr>
              <a:defRPr sz="2925" b="0">
                <a:solidFill>
                  <a:srgbClr val="FFFFFF"/>
                </a:solidFill>
                <a:latin typeface="Arial"/>
                <a:ea typeface="Arial"/>
                <a:cs typeface="Arial"/>
              </a:defRPr>
            </a:pPr>
            <a:r>
              <a:rPr sz="2925" b="0">
                <a:solidFill>
                  <a:srgbClr val="FFFFFF"/>
                </a:solidFill>
                <a:latin typeface="Arial"/>
                <a:ea typeface="Arial"/>
                <a:cs typeface="Arial"/>
              </a:rPr>
              <a:t>O costão da Praia Vermelha</a:t>
            </a:r>
          </a:p>
        </p:txBody>
      </p:sp>
      <p:sp>
        <p:nvSpPr>
          <p:cNvPr id="2" name="Retângulo 1">
            <a:extLst>
              <a:ext uri="{FF2B5EF4-FFF2-40B4-BE49-F238E27FC236}">
                <a16:creationId xmlns:a16="http://schemas.microsoft.com/office/drawing/2014/main" id="{3AE3F3BA-C0E6-4164-A2D0-54F778E742AD}"/>
              </a:ext>
            </a:extLst>
          </p:cNvPr>
          <p:cNvSpPr>
            <a:spLocks noGrp="1"/>
          </p:cNvSpPr>
          <p:nvPr/>
        </p:nvSpPr>
        <p:spPr>
          <a:xfrm>
            <a:off x="0" y="6496050"/>
            <a:ext cx="2428875" cy="361950"/>
          </a:xfrm>
          <a:prstGeom prst="rect">
            <a:avLst/>
          </a:prstGeom>
          <a:solidFill>
            <a:srgbClr val="252572"/>
          </a:solidFill>
          <a:ln w="0">
            <a:noFill/>
          </a:ln>
        </p:spPr>
        <p:txBody>
          <a:bodyPr>
            <a:noAutofit/>
          </a:bodyPr>
          <a:lstStyle/>
          <a:p>
            <a:pPr>
              <a:defRPr sz="1350" b="0">
                <a:solidFill>
                  <a:srgbClr val="FFFFFF"/>
                </a:solidFill>
                <a:latin typeface="Arial"/>
                <a:ea typeface="Arial"/>
                <a:cs typeface="Arial"/>
              </a:defRPr>
            </a:pPr>
            <a:r>
              <a:rPr sz="1350" b="0">
                <a:solidFill>
                  <a:srgbClr val="FFFFFF"/>
                </a:solidFill>
                <a:latin typeface="Arial"/>
                <a:ea typeface="Arial"/>
                <a:cs typeface="Arial"/>
              </a:rPr>
              <a:t>UERJ</a:t>
            </a:r>
          </a:p>
        </p:txBody>
      </p:sp>
      <p:sp>
        <p:nvSpPr>
          <p:cNvPr id="3" name="Retângulo 2">
            <a:extLst>
              <a:ext uri="{FF2B5EF4-FFF2-40B4-BE49-F238E27FC236}">
                <a16:creationId xmlns:a16="http://schemas.microsoft.com/office/drawing/2014/main" id="{CEDB750C-46F4-4AC4-BEB3-244696AD2A15}"/>
              </a:ext>
            </a:extLst>
          </p:cNvPr>
          <p:cNvSpPr>
            <a:spLocks noGrp="1"/>
          </p:cNvSpPr>
          <p:nvPr/>
        </p:nvSpPr>
        <p:spPr>
          <a:xfrm>
            <a:off x="2428875" y="6496050"/>
            <a:ext cx="6953250" cy="361950"/>
          </a:xfrm>
          <a:prstGeom prst="rect">
            <a:avLst/>
          </a:prstGeom>
          <a:solidFill>
            <a:srgbClr val="333399"/>
          </a:solidFill>
          <a:ln w="0">
            <a:noFill/>
          </a:ln>
        </p:spPr>
        <p:txBody>
          <a:bodyPr>
            <a:noAutofit/>
          </a:bodyPr>
          <a:lstStyle/>
          <a:p>
            <a:pPr>
              <a:defRPr sz="1350" b="0">
                <a:solidFill>
                  <a:srgbClr val="FFFFFF"/>
                </a:solidFill>
                <a:latin typeface="Arial"/>
                <a:ea typeface="Arial"/>
                <a:cs typeface="Arial"/>
              </a:defRPr>
            </a:pPr>
            <a:r>
              <a:rPr sz="1350" b="0">
                <a:solidFill>
                  <a:srgbClr val="FFFFFF"/>
                </a:solidFill>
                <a:latin typeface="Arial"/>
                <a:ea typeface="Arial"/>
                <a:cs typeface="Arial"/>
              </a:rPr>
              <a:t>Macroalgas da Praia Vermelha</a:t>
            </a:r>
          </a:p>
        </p:txBody>
      </p:sp>
      <p:sp>
        <p:nvSpPr>
          <p:cNvPr id="4" name="Retângulo 3">
            <a:extLst>
              <a:ext uri="{FF2B5EF4-FFF2-40B4-BE49-F238E27FC236}">
                <a16:creationId xmlns:a16="http://schemas.microsoft.com/office/drawing/2014/main" id="{14E8F368-2835-4BCE-A55D-0F77DEBA026F}"/>
              </a:ext>
            </a:extLst>
          </p:cNvPr>
          <p:cNvSpPr>
            <a:spLocks noGrp="1"/>
          </p:cNvSpPr>
          <p:nvPr/>
        </p:nvSpPr>
        <p:spPr>
          <a:xfrm>
            <a:off x="9382125" y="6496050"/>
            <a:ext cx="2809875" cy="361950"/>
          </a:xfrm>
          <a:prstGeom prst="rect">
            <a:avLst/>
          </a:prstGeom>
          <a:solidFill>
            <a:srgbClr val="5151AE"/>
          </a:solidFill>
          <a:ln w="0">
            <a:noFill/>
          </a:ln>
        </p:spPr>
        <p:txBody>
          <a:bodyPr>
            <a:noAutofit/>
          </a:bodyPr>
          <a:lstStyle/>
          <a:p>
            <a:pPr>
              <a:defRPr sz="1275" b="0">
                <a:solidFill>
                  <a:srgbClr val="FFFFFF"/>
                </a:solidFill>
                <a:latin typeface="Arial"/>
                <a:ea typeface="Arial"/>
                <a:cs typeface="Arial"/>
              </a:defRPr>
            </a:pPr>
            <a:r>
              <a:rPr sz="1275" b="0">
                <a:solidFill>
                  <a:srgbClr val="FFFFFF"/>
                </a:solidFill>
                <a:latin typeface="Arial"/>
                <a:ea typeface="Arial"/>
                <a:cs typeface="Arial"/>
              </a:rPr>
              <a:t>Introdução     4/20</a:t>
            </a:r>
          </a:p>
        </p:txBody>
      </p:sp>
      <p:pic>
        <p:nvPicPr>
          <p:cNvPr id="13" name="Imagem 12"/>
          <p:cNvPicPr>
            <a:picLocks noChangeAspect="1"/>
          </p:cNvPicPr>
          <p:nvPr/>
        </p:nvPicPr>
        <p:blipFill>
          <a:blip r:embed="rId3"/>
          <a:stretch/>
        </p:blipFill>
        <p:spPr>
          <a:xfrm>
            <a:off x="609600" y="1500188"/>
            <a:ext cx="5143500" cy="3857625"/>
          </a:xfrm>
          <a:prstGeom prst="rect">
            <a:avLst/>
          </a:prstGeom>
        </p:spPr>
      </p:pic>
      <p:pic>
        <p:nvPicPr>
          <p:cNvPr id="14" name="Imagem 13"/>
          <p:cNvPicPr>
            <a:picLocks noChangeAspect="1"/>
          </p:cNvPicPr>
          <p:nvPr/>
        </p:nvPicPr>
        <p:blipFill>
          <a:blip r:embed="rId4"/>
          <a:stretch/>
        </p:blipFill>
        <p:spPr>
          <a:xfrm>
            <a:off x="6438900" y="1500188"/>
            <a:ext cx="5143500" cy="3857625"/>
          </a:xfrm>
          <a:prstGeom prst="rect">
            <a:avLst/>
          </a:prstGeom>
        </p:spPr>
      </p:pic>
      <p:sp>
        <p:nvSpPr>
          <p:cNvPr id="7" name="Retângulo 6">
            <a:extLst>
              <a:ext uri="{FF2B5EF4-FFF2-40B4-BE49-F238E27FC236}">
                <a16:creationId xmlns:a16="http://schemas.microsoft.com/office/drawing/2014/main" id="{E0E61C88-834F-45F0-98D7-023F283A0D76}"/>
              </a:ext>
            </a:extLst>
          </p:cNvPr>
          <p:cNvSpPr>
            <a:spLocks noGrp="1"/>
          </p:cNvSpPr>
          <p:nvPr/>
        </p:nvSpPr>
        <p:spPr>
          <a:xfrm>
            <a:off x="609600" y="5972175"/>
            <a:ext cx="5143500" cy="419100"/>
          </a:xfrm>
          <a:prstGeom prst="rect">
            <a:avLst/>
          </a:prstGeom>
          <a:noFill/>
          <a:ln w="0">
            <a:noFill/>
          </a:ln>
        </p:spPr>
        <p:txBody>
          <a:bodyPr>
            <a:noAutofit/>
          </a:bodyPr>
          <a:lstStyle/>
          <a:p>
            <a:pPr>
              <a:defRPr sz="1725" b="0">
                <a:solidFill>
                  <a:srgbClr val="202D40"/>
                </a:solidFill>
                <a:latin typeface="Arial"/>
                <a:ea typeface="Arial"/>
                <a:cs typeface="Arial"/>
              </a:defRPr>
            </a:pPr>
            <a:r>
              <a:rPr sz="1725" b="0">
                <a:solidFill>
                  <a:srgbClr val="202D40"/>
                </a:solidFill>
                <a:latin typeface="Arial"/>
                <a:ea typeface="Arial"/>
                <a:cs typeface="Arial"/>
              </a:rPr>
              <a:t>Rochas expostas e trechos umedecidos</a:t>
            </a:r>
          </a:p>
        </p:txBody>
      </p:sp>
      <p:sp>
        <p:nvSpPr>
          <p:cNvPr id="8" name="Retângulo 7">
            <a:extLst>
              <a:ext uri="{FF2B5EF4-FFF2-40B4-BE49-F238E27FC236}">
                <a16:creationId xmlns:a16="http://schemas.microsoft.com/office/drawing/2014/main" id="{46533731-B3EA-457D-BF4B-C5B838B527F5}"/>
              </a:ext>
            </a:extLst>
          </p:cNvPr>
          <p:cNvSpPr>
            <a:spLocks noGrp="1"/>
          </p:cNvSpPr>
          <p:nvPr/>
        </p:nvSpPr>
        <p:spPr>
          <a:xfrm>
            <a:off x="6438900" y="5972175"/>
            <a:ext cx="5143500" cy="419100"/>
          </a:xfrm>
          <a:prstGeom prst="rect">
            <a:avLst/>
          </a:prstGeom>
          <a:noFill/>
          <a:ln w="0">
            <a:noFill/>
          </a:ln>
        </p:spPr>
        <p:txBody>
          <a:bodyPr>
            <a:noAutofit/>
          </a:bodyPr>
          <a:lstStyle/>
          <a:p>
            <a:pPr>
              <a:defRPr sz="1725" b="0">
                <a:solidFill>
                  <a:srgbClr val="202D40"/>
                </a:solidFill>
                <a:latin typeface="Arial"/>
                <a:ea typeface="Arial"/>
                <a:cs typeface="Arial"/>
              </a:defRPr>
            </a:pPr>
            <a:r>
              <a:rPr sz="1725" b="0">
                <a:solidFill>
                  <a:srgbClr val="202D40"/>
                </a:solidFill>
                <a:latin typeface="Arial"/>
                <a:ea typeface="Arial"/>
                <a:cs typeface="Arial"/>
              </a:rPr>
              <a:t>Ondas, iluminação e topografia local</a:t>
            </a:r>
          </a:p>
        </p:txBody>
      </p:sp>
    </p:spTree>
    <p:extLst>
      <p:ext uri="{BB962C8B-B14F-4D97-AF65-F5344CB8AC3E}">
        <p14:creationId xmlns:p14="http://schemas.microsoft.com/office/powerpoint/2010/main" val="11430435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tângulo 8">
            <a:extLst>
              <a:ext uri="{FF2B5EF4-FFF2-40B4-BE49-F238E27FC236}">
                <a16:creationId xmlns:a16="http://schemas.microsoft.com/office/drawing/2014/main" id="{908FDC63-F4E1-405C-8092-686995279B71}"/>
              </a:ext>
            </a:extLst>
          </p:cNvPr>
          <p:cNvSpPr>
            <a:spLocks noGrp="1"/>
          </p:cNvSpPr>
          <p:nvPr/>
        </p:nvSpPr>
        <p:spPr>
          <a:xfrm>
            <a:off x="0" y="0"/>
            <a:ext cx="12192000" cy="781050"/>
          </a:xfrm>
          <a:prstGeom prst="rect">
            <a:avLst/>
          </a:prstGeom>
          <a:solidFill>
            <a:srgbClr val="333399"/>
          </a:solidFill>
          <a:ln w="0">
            <a:noFill/>
          </a:ln>
        </p:spPr>
        <p:txBody>
          <a:bodyPr>
            <a:noAutofit/>
          </a:bodyPr>
          <a:lstStyle/>
          <a:p>
            <a:pPr>
              <a:defRPr sz="2925" b="0">
                <a:solidFill>
                  <a:srgbClr val="FFFFFF"/>
                </a:solidFill>
                <a:latin typeface="Arial"/>
                <a:ea typeface="Arial"/>
                <a:cs typeface="Arial"/>
              </a:defRPr>
            </a:pPr>
            <a:r>
              <a:rPr sz="2925" b="0">
                <a:solidFill>
                  <a:srgbClr val="FFFFFF"/>
                </a:solidFill>
                <a:latin typeface="Arial"/>
                <a:ea typeface="Arial"/>
                <a:cs typeface="Arial"/>
              </a:rPr>
              <a:t>Objetivos da prática</a:t>
            </a:r>
          </a:p>
        </p:txBody>
      </p:sp>
      <p:sp>
        <p:nvSpPr>
          <p:cNvPr id="2" name="Retângulo 1">
            <a:extLst>
              <a:ext uri="{FF2B5EF4-FFF2-40B4-BE49-F238E27FC236}">
                <a16:creationId xmlns:a16="http://schemas.microsoft.com/office/drawing/2014/main" id="{3C5ABCAF-8793-4549-8417-4C4910FBD630}"/>
              </a:ext>
            </a:extLst>
          </p:cNvPr>
          <p:cNvSpPr>
            <a:spLocks noGrp="1"/>
          </p:cNvSpPr>
          <p:nvPr/>
        </p:nvSpPr>
        <p:spPr>
          <a:xfrm>
            <a:off x="0" y="6496050"/>
            <a:ext cx="2428875" cy="361950"/>
          </a:xfrm>
          <a:prstGeom prst="rect">
            <a:avLst/>
          </a:prstGeom>
          <a:solidFill>
            <a:srgbClr val="252572"/>
          </a:solidFill>
          <a:ln w="0">
            <a:noFill/>
          </a:ln>
        </p:spPr>
        <p:txBody>
          <a:bodyPr>
            <a:noAutofit/>
          </a:bodyPr>
          <a:lstStyle/>
          <a:p>
            <a:pPr>
              <a:defRPr sz="1350" b="0">
                <a:solidFill>
                  <a:srgbClr val="FFFFFF"/>
                </a:solidFill>
                <a:latin typeface="Arial"/>
                <a:ea typeface="Arial"/>
                <a:cs typeface="Arial"/>
              </a:defRPr>
            </a:pPr>
            <a:r>
              <a:rPr sz="1350" b="0">
                <a:solidFill>
                  <a:srgbClr val="FFFFFF"/>
                </a:solidFill>
                <a:latin typeface="Arial"/>
                <a:ea typeface="Arial"/>
                <a:cs typeface="Arial"/>
              </a:rPr>
              <a:t>UERJ</a:t>
            </a:r>
          </a:p>
        </p:txBody>
      </p:sp>
      <p:sp>
        <p:nvSpPr>
          <p:cNvPr id="3" name="Retângulo 2">
            <a:extLst>
              <a:ext uri="{FF2B5EF4-FFF2-40B4-BE49-F238E27FC236}">
                <a16:creationId xmlns:a16="http://schemas.microsoft.com/office/drawing/2014/main" id="{5DA762CB-5C6F-4CB2-BF0E-D73E3046F51F}"/>
              </a:ext>
            </a:extLst>
          </p:cNvPr>
          <p:cNvSpPr>
            <a:spLocks noGrp="1"/>
          </p:cNvSpPr>
          <p:nvPr/>
        </p:nvSpPr>
        <p:spPr>
          <a:xfrm>
            <a:off x="2428875" y="6496050"/>
            <a:ext cx="6953250" cy="361950"/>
          </a:xfrm>
          <a:prstGeom prst="rect">
            <a:avLst/>
          </a:prstGeom>
          <a:solidFill>
            <a:srgbClr val="333399"/>
          </a:solidFill>
          <a:ln w="0">
            <a:noFill/>
          </a:ln>
        </p:spPr>
        <p:txBody>
          <a:bodyPr>
            <a:noAutofit/>
          </a:bodyPr>
          <a:lstStyle/>
          <a:p>
            <a:pPr>
              <a:defRPr sz="1350" b="0">
                <a:solidFill>
                  <a:srgbClr val="FFFFFF"/>
                </a:solidFill>
                <a:latin typeface="Arial"/>
                <a:ea typeface="Arial"/>
                <a:cs typeface="Arial"/>
              </a:defRPr>
            </a:pPr>
            <a:r>
              <a:rPr sz="1350" b="0">
                <a:solidFill>
                  <a:srgbClr val="FFFFFF"/>
                </a:solidFill>
                <a:latin typeface="Arial"/>
                <a:ea typeface="Arial"/>
                <a:cs typeface="Arial"/>
              </a:rPr>
              <a:t>Macroalgas da Praia Vermelha</a:t>
            </a:r>
          </a:p>
        </p:txBody>
      </p:sp>
      <p:sp>
        <p:nvSpPr>
          <p:cNvPr id="4" name="Retângulo 3">
            <a:extLst>
              <a:ext uri="{FF2B5EF4-FFF2-40B4-BE49-F238E27FC236}">
                <a16:creationId xmlns:a16="http://schemas.microsoft.com/office/drawing/2014/main" id="{B0E14F54-344C-4748-A632-0536D7DDE9F0}"/>
              </a:ext>
            </a:extLst>
          </p:cNvPr>
          <p:cNvSpPr>
            <a:spLocks noGrp="1"/>
          </p:cNvSpPr>
          <p:nvPr/>
        </p:nvSpPr>
        <p:spPr>
          <a:xfrm>
            <a:off x="9382125" y="6496050"/>
            <a:ext cx="2809875" cy="361950"/>
          </a:xfrm>
          <a:prstGeom prst="rect">
            <a:avLst/>
          </a:prstGeom>
          <a:solidFill>
            <a:srgbClr val="5151AE"/>
          </a:solidFill>
          <a:ln w="0">
            <a:noFill/>
          </a:ln>
        </p:spPr>
        <p:txBody>
          <a:bodyPr>
            <a:noAutofit/>
          </a:bodyPr>
          <a:lstStyle/>
          <a:p>
            <a:pPr>
              <a:defRPr sz="1275" b="0">
                <a:solidFill>
                  <a:srgbClr val="FFFFFF"/>
                </a:solidFill>
                <a:latin typeface="Arial"/>
                <a:ea typeface="Arial"/>
                <a:cs typeface="Arial"/>
              </a:defRPr>
            </a:pPr>
            <a:r>
              <a:rPr sz="1275" b="0">
                <a:solidFill>
                  <a:srgbClr val="FFFFFF"/>
                </a:solidFill>
                <a:latin typeface="Arial"/>
                <a:ea typeface="Arial"/>
                <a:cs typeface="Arial"/>
              </a:rPr>
              <a:t>Objetivos     5/20</a:t>
            </a:r>
          </a:p>
        </p:txBody>
      </p:sp>
      <p:sp>
        <p:nvSpPr>
          <p:cNvPr id="5" name="Retângulo 4">
            <a:extLst>
              <a:ext uri="{FF2B5EF4-FFF2-40B4-BE49-F238E27FC236}">
                <a16:creationId xmlns:a16="http://schemas.microsoft.com/office/drawing/2014/main" id="{0D04BB1D-6AB6-4F7E-B110-BBCADDA21ECE}"/>
              </a:ext>
            </a:extLst>
          </p:cNvPr>
          <p:cNvSpPr>
            <a:spLocks noGrp="1"/>
          </p:cNvSpPr>
          <p:nvPr/>
        </p:nvSpPr>
        <p:spPr>
          <a:xfrm>
            <a:off x="838200" y="1447800"/>
            <a:ext cx="10477500" cy="714375"/>
          </a:xfrm>
          <a:prstGeom prst="rect">
            <a:avLst/>
          </a:prstGeom>
          <a:noFill/>
          <a:ln w="0">
            <a:noFill/>
          </a:ln>
        </p:spPr>
        <p:txBody>
          <a:bodyPr>
            <a:noAutofit/>
          </a:bodyPr>
          <a:lstStyle/>
          <a:p>
            <a:pPr>
              <a:defRPr sz="2775" b="1">
                <a:solidFill>
                  <a:srgbClr val="333399"/>
                </a:solidFill>
                <a:latin typeface="Arial"/>
                <a:ea typeface="Arial"/>
                <a:cs typeface="Arial"/>
              </a:defRPr>
            </a:pPr>
            <a:r>
              <a:rPr sz="2775" b="1">
                <a:solidFill>
                  <a:srgbClr val="333399"/>
                </a:solidFill>
                <a:latin typeface="Arial"/>
                <a:ea typeface="Arial"/>
                <a:cs typeface="Arial"/>
              </a:rPr>
              <a:t>Reconhecer a zonação do costão</a:t>
            </a:r>
          </a:p>
        </p:txBody>
      </p:sp>
      <p:sp>
        <p:nvSpPr>
          <p:cNvPr id="6" name="Retângulo 5">
            <a:extLst>
              <a:ext uri="{FF2B5EF4-FFF2-40B4-BE49-F238E27FC236}">
                <a16:creationId xmlns:a16="http://schemas.microsoft.com/office/drawing/2014/main" id="{ECF45995-3007-4648-90C2-7B68738CA206}"/>
              </a:ext>
            </a:extLst>
          </p:cNvPr>
          <p:cNvSpPr>
            <a:spLocks noGrp="1"/>
          </p:cNvSpPr>
          <p:nvPr/>
        </p:nvSpPr>
        <p:spPr>
          <a:xfrm>
            <a:off x="838200" y="2771775"/>
            <a:ext cx="10477500" cy="714375"/>
          </a:xfrm>
          <a:prstGeom prst="rect">
            <a:avLst/>
          </a:prstGeom>
          <a:noFill/>
          <a:ln w="0">
            <a:noFill/>
          </a:ln>
        </p:spPr>
        <p:txBody>
          <a:bodyPr>
            <a:noAutofit/>
          </a:bodyPr>
          <a:lstStyle/>
          <a:p>
            <a:pPr>
              <a:defRPr sz="2775" b="1">
                <a:solidFill>
                  <a:srgbClr val="333399"/>
                </a:solidFill>
                <a:latin typeface="Arial"/>
                <a:ea typeface="Arial"/>
                <a:cs typeface="Arial"/>
              </a:defRPr>
            </a:pPr>
            <a:r>
              <a:rPr sz="2775" b="1">
                <a:solidFill>
                  <a:srgbClr val="333399"/>
                </a:solidFill>
                <a:latin typeface="Arial"/>
                <a:ea typeface="Arial"/>
                <a:cs typeface="Arial"/>
              </a:rPr>
              <a:t>Descrever grupos e formas de talo</a:t>
            </a:r>
          </a:p>
        </p:txBody>
      </p:sp>
      <p:sp>
        <p:nvSpPr>
          <p:cNvPr id="7" name="Retângulo 6">
            <a:extLst>
              <a:ext uri="{FF2B5EF4-FFF2-40B4-BE49-F238E27FC236}">
                <a16:creationId xmlns:a16="http://schemas.microsoft.com/office/drawing/2014/main" id="{02B2480F-558D-4E83-8CE2-77B0CFD9BEB0}"/>
              </a:ext>
            </a:extLst>
          </p:cNvPr>
          <p:cNvSpPr>
            <a:spLocks noGrp="1"/>
          </p:cNvSpPr>
          <p:nvPr/>
        </p:nvSpPr>
        <p:spPr>
          <a:xfrm>
            <a:off x="838200" y="4095750"/>
            <a:ext cx="10477500" cy="714375"/>
          </a:xfrm>
          <a:prstGeom prst="rect">
            <a:avLst/>
          </a:prstGeom>
          <a:noFill/>
          <a:ln w="0">
            <a:noFill/>
          </a:ln>
        </p:spPr>
        <p:txBody>
          <a:bodyPr>
            <a:noAutofit/>
          </a:bodyPr>
          <a:lstStyle/>
          <a:p>
            <a:pPr>
              <a:defRPr sz="2775" b="1">
                <a:solidFill>
                  <a:srgbClr val="333399"/>
                </a:solidFill>
                <a:latin typeface="Arial"/>
                <a:ea typeface="Arial"/>
                <a:cs typeface="Arial"/>
              </a:defRPr>
            </a:pPr>
            <a:r>
              <a:rPr sz="2775" b="1">
                <a:solidFill>
                  <a:srgbClr val="333399"/>
                </a:solidFill>
                <a:latin typeface="Arial"/>
                <a:ea typeface="Arial"/>
                <a:cs typeface="Arial"/>
              </a:rPr>
              <a:t>Relacionar a distribuição ao ambiente</a:t>
            </a:r>
          </a:p>
        </p:txBody>
      </p:sp>
      <p:sp>
        <p:nvSpPr>
          <p:cNvPr id="8" name="Retângulo 7">
            <a:extLst>
              <a:ext uri="{FF2B5EF4-FFF2-40B4-BE49-F238E27FC236}">
                <a16:creationId xmlns:a16="http://schemas.microsoft.com/office/drawing/2014/main" id="{87639BD8-6FDB-4053-A341-1C49B0353AB0}"/>
              </a:ext>
            </a:extLst>
          </p:cNvPr>
          <p:cNvSpPr>
            <a:spLocks noGrp="1"/>
          </p:cNvSpPr>
          <p:nvPr/>
        </p:nvSpPr>
        <p:spPr>
          <a:xfrm>
            <a:off x="838200" y="5619750"/>
            <a:ext cx="10477500" cy="457200"/>
          </a:xfrm>
          <a:prstGeom prst="rect">
            <a:avLst/>
          </a:prstGeom>
          <a:noFill/>
          <a:ln w="0">
            <a:noFill/>
          </a:ln>
        </p:spPr>
        <p:txBody>
          <a:bodyPr>
            <a:noAutofit/>
          </a:bodyPr>
          <a:lstStyle/>
          <a:p>
            <a:pPr>
              <a:defRPr sz="2025" b="0">
                <a:solidFill>
                  <a:srgbClr val="202D40"/>
                </a:solidFill>
                <a:latin typeface="Arial"/>
                <a:ea typeface="Arial"/>
                <a:cs typeface="Arial"/>
              </a:defRPr>
            </a:pPr>
            <a:r>
              <a:rPr sz="2025" b="0">
                <a:solidFill>
                  <a:srgbClr val="202D40"/>
                </a:solidFill>
                <a:latin typeface="Arial"/>
                <a:ea typeface="Arial"/>
                <a:cs typeface="Arial"/>
              </a:rPr>
              <a:t>Observação, registro fotográfico e comparação qualitativa</a:t>
            </a:r>
          </a:p>
        </p:txBody>
      </p:sp>
    </p:spTree>
    <p:extLst>
      <p:ext uri="{BB962C8B-B14F-4D97-AF65-F5344CB8AC3E}">
        <p14:creationId xmlns:p14="http://schemas.microsoft.com/office/powerpoint/2010/main" val="4619399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tângulo 8">
            <a:extLst>
              <a:ext uri="{FF2B5EF4-FFF2-40B4-BE49-F238E27FC236}">
                <a16:creationId xmlns:a16="http://schemas.microsoft.com/office/drawing/2014/main" id="{2D257CFC-9C46-4D1C-BFE7-92700834CB8F}"/>
              </a:ext>
            </a:extLst>
          </p:cNvPr>
          <p:cNvSpPr>
            <a:spLocks noGrp="1"/>
          </p:cNvSpPr>
          <p:nvPr/>
        </p:nvSpPr>
        <p:spPr>
          <a:xfrm>
            <a:off x="0" y="0"/>
            <a:ext cx="12192000" cy="781050"/>
          </a:xfrm>
          <a:prstGeom prst="rect">
            <a:avLst/>
          </a:prstGeom>
          <a:solidFill>
            <a:srgbClr val="333399"/>
          </a:solidFill>
          <a:ln w="0">
            <a:noFill/>
          </a:ln>
        </p:spPr>
        <p:txBody>
          <a:bodyPr>
            <a:noAutofit/>
          </a:bodyPr>
          <a:lstStyle/>
          <a:p>
            <a:pPr>
              <a:defRPr sz="2925" b="0">
                <a:solidFill>
                  <a:srgbClr val="FFFFFF"/>
                </a:solidFill>
                <a:latin typeface="Arial"/>
                <a:ea typeface="Arial"/>
                <a:cs typeface="Arial"/>
              </a:defRPr>
            </a:pPr>
            <a:r>
              <a:rPr sz="2925" b="0">
                <a:solidFill>
                  <a:srgbClr val="FFFFFF"/>
                </a:solidFill>
                <a:latin typeface="Arial"/>
                <a:ea typeface="Arial"/>
                <a:cs typeface="Arial"/>
              </a:rPr>
              <a:t>Observação e registro</a:t>
            </a:r>
          </a:p>
        </p:txBody>
      </p:sp>
      <p:sp>
        <p:nvSpPr>
          <p:cNvPr id="2" name="Retângulo 1">
            <a:extLst>
              <a:ext uri="{FF2B5EF4-FFF2-40B4-BE49-F238E27FC236}">
                <a16:creationId xmlns:a16="http://schemas.microsoft.com/office/drawing/2014/main" id="{9C2ED9E1-FC8E-438E-AC9D-D48BFEC16CE8}"/>
              </a:ext>
            </a:extLst>
          </p:cNvPr>
          <p:cNvSpPr>
            <a:spLocks noGrp="1"/>
          </p:cNvSpPr>
          <p:nvPr/>
        </p:nvSpPr>
        <p:spPr>
          <a:xfrm>
            <a:off x="0" y="6496050"/>
            <a:ext cx="2428875" cy="361950"/>
          </a:xfrm>
          <a:prstGeom prst="rect">
            <a:avLst/>
          </a:prstGeom>
          <a:solidFill>
            <a:srgbClr val="252572"/>
          </a:solidFill>
          <a:ln w="0">
            <a:noFill/>
          </a:ln>
        </p:spPr>
        <p:txBody>
          <a:bodyPr>
            <a:noAutofit/>
          </a:bodyPr>
          <a:lstStyle/>
          <a:p>
            <a:pPr>
              <a:defRPr sz="1350" b="0">
                <a:solidFill>
                  <a:srgbClr val="FFFFFF"/>
                </a:solidFill>
                <a:latin typeface="Arial"/>
                <a:ea typeface="Arial"/>
                <a:cs typeface="Arial"/>
              </a:defRPr>
            </a:pPr>
            <a:r>
              <a:rPr sz="1350" b="0">
                <a:solidFill>
                  <a:srgbClr val="FFFFFF"/>
                </a:solidFill>
                <a:latin typeface="Arial"/>
                <a:ea typeface="Arial"/>
                <a:cs typeface="Arial"/>
              </a:rPr>
              <a:t>UERJ</a:t>
            </a:r>
          </a:p>
        </p:txBody>
      </p:sp>
      <p:sp>
        <p:nvSpPr>
          <p:cNvPr id="3" name="Retângulo 2">
            <a:extLst>
              <a:ext uri="{FF2B5EF4-FFF2-40B4-BE49-F238E27FC236}">
                <a16:creationId xmlns:a16="http://schemas.microsoft.com/office/drawing/2014/main" id="{3959EAA6-F4AD-4C21-BB15-ADF59748EB4A}"/>
              </a:ext>
            </a:extLst>
          </p:cNvPr>
          <p:cNvSpPr>
            <a:spLocks noGrp="1"/>
          </p:cNvSpPr>
          <p:nvPr/>
        </p:nvSpPr>
        <p:spPr>
          <a:xfrm>
            <a:off x="2428875" y="6496050"/>
            <a:ext cx="6953250" cy="361950"/>
          </a:xfrm>
          <a:prstGeom prst="rect">
            <a:avLst/>
          </a:prstGeom>
          <a:solidFill>
            <a:srgbClr val="333399"/>
          </a:solidFill>
          <a:ln w="0">
            <a:noFill/>
          </a:ln>
        </p:spPr>
        <p:txBody>
          <a:bodyPr>
            <a:noAutofit/>
          </a:bodyPr>
          <a:lstStyle/>
          <a:p>
            <a:pPr>
              <a:defRPr sz="1350" b="0">
                <a:solidFill>
                  <a:srgbClr val="FFFFFF"/>
                </a:solidFill>
                <a:latin typeface="Arial"/>
                <a:ea typeface="Arial"/>
                <a:cs typeface="Arial"/>
              </a:defRPr>
            </a:pPr>
            <a:r>
              <a:rPr sz="1350" b="0">
                <a:solidFill>
                  <a:srgbClr val="FFFFFF"/>
                </a:solidFill>
                <a:latin typeface="Arial"/>
                <a:ea typeface="Arial"/>
                <a:cs typeface="Arial"/>
              </a:rPr>
              <a:t>Macroalgas da Praia Vermelha</a:t>
            </a:r>
          </a:p>
        </p:txBody>
      </p:sp>
      <p:sp>
        <p:nvSpPr>
          <p:cNvPr id="4" name="Retângulo 3">
            <a:extLst>
              <a:ext uri="{FF2B5EF4-FFF2-40B4-BE49-F238E27FC236}">
                <a16:creationId xmlns:a16="http://schemas.microsoft.com/office/drawing/2014/main" id="{DC02CDC8-2974-4B87-9235-0D78337324CB}"/>
              </a:ext>
            </a:extLst>
          </p:cNvPr>
          <p:cNvSpPr>
            <a:spLocks noGrp="1"/>
          </p:cNvSpPr>
          <p:nvPr/>
        </p:nvSpPr>
        <p:spPr>
          <a:xfrm>
            <a:off x="9382125" y="6496050"/>
            <a:ext cx="2809875" cy="361950"/>
          </a:xfrm>
          <a:prstGeom prst="rect">
            <a:avLst/>
          </a:prstGeom>
          <a:solidFill>
            <a:srgbClr val="5151AE"/>
          </a:solidFill>
          <a:ln w="0">
            <a:noFill/>
          </a:ln>
        </p:spPr>
        <p:txBody>
          <a:bodyPr>
            <a:noAutofit/>
          </a:bodyPr>
          <a:lstStyle/>
          <a:p>
            <a:pPr marL="342900" indent="-342900">
              <a:buFont typeface="+mj-lt"/>
              <a:buAutoNum type="arabicPeriod"/>
              <a:defRPr sz="1275" b="0">
                <a:solidFill>
                  <a:srgbClr val="FFFFFF"/>
                </a:solidFill>
                <a:latin typeface="Arial"/>
                <a:ea typeface="Arial"/>
                <a:cs typeface="Arial"/>
              </a:defRPr>
            </a:pPr>
            <a:r>
              <a:rPr sz="1275" b="0" dirty="0" err="1">
                <a:solidFill>
                  <a:srgbClr val="FFFFFF"/>
                </a:solidFill>
                <a:latin typeface="Arial"/>
                <a:ea typeface="Arial"/>
                <a:cs typeface="Arial"/>
              </a:rPr>
              <a:t>Metodologia</a:t>
            </a:r>
            <a:r>
              <a:rPr sz="1275" b="0" dirty="0">
                <a:solidFill>
                  <a:srgbClr val="FFFFFF"/>
                </a:solidFill>
                <a:latin typeface="Arial"/>
                <a:ea typeface="Arial"/>
                <a:cs typeface="Arial"/>
              </a:rPr>
              <a:t>     </a:t>
            </a:r>
            <a:r>
              <a:rPr lang="pt-BR" sz="1275" b="0" dirty="0">
                <a:solidFill>
                  <a:srgbClr val="FFFFFF"/>
                </a:solidFill>
                <a:latin typeface="Arial"/>
                <a:ea typeface="Arial"/>
                <a:cs typeface="Arial"/>
              </a:rPr>
              <a:t>6</a:t>
            </a:r>
            <a:r>
              <a:rPr sz="1275" b="0" dirty="0">
                <a:solidFill>
                  <a:srgbClr val="FFFFFF"/>
                </a:solidFill>
                <a:latin typeface="Arial"/>
                <a:ea typeface="Arial"/>
                <a:cs typeface="Arial"/>
              </a:rPr>
              <a:t>/20</a:t>
            </a:r>
          </a:p>
        </p:txBody>
      </p:sp>
      <p:pic>
        <p:nvPicPr>
          <p:cNvPr id="13" name="Imagem 12"/>
          <p:cNvPicPr>
            <a:picLocks noChangeAspect="1"/>
          </p:cNvPicPr>
          <p:nvPr/>
        </p:nvPicPr>
        <p:blipFill>
          <a:blip r:embed="rId3"/>
          <a:stretch/>
        </p:blipFill>
        <p:spPr>
          <a:xfrm>
            <a:off x="457200" y="1312069"/>
            <a:ext cx="6000750" cy="4500563"/>
          </a:xfrm>
          <a:prstGeom prst="rect">
            <a:avLst/>
          </a:prstGeom>
        </p:spPr>
      </p:pic>
      <p:sp>
        <p:nvSpPr>
          <p:cNvPr id="6" name="Retângulo 5">
            <a:extLst>
              <a:ext uri="{FF2B5EF4-FFF2-40B4-BE49-F238E27FC236}">
                <a16:creationId xmlns:a16="http://schemas.microsoft.com/office/drawing/2014/main" id="{DC74AD1A-25E6-4B91-8165-BFFF3FA16ADF}"/>
              </a:ext>
            </a:extLst>
          </p:cNvPr>
          <p:cNvSpPr>
            <a:spLocks noGrp="1"/>
          </p:cNvSpPr>
          <p:nvPr/>
        </p:nvSpPr>
        <p:spPr>
          <a:xfrm>
            <a:off x="7029450" y="1524000"/>
            <a:ext cx="4619625" cy="1104900"/>
          </a:xfrm>
          <a:prstGeom prst="rect">
            <a:avLst/>
          </a:prstGeom>
          <a:noFill/>
          <a:ln w="0">
            <a:noFill/>
          </a:ln>
        </p:spPr>
        <p:txBody>
          <a:bodyPr>
            <a:noAutofit/>
          </a:bodyPr>
          <a:lstStyle/>
          <a:p>
            <a:pPr>
              <a:defRPr sz="2325" b="1">
                <a:solidFill>
                  <a:srgbClr val="333399"/>
                </a:solidFill>
                <a:latin typeface="Arial"/>
                <a:ea typeface="Arial"/>
                <a:cs typeface="Arial"/>
              </a:defRPr>
            </a:pPr>
            <a:r>
              <a:rPr sz="2325" b="1">
                <a:solidFill>
                  <a:srgbClr val="333399"/>
                </a:solidFill>
                <a:latin typeface="Arial"/>
                <a:ea typeface="Arial"/>
                <a:cs typeface="Arial"/>
              </a:rPr>
              <a:t>Fotografar o costão e as macroalgas</a:t>
            </a:r>
          </a:p>
        </p:txBody>
      </p:sp>
      <p:sp>
        <p:nvSpPr>
          <p:cNvPr id="7" name="Retângulo 6">
            <a:extLst>
              <a:ext uri="{FF2B5EF4-FFF2-40B4-BE49-F238E27FC236}">
                <a16:creationId xmlns:a16="http://schemas.microsoft.com/office/drawing/2014/main" id="{84EEEF0F-01B1-4895-8F5E-6B2CEFEB61D8}"/>
              </a:ext>
            </a:extLst>
          </p:cNvPr>
          <p:cNvSpPr>
            <a:spLocks noGrp="1"/>
          </p:cNvSpPr>
          <p:nvPr/>
        </p:nvSpPr>
        <p:spPr>
          <a:xfrm>
            <a:off x="7029450" y="2895600"/>
            <a:ext cx="4619625" cy="1104900"/>
          </a:xfrm>
          <a:prstGeom prst="rect">
            <a:avLst/>
          </a:prstGeom>
          <a:noFill/>
          <a:ln w="0">
            <a:noFill/>
          </a:ln>
        </p:spPr>
        <p:txBody>
          <a:bodyPr>
            <a:noAutofit/>
          </a:bodyPr>
          <a:lstStyle/>
          <a:p>
            <a:pPr>
              <a:defRPr sz="2325" b="0">
                <a:solidFill>
                  <a:srgbClr val="202D40"/>
                </a:solidFill>
                <a:latin typeface="Arial"/>
                <a:ea typeface="Arial"/>
                <a:cs typeface="Arial"/>
              </a:defRPr>
            </a:pPr>
            <a:r>
              <a:rPr sz="2325" b="0">
                <a:solidFill>
                  <a:srgbClr val="202D40"/>
                </a:solidFill>
                <a:latin typeface="Arial"/>
                <a:ea typeface="Arial"/>
                <a:cs typeface="Arial"/>
              </a:rPr>
              <a:t>Descrever cor, talo e posição</a:t>
            </a:r>
          </a:p>
        </p:txBody>
      </p:sp>
      <p:sp>
        <p:nvSpPr>
          <p:cNvPr id="8" name="Retângulo 7">
            <a:extLst>
              <a:ext uri="{FF2B5EF4-FFF2-40B4-BE49-F238E27FC236}">
                <a16:creationId xmlns:a16="http://schemas.microsoft.com/office/drawing/2014/main" id="{6D25E61B-EB42-4558-A756-0BAA5CC5F6FC}"/>
              </a:ext>
            </a:extLst>
          </p:cNvPr>
          <p:cNvSpPr>
            <a:spLocks noGrp="1"/>
          </p:cNvSpPr>
          <p:nvPr/>
        </p:nvSpPr>
        <p:spPr>
          <a:xfrm>
            <a:off x="7029450" y="4267200"/>
            <a:ext cx="4619625" cy="1104900"/>
          </a:xfrm>
          <a:prstGeom prst="rect">
            <a:avLst/>
          </a:prstGeom>
          <a:noFill/>
          <a:ln w="0">
            <a:noFill/>
          </a:ln>
        </p:spPr>
        <p:txBody>
          <a:bodyPr>
            <a:noAutofit/>
          </a:bodyPr>
          <a:lstStyle/>
          <a:p>
            <a:pPr>
              <a:defRPr sz="2325" b="0">
                <a:solidFill>
                  <a:srgbClr val="202D40"/>
                </a:solidFill>
                <a:latin typeface="Arial"/>
                <a:ea typeface="Arial"/>
                <a:cs typeface="Arial"/>
              </a:defRPr>
            </a:pPr>
            <a:r>
              <a:rPr sz="2325" b="0" dirty="0" err="1">
                <a:solidFill>
                  <a:srgbClr val="202D40"/>
                </a:solidFill>
                <a:latin typeface="Arial"/>
                <a:ea typeface="Arial"/>
                <a:cs typeface="Arial"/>
              </a:rPr>
              <a:t>Comparar</a:t>
            </a:r>
            <a:r>
              <a:rPr sz="2325" b="0" dirty="0">
                <a:solidFill>
                  <a:srgbClr val="202D40"/>
                </a:solidFill>
                <a:latin typeface="Arial"/>
                <a:ea typeface="Arial"/>
                <a:cs typeface="Arial"/>
              </a:rPr>
              <a:t> </a:t>
            </a:r>
            <a:r>
              <a:rPr sz="2325" b="0" dirty="0" err="1">
                <a:solidFill>
                  <a:srgbClr val="202D40"/>
                </a:solidFill>
                <a:latin typeface="Arial"/>
                <a:ea typeface="Arial"/>
                <a:cs typeface="Arial"/>
              </a:rPr>
              <a:t>trechos</a:t>
            </a:r>
            <a:r>
              <a:rPr sz="2325" b="0" dirty="0">
                <a:solidFill>
                  <a:srgbClr val="202D40"/>
                </a:solidFill>
                <a:latin typeface="Arial"/>
                <a:ea typeface="Arial"/>
                <a:cs typeface="Arial"/>
              </a:rPr>
              <a:t> do </a:t>
            </a:r>
            <a:r>
              <a:rPr sz="2325" b="0" dirty="0" err="1">
                <a:solidFill>
                  <a:srgbClr val="202D40"/>
                </a:solidFill>
                <a:latin typeface="Arial"/>
                <a:ea typeface="Arial"/>
                <a:cs typeface="Arial"/>
              </a:rPr>
              <a:t>gradiente</a:t>
            </a:r>
            <a:endParaRPr sz="2325" b="0" dirty="0">
              <a:solidFill>
                <a:srgbClr val="202D40"/>
              </a:solidFill>
              <a:latin typeface="Arial"/>
              <a:ea typeface="Arial"/>
              <a:cs typeface="Arial"/>
            </a:endParaRPr>
          </a:p>
        </p:txBody>
      </p:sp>
    </p:spTree>
    <p:extLst>
      <p:ext uri="{BB962C8B-B14F-4D97-AF65-F5344CB8AC3E}">
        <p14:creationId xmlns:p14="http://schemas.microsoft.com/office/powerpoint/2010/main" val="7221243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Retângulo 11">
            <a:extLst>
              <a:ext uri="{FF2B5EF4-FFF2-40B4-BE49-F238E27FC236}">
                <a16:creationId xmlns:a16="http://schemas.microsoft.com/office/drawing/2014/main" id="{89653382-AAB9-4329-B93E-C49943A4BA50}"/>
              </a:ext>
            </a:extLst>
          </p:cNvPr>
          <p:cNvSpPr>
            <a:spLocks noGrp="1"/>
          </p:cNvSpPr>
          <p:nvPr/>
        </p:nvSpPr>
        <p:spPr>
          <a:xfrm>
            <a:off x="0" y="0"/>
            <a:ext cx="12192000" cy="781050"/>
          </a:xfrm>
          <a:prstGeom prst="rect">
            <a:avLst/>
          </a:prstGeom>
          <a:solidFill>
            <a:srgbClr val="333399"/>
          </a:solidFill>
          <a:ln w="0">
            <a:noFill/>
          </a:ln>
        </p:spPr>
        <p:txBody>
          <a:bodyPr>
            <a:noAutofit/>
          </a:bodyPr>
          <a:lstStyle/>
          <a:p>
            <a:pPr>
              <a:defRPr sz="2925" b="0">
                <a:solidFill>
                  <a:srgbClr val="FFFFFF"/>
                </a:solidFill>
                <a:latin typeface="Arial"/>
                <a:ea typeface="Arial"/>
                <a:cs typeface="Arial"/>
              </a:defRPr>
            </a:pPr>
            <a:r>
              <a:rPr sz="2925" b="0">
                <a:solidFill>
                  <a:srgbClr val="FFFFFF"/>
                </a:solidFill>
                <a:latin typeface="Arial"/>
                <a:ea typeface="Arial"/>
                <a:cs typeface="Arial"/>
              </a:rPr>
              <a:t>Zonação vertical</a:t>
            </a:r>
          </a:p>
        </p:txBody>
      </p:sp>
      <p:sp>
        <p:nvSpPr>
          <p:cNvPr id="2" name="Retângulo 1">
            <a:extLst>
              <a:ext uri="{FF2B5EF4-FFF2-40B4-BE49-F238E27FC236}">
                <a16:creationId xmlns:a16="http://schemas.microsoft.com/office/drawing/2014/main" id="{DB6D1EDF-F50F-4101-9173-A22A2AD4A1AB}"/>
              </a:ext>
            </a:extLst>
          </p:cNvPr>
          <p:cNvSpPr>
            <a:spLocks noGrp="1"/>
          </p:cNvSpPr>
          <p:nvPr/>
        </p:nvSpPr>
        <p:spPr>
          <a:xfrm>
            <a:off x="0" y="6496050"/>
            <a:ext cx="2428875" cy="361950"/>
          </a:xfrm>
          <a:prstGeom prst="rect">
            <a:avLst/>
          </a:prstGeom>
          <a:solidFill>
            <a:srgbClr val="252572"/>
          </a:solidFill>
          <a:ln w="0">
            <a:noFill/>
          </a:ln>
        </p:spPr>
        <p:txBody>
          <a:bodyPr>
            <a:noAutofit/>
          </a:bodyPr>
          <a:lstStyle/>
          <a:p>
            <a:pPr>
              <a:defRPr sz="1350" b="0">
                <a:solidFill>
                  <a:srgbClr val="FFFFFF"/>
                </a:solidFill>
                <a:latin typeface="Arial"/>
                <a:ea typeface="Arial"/>
                <a:cs typeface="Arial"/>
              </a:defRPr>
            </a:pPr>
            <a:r>
              <a:rPr sz="1350" b="0">
                <a:solidFill>
                  <a:srgbClr val="FFFFFF"/>
                </a:solidFill>
                <a:latin typeface="Arial"/>
                <a:ea typeface="Arial"/>
                <a:cs typeface="Arial"/>
              </a:rPr>
              <a:t>UERJ</a:t>
            </a:r>
          </a:p>
        </p:txBody>
      </p:sp>
      <p:sp>
        <p:nvSpPr>
          <p:cNvPr id="3" name="Retângulo 2">
            <a:extLst>
              <a:ext uri="{FF2B5EF4-FFF2-40B4-BE49-F238E27FC236}">
                <a16:creationId xmlns:a16="http://schemas.microsoft.com/office/drawing/2014/main" id="{318CF6D7-ED9F-438D-AA59-0681DEF0AD1D}"/>
              </a:ext>
            </a:extLst>
          </p:cNvPr>
          <p:cNvSpPr>
            <a:spLocks noGrp="1"/>
          </p:cNvSpPr>
          <p:nvPr/>
        </p:nvSpPr>
        <p:spPr>
          <a:xfrm>
            <a:off x="2428875" y="6496050"/>
            <a:ext cx="6953250" cy="361950"/>
          </a:xfrm>
          <a:prstGeom prst="rect">
            <a:avLst/>
          </a:prstGeom>
          <a:solidFill>
            <a:srgbClr val="333399"/>
          </a:solidFill>
          <a:ln w="0">
            <a:noFill/>
          </a:ln>
        </p:spPr>
        <p:txBody>
          <a:bodyPr>
            <a:noAutofit/>
          </a:bodyPr>
          <a:lstStyle/>
          <a:p>
            <a:pPr>
              <a:defRPr sz="1350" b="0">
                <a:solidFill>
                  <a:srgbClr val="FFFFFF"/>
                </a:solidFill>
                <a:latin typeface="Arial"/>
                <a:ea typeface="Arial"/>
                <a:cs typeface="Arial"/>
              </a:defRPr>
            </a:pPr>
            <a:r>
              <a:rPr sz="1350" b="0">
                <a:solidFill>
                  <a:srgbClr val="FFFFFF"/>
                </a:solidFill>
                <a:latin typeface="Arial"/>
                <a:ea typeface="Arial"/>
                <a:cs typeface="Arial"/>
              </a:rPr>
              <a:t>Macroalgas da Praia Vermelha</a:t>
            </a:r>
          </a:p>
        </p:txBody>
      </p:sp>
      <p:sp>
        <p:nvSpPr>
          <p:cNvPr id="4" name="Retângulo 3">
            <a:extLst>
              <a:ext uri="{FF2B5EF4-FFF2-40B4-BE49-F238E27FC236}">
                <a16:creationId xmlns:a16="http://schemas.microsoft.com/office/drawing/2014/main" id="{DBAF6F71-887E-4549-9B43-B6E5634DF800}"/>
              </a:ext>
            </a:extLst>
          </p:cNvPr>
          <p:cNvSpPr>
            <a:spLocks noGrp="1"/>
          </p:cNvSpPr>
          <p:nvPr/>
        </p:nvSpPr>
        <p:spPr>
          <a:xfrm>
            <a:off x="9382125" y="6496050"/>
            <a:ext cx="2809875" cy="361950"/>
          </a:xfrm>
          <a:prstGeom prst="rect">
            <a:avLst/>
          </a:prstGeom>
          <a:solidFill>
            <a:srgbClr val="5151AE"/>
          </a:solidFill>
          <a:ln w="0">
            <a:noFill/>
          </a:ln>
        </p:spPr>
        <p:txBody>
          <a:bodyPr>
            <a:noAutofit/>
          </a:bodyPr>
          <a:lstStyle/>
          <a:p>
            <a:pPr marL="342900" indent="-342900">
              <a:buFont typeface="+mj-lt"/>
              <a:buAutoNum type="arabicPeriod"/>
              <a:defRPr sz="1275" b="0">
                <a:solidFill>
                  <a:srgbClr val="FFFFFF"/>
                </a:solidFill>
                <a:latin typeface="Arial"/>
                <a:ea typeface="Arial"/>
                <a:cs typeface="Arial"/>
              </a:defRPr>
            </a:pPr>
            <a:r>
              <a:rPr sz="1275" b="0" dirty="0">
                <a:solidFill>
                  <a:srgbClr val="FFFFFF"/>
                </a:solidFill>
                <a:latin typeface="Arial"/>
                <a:ea typeface="Arial"/>
                <a:cs typeface="Arial"/>
              </a:rPr>
              <a:t>Zonação     </a:t>
            </a:r>
            <a:r>
              <a:rPr lang="pt-BR" sz="1275" b="0" dirty="0">
                <a:solidFill>
                  <a:srgbClr val="FFFFFF"/>
                </a:solidFill>
                <a:latin typeface="Arial"/>
                <a:ea typeface="Arial"/>
                <a:cs typeface="Arial"/>
              </a:rPr>
              <a:t>7</a:t>
            </a:r>
            <a:r>
              <a:rPr sz="1275" b="0" dirty="0">
                <a:solidFill>
                  <a:srgbClr val="FFFFFF"/>
                </a:solidFill>
                <a:latin typeface="Arial"/>
                <a:ea typeface="Arial"/>
                <a:cs typeface="Arial"/>
              </a:rPr>
              <a:t>/20</a:t>
            </a:r>
          </a:p>
        </p:txBody>
      </p:sp>
      <p:sp>
        <p:nvSpPr>
          <p:cNvPr id="5" name="Retângulo 4">
            <a:extLst>
              <a:ext uri="{FF2B5EF4-FFF2-40B4-BE49-F238E27FC236}">
                <a16:creationId xmlns:a16="http://schemas.microsoft.com/office/drawing/2014/main" id="{E1700D2E-2768-4612-8883-F37FE3ADB295}"/>
              </a:ext>
            </a:extLst>
          </p:cNvPr>
          <p:cNvSpPr>
            <a:spLocks noGrp="1"/>
          </p:cNvSpPr>
          <p:nvPr/>
        </p:nvSpPr>
        <p:spPr>
          <a:xfrm>
            <a:off x="828675" y="1371600"/>
            <a:ext cx="10382250" cy="523875"/>
          </a:xfrm>
          <a:prstGeom prst="rect">
            <a:avLst/>
          </a:prstGeom>
          <a:noFill/>
          <a:ln w="0">
            <a:noFill/>
          </a:ln>
        </p:spPr>
        <p:txBody>
          <a:bodyPr>
            <a:noAutofit/>
          </a:bodyPr>
          <a:lstStyle/>
          <a:p>
            <a:pPr>
              <a:defRPr sz="2700" b="1">
                <a:solidFill>
                  <a:srgbClr val="333399"/>
                </a:solidFill>
                <a:latin typeface="Arial"/>
                <a:ea typeface="Arial"/>
                <a:cs typeface="Arial"/>
              </a:defRPr>
            </a:pPr>
            <a:r>
              <a:rPr sz="2700" b="1">
                <a:solidFill>
                  <a:srgbClr val="333399"/>
                </a:solidFill>
                <a:latin typeface="Arial"/>
                <a:ea typeface="Arial"/>
                <a:cs typeface="Arial"/>
              </a:rPr>
              <a:t>Supralitoral</a:t>
            </a:r>
          </a:p>
        </p:txBody>
      </p:sp>
      <p:sp>
        <p:nvSpPr>
          <p:cNvPr id="6" name="Retângulo 5">
            <a:extLst>
              <a:ext uri="{FF2B5EF4-FFF2-40B4-BE49-F238E27FC236}">
                <a16:creationId xmlns:a16="http://schemas.microsoft.com/office/drawing/2014/main" id="{E7E63104-77E9-4AE1-8872-7B0498D1D930}"/>
              </a:ext>
            </a:extLst>
          </p:cNvPr>
          <p:cNvSpPr>
            <a:spLocks noGrp="1"/>
          </p:cNvSpPr>
          <p:nvPr/>
        </p:nvSpPr>
        <p:spPr>
          <a:xfrm>
            <a:off x="838200" y="1952625"/>
            <a:ext cx="10382250" cy="466725"/>
          </a:xfrm>
          <a:prstGeom prst="rect">
            <a:avLst/>
          </a:prstGeom>
          <a:noFill/>
          <a:ln w="0">
            <a:noFill/>
          </a:ln>
        </p:spPr>
        <p:txBody>
          <a:bodyPr>
            <a:noAutofit/>
          </a:bodyPr>
          <a:lstStyle/>
          <a:p>
            <a:pPr>
              <a:defRPr sz="2250" b="0">
                <a:solidFill>
                  <a:srgbClr val="202D40"/>
                </a:solidFill>
                <a:latin typeface="Arial"/>
                <a:ea typeface="Arial"/>
                <a:cs typeface="Arial"/>
              </a:defRPr>
            </a:pPr>
            <a:r>
              <a:rPr sz="2250" b="0">
                <a:solidFill>
                  <a:srgbClr val="202D40"/>
                </a:solidFill>
                <a:latin typeface="Arial"/>
                <a:ea typeface="Arial"/>
                <a:cs typeface="Arial"/>
              </a:rPr>
              <a:t>Predomínio da exposição ao ar e respingos</a:t>
            </a:r>
          </a:p>
        </p:txBody>
      </p:sp>
      <p:sp>
        <p:nvSpPr>
          <p:cNvPr id="7" name="Retângulo 6">
            <a:extLst>
              <a:ext uri="{FF2B5EF4-FFF2-40B4-BE49-F238E27FC236}">
                <a16:creationId xmlns:a16="http://schemas.microsoft.com/office/drawing/2014/main" id="{138EF2EA-9737-4D83-A862-7BC6BE022E8D}"/>
              </a:ext>
            </a:extLst>
          </p:cNvPr>
          <p:cNvSpPr>
            <a:spLocks noGrp="1"/>
          </p:cNvSpPr>
          <p:nvPr/>
        </p:nvSpPr>
        <p:spPr>
          <a:xfrm>
            <a:off x="828675" y="2790825"/>
            <a:ext cx="10382250" cy="523875"/>
          </a:xfrm>
          <a:prstGeom prst="rect">
            <a:avLst/>
          </a:prstGeom>
          <a:noFill/>
          <a:ln w="0">
            <a:noFill/>
          </a:ln>
        </p:spPr>
        <p:txBody>
          <a:bodyPr>
            <a:noAutofit/>
          </a:bodyPr>
          <a:lstStyle/>
          <a:p>
            <a:pPr>
              <a:defRPr sz="2700" b="1">
                <a:solidFill>
                  <a:srgbClr val="333399"/>
                </a:solidFill>
                <a:latin typeface="Arial"/>
                <a:ea typeface="Arial"/>
                <a:cs typeface="Arial"/>
              </a:defRPr>
            </a:pPr>
            <a:r>
              <a:rPr sz="2700" b="1">
                <a:solidFill>
                  <a:srgbClr val="333399"/>
                </a:solidFill>
                <a:latin typeface="Arial"/>
                <a:ea typeface="Arial"/>
                <a:cs typeface="Arial"/>
              </a:rPr>
              <a:t>Médiolitoral</a:t>
            </a:r>
          </a:p>
        </p:txBody>
      </p:sp>
      <p:sp>
        <p:nvSpPr>
          <p:cNvPr id="8" name="Retângulo 7">
            <a:extLst>
              <a:ext uri="{FF2B5EF4-FFF2-40B4-BE49-F238E27FC236}">
                <a16:creationId xmlns:a16="http://schemas.microsoft.com/office/drawing/2014/main" id="{FB7EBCE4-0CDA-4E85-A036-8674628E3CA1}"/>
              </a:ext>
            </a:extLst>
          </p:cNvPr>
          <p:cNvSpPr>
            <a:spLocks noGrp="1"/>
          </p:cNvSpPr>
          <p:nvPr/>
        </p:nvSpPr>
        <p:spPr>
          <a:xfrm>
            <a:off x="838200" y="3371850"/>
            <a:ext cx="10382250" cy="466725"/>
          </a:xfrm>
          <a:prstGeom prst="rect">
            <a:avLst/>
          </a:prstGeom>
          <a:noFill/>
          <a:ln w="0">
            <a:noFill/>
          </a:ln>
        </p:spPr>
        <p:txBody>
          <a:bodyPr>
            <a:noAutofit/>
          </a:bodyPr>
          <a:lstStyle/>
          <a:p>
            <a:pPr>
              <a:defRPr sz="2250" b="0">
                <a:solidFill>
                  <a:srgbClr val="202D40"/>
                </a:solidFill>
                <a:latin typeface="Arial"/>
                <a:ea typeface="Arial"/>
                <a:cs typeface="Arial"/>
              </a:defRPr>
            </a:pPr>
            <a:r>
              <a:rPr sz="2250" b="0">
                <a:solidFill>
                  <a:srgbClr val="202D40"/>
                </a:solidFill>
                <a:latin typeface="Arial"/>
                <a:ea typeface="Arial"/>
                <a:cs typeface="Arial"/>
              </a:rPr>
              <a:t>Alternância de imersão e emersão</a:t>
            </a:r>
          </a:p>
        </p:txBody>
      </p:sp>
      <p:sp>
        <p:nvSpPr>
          <p:cNvPr id="9" name="Retângulo 8">
            <a:extLst>
              <a:ext uri="{FF2B5EF4-FFF2-40B4-BE49-F238E27FC236}">
                <a16:creationId xmlns:a16="http://schemas.microsoft.com/office/drawing/2014/main" id="{7F47923D-B281-45DE-8554-EEE0E97046A2}"/>
              </a:ext>
            </a:extLst>
          </p:cNvPr>
          <p:cNvSpPr>
            <a:spLocks noGrp="1"/>
          </p:cNvSpPr>
          <p:nvPr/>
        </p:nvSpPr>
        <p:spPr>
          <a:xfrm>
            <a:off x="828675" y="4210050"/>
            <a:ext cx="10382250" cy="523875"/>
          </a:xfrm>
          <a:prstGeom prst="rect">
            <a:avLst/>
          </a:prstGeom>
          <a:noFill/>
          <a:ln w="0">
            <a:noFill/>
          </a:ln>
        </p:spPr>
        <p:txBody>
          <a:bodyPr>
            <a:noAutofit/>
          </a:bodyPr>
          <a:lstStyle/>
          <a:p>
            <a:pPr>
              <a:defRPr sz="2700" b="1">
                <a:solidFill>
                  <a:srgbClr val="333399"/>
                </a:solidFill>
                <a:latin typeface="Arial"/>
                <a:ea typeface="Arial"/>
                <a:cs typeface="Arial"/>
              </a:defRPr>
            </a:pPr>
            <a:r>
              <a:rPr sz="2700" b="1">
                <a:solidFill>
                  <a:srgbClr val="333399"/>
                </a:solidFill>
                <a:latin typeface="Arial"/>
                <a:ea typeface="Arial"/>
                <a:cs typeface="Arial"/>
              </a:rPr>
              <a:t>Infralitoral</a:t>
            </a:r>
          </a:p>
        </p:txBody>
      </p:sp>
      <p:sp>
        <p:nvSpPr>
          <p:cNvPr id="10" name="Retângulo 9">
            <a:extLst>
              <a:ext uri="{FF2B5EF4-FFF2-40B4-BE49-F238E27FC236}">
                <a16:creationId xmlns:a16="http://schemas.microsoft.com/office/drawing/2014/main" id="{8E663BA8-806E-4133-9EB8-8F3484CCCA7C}"/>
              </a:ext>
            </a:extLst>
          </p:cNvPr>
          <p:cNvSpPr>
            <a:spLocks noGrp="1"/>
          </p:cNvSpPr>
          <p:nvPr/>
        </p:nvSpPr>
        <p:spPr>
          <a:xfrm>
            <a:off x="838200" y="4791075"/>
            <a:ext cx="10382250" cy="466725"/>
          </a:xfrm>
          <a:prstGeom prst="rect">
            <a:avLst/>
          </a:prstGeom>
          <a:noFill/>
          <a:ln w="0">
            <a:noFill/>
          </a:ln>
        </p:spPr>
        <p:txBody>
          <a:bodyPr>
            <a:noAutofit/>
          </a:bodyPr>
          <a:lstStyle/>
          <a:p>
            <a:pPr>
              <a:defRPr sz="2250" b="0">
                <a:solidFill>
                  <a:srgbClr val="202D40"/>
                </a:solidFill>
                <a:latin typeface="Arial"/>
                <a:ea typeface="Arial"/>
                <a:cs typeface="Arial"/>
              </a:defRPr>
            </a:pPr>
            <a:r>
              <a:rPr sz="2250" b="0">
                <a:solidFill>
                  <a:srgbClr val="202D40"/>
                </a:solidFill>
                <a:latin typeface="Arial"/>
                <a:ea typeface="Arial"/>
                <a:cs typeface="Arial"/>
              </a:rPr>
              <a:t>Predomínio da submersão</a:t>
            </a:r>
          </a:p>
        </p:txBody>
      </p:sp>
      <p:sp>
        <p:nvSpPr>
          <p:cNvPr id="11" name="Retângulo 10">
            <a:extLst>
              <a:ext uri="{FF2B5EF4-FFF2-40B4-BE49-F238E27FC236}">
                <a16:creationId xmlns:a16="http://schemas.microsoft.com/office/drawing/2014/main" id="{42145F30-A011-4D70-A87C-23922DAFEA7A}"/>
              </a:ext>
            </a:extLst>
          </p:cNvPr>
          <p:cNvSpPr>
            <a:spLocks noGrp="1"/>
          </p:cNvSpPr>
          <p:nvPr/>
        </p:nvSpPr>
        <p:spPr>
          <a:xfrm>
            <a:off x="838200" y="5867400"/>
            <a:ext cx="10477500" cy="381000"/>
          </a:xfrm>
          <a:prstGeom prst="rect">
            <a:avLst/>
          </a:prstGeom>
          <a:noFill/>
          <a:ln w="0">
            <a:noFill/>
          </a:ln>
        </p:spPr>
        <p:txBody>
          <a:bodyPr>
            <a:noAutofit/>
          </a:bodyPr>
          <a:lstStyle/>
          <a:p>
            <a:pPr>
              <a:defRPr sz="1875" b="0">
                <a:solidFill>
                  <a:srgbClr val="202D40"/>
                </a:solidFill>
                <a:latin typeface="Arial"/>
                <a:ea typeface="Arial"/>
                <a:cs typeface="Arial"/>
              </a:defRPr>
            </a:pPr>
            <a:r>
              <a:rPr sz="1875" b="0">
                <a:solidFill>
                  <a:srgbClr val="202D40"/>
                </a:solidFill>
                <a:latin typeface="Arial"/>
                <a:ea typeface="Arial"/>
                <a:cs typeface="Arial"/>
              </a:rPr>
              <a:t>Limites aproximados, condicionados pelas ondas e pela topografia</a:t>
            </a:r>
          </a:p>
        </p:txBody>
      </p:sp>
    </p:spTree>
    <p:extLst>
      <p:ext uri="{BB962C8B-B14F-4D97-AF65-F5344CB8AC3E}">
        <p14:creationId xmlns:p14="http://schemas.microsoft.com/office/powerpoint/2010/main" val="889527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tângulo 8">
            <a:extLst>
              <a:ext uri="{FF2B5EF4-FFF2-40B4-BE49-F238E27FC236}">
                <a16:creationId xmlns:a16="http://schemas.microsoft.com/office/drawing/2014/main" id="{8785F9F0-CB6D-490E-9044-F8C5E7887B0B}"/>
              </a:ext>
            </a:extLst>
          </p:cNvPr>
          <p:cNvSpPr>
            <a:spLocks noGrp="1"/>
          </p:cNvSpPr>
          <p:nvPr/>
        </p:nvSpPr>
        <p:spPr>
          <a:xfrm>
            <a:off x="0" y="0"/>
            <a:ext cx="12192000" cy="781050"/>
          </a:xfrm>
          <a:prstGeom prst="rect">
            <a:avLst/>
          </a:prstGeom>
          <a:solidFill>
            <a:srgbClr val="333399"/>
          </a:solidFill>
          <a:ln w="0">
            <a:noFill/>
          </a:ln>
        </p:spPr>
        <p:txBody>
          <a:bodyPr>
            <a:noAutofit/>
          </a:bodyPr>
          <a:lstStyle/>
          <a:p>
            <a:pPr>
              <a:defRPr sz="2925" b="0">
                <a:solidFill>
                  <a:srgbClr val="FFFFFF"/>
                </a:solidFill>
                <a:latin typeface="Arial"/>
                <a:ea typeface="Arial"/>
                <a:cs typeface="Arial"/>
              </a:defRPr>
            </a:pPr>
            <a:r>
              <a:rPr sz="2925" b="0">
                <a:solidFill>
                  <a:srgbClr val="FFFFFF"/>
                </a:solidFill>
                <a:latin typeface="Arial"/>
                <a:ea typeface="Arial"/>
                <a:cs typeface="Arial"/>
              </a:rPr>
              <a:t>Faixa superior e região de respingos</a:t>
            </a:r>
          </a:p>
        </p:txBody>
      </p:sp>
      <p:sp>
        <p:nvSpPr>
          <p:cNvPr id="2" name="Retângulo 1">
            <a:extLst>
              <a:ext uri="{FF2B5EF4-FFF2-40B4-BE49-F238E27FC236}">
                <a16:creationId xmlns:a16="http://schemas.microsoft.com/office/drawing/2014/main" id="{8459631B-87A6-4B15-B189-6D6AB5A2FCAA}"/>
              </a:ext>
            </a:extLst>
          </p:cNvPr>
          <p:cNvSpPr>
            <a:spLocks noGrp="1"/>
          </p:cNvSpPr>
          <p:nvPr/>
        </p:nvSpPr>
        <p:spPr>
          <a:xfrm>
            <a:off x="0" y="6496050"/>
            <a:ext cx="2428875" cy="361950"/>
          </a:xfrm>
          <a:prstGeom prst="rect">
            <a:avLst/>
          </a:prstGeom>
          <a:solidFill>
            <a:srgbClr val="252572"/>
          </a:solidFill>
          <a:ln w="0">
            <a:noFill/>
          </a:ln>
        </p:spPr>
        <p:txBody>
          <a:bodyPr>
            <a:noAutofit/>
          </a:bodyPr>
          <a:lstStyle/>
          <a:p>
            <a:pPr>
              <a:defRPr sz="1350" b="0">
                <a:solidFill>
                  <a:srgbClr val="FFFFFF"/>
                </a:solidFill>
                <a:latin typeface="Arial"/>
                <a:ea typeface="Arial"/>
                <a:cs typeface="Arial"/>
              </a:defRPr>
            </a:pPr>
            <a:r>
              <a:rPr sz="1350" b="0">
                <a:solidFill>
                  <a:srgbClr val="FFFFFF"/>
                </a:solidFill>
                <a:latin typeface="Arial"/>
                <a:ea typeface="Arial"/>
                <a:cs typeface="Arial"/>
              </a:rPr>
              <a:t>UERJ</a:t>
            </a:r>
          </a:p>
        </p:txBody>
      </p:sp>
      <p:sp>
        <p:nvSpPr>
          <p:cNvPr id="3" name="Retângulo 2">
            <a:extLst>
              <a:ext uri="{FF2B5EF4-FFF2-40B4-BE49-F238E27FC236}">
                <a16:creationId xmlns:a16="http://schemas.microsoft.com/office/drawing/2014/main" id="{3D10F3D3-EA01-4CBC-B22A-6C30D9435954}"/>
              </a:ext>
            </a:extLst>
          </p:cNvPr>
          <p:cNvSpPr>
            <a:spLocks noGrp="1"/>
          </p:cNvSpPr>
          <p:nvPr/>
        </p:nvSpPr>
        <p:spPr>
          <a:xfrm>
            <a:off x="2428875" y="6496050"/>
            <a:ext cx="6953250" cy="361950"/>
          </a:xfrm>
          <a:prstGeom prst="rect">
            <a:avLst/>
          </a:prstGeom>
          <a:solidFill>
            <a:srgbClr val="333399"/>
          </a:solidFill>
          <a:ln w="0">
            <a:noFill/>
          </a:ln>
        </p:spPr>
        <p:txBody>
          <a:bodyPr>
            <a:noAutofit/>
          </a:bodyPr>
          <a:lstStyle/>
          <a:p>
            <a:pPr>
              <a:defRPr sz="1350" b="0">
                <a:solidFill>
                  <a:srgbClr val="FFFFFF"/>
                </a:solidFill>
                <a:latin typeface="Arial"/>
                <a:ea typeface="Arial"/>
                <a:cs typeface="Arial"/>
              </a:defRPr>
            </a:pPr>
            <a:r>
              <a:rPr sz="1350" b="0">
                <a:solidFill>
                  <a:srgbClr val="FFFFFF"/>
                </a:solidFill>
                <a:latin typeface="Arial"/>
                <a:ea typeface="Arial"/>
                <a:cs typeface="Arial"/>
              </a:rPr>
              <a:t>Macroalgas da Praia Vermelha</a:t>
            </a:r>
          </a:p>
        </p:txBody>
      </p:sp>
      <p:sp>
        <p:nvSpPr>
          <p:cNvPr id="4" name="Retângulo 3">
            <a:extLst>
              <a:ext uri="{FF2B5EF4-FFF2-40B4-BE49-F238E27FC236}">
                <a16:creationId xmlns:a16="http://schemas.microsoft.com/office/drawing/2014/main" id="{83CD122E-C1FD-473B-8A44-C98505C312C5}"/>
              </a:ext>
            </a:extLst>
          </p:cNvPr>
          <p:cNvSpPr>
            <a:spLocks noGrp="1"/>
          </p:cNvSpPr>
          <p:nvPr/>
        </p:nvSpPr>
        <p:spPr>
          <a:xfrm>
            <a:off x="9382125" y="6496050"/>
            <a:ext cx="2809875" cy="361950"/>
          </a:xfrm>
          <a:prstGeom prst="rect">
            <a:avLst/>
          </a:prstGeom>
          <a:solidFill>
            <a:srgbClr val="5151AE"/>
          </a:solidFill>
          <a:ln w="0">
            <a:noFill/>
          </a:ln>
        </p:spPr>
        <p:txBody>
          <a:bodyPr>
            <a:noAutofit/>
          </a:bodyPr>
          <a:lstStyle/>
          <a:p>
            <a:pPr>
              <a:defRPr sz="1275" b="0">
                <a:solidFill>
                  <a:srgbClr val="FFFFFF"/>
                </a:solidFill>
                <a:latin typeface="Arial"/>
                <a:ea typeface="Arial"/>
                <a:cs typeface="Arial"/>
              </a:defRPr>
            </a:pPr>
            <a:r>
              <a:rPr sz="1275" b="0">
                <a:solidFill>
                  <a:srgbClr val="FFFFFF"/>
                </a:solidFill>
                <a:latin typeface="Arial"/>
                <a:ea typeface="Arial"/>
                <a:cs typeface="Arial"/>
              </a:rPr>
              <a:t>Resultados     8/20</a:t>
            </a:r>
          </a:p>
        </p:txBody>
      </p:sp>
      <p:pic>
        <p:nvPicPr>
          <p:cNvPr id="13" name="Imagem 12"/>
          <p:cNvPicPr>
            <a:picLocks noChangeAspect="1"/>
          </p:cNvPicPr>
          <p:nvPr/>
        </p:nvPicPr>
        <p:blipFill>
          <a:blip r:embed="rId3"/>
          <a:stretch/>
        </p:blipFill>
        <p:spPr>
          <a:xfrm>
            <a:off x="762000" y="1009650"/>
            <a:ext cx="4838700" cy="4838700"/>
          </a:xfrm>
          <a:prstGeom prst="rect">
            <a:avLst/>
          </a:prstGeom>
        </p:spPr>
      </p:pic>
      <p:pic>
        <p:nvPicPr>
          <p:cNvPr id="14" name="Imagem 13"/>
          <p:cNvPicPr>
            <a:picLocks noChangeAspect="1"/>
          </p:cNvPicPr>
          <p:nvPr/>
        </p:nvPicPr>
        <p:blipFill>
          <a:blip r:embed="rId4"/>
          <a:stretch/>
        </p:blipFill>
        <p:spPr>
          <a:xfrm>
            <a:off x="6591300" y="1009650"/>
            <a:ext cx="4838700" cy="4838700"/>
          </a:xfrm>
          <a:prstGeom prst="rect">
            <a:avLst/>
          </a:prstGeom>
        </p:spPr>
      </p:pic>
      <p:sp>
        <p:nvSpPr>
          <p:cNvPr id="7" name="Retângulo 6">
            <a:extLst>
              <a:ext uri="{FF2B5EF4-FFF2-40B4-BE49-F238E27FC236}">
                <a16:creationId xmlns:a16="http://schemas.microsoft.com/office/drawing/2014/main" id="{51840349-0B6A-4BA3-A255-54C59CDCD190}"/>
              </a:ext>
            </a:extLst>
          </p:cNvPr>
          <p:cNvSpPr>
            <a:spLocks noGrp="1"/>
          </p:cNvSpPr>
          <p:nvPr/>
        </p:nvSpPr>
        <p:spPr>
          <a:xfrm>
            <a:off x="609600" y="5972175"/>
            <a:ext cx="5143500" cy="419100"/>
          </a:xfrm>
          <a:prstGeom prst="rect">
            <a:avLst/>
          </a:prstGeom>
          <a:noFill/>
          <a:ln w="0">
            <a:noFill/>
          </a:ln>
        </p:spPr>
        <p:txBody>
          <a:bodyPr>
            <a:noAutofit/>
          </a:bodyPr>
          <a:lstStyle/>
          <a:p>
            <a:pPr>
              <a:defRPr sz="1725" b="0">
                <a:solidFill>
                  <a:srgbClr val="202D40"/>
                </a:solidFill>
                <a:latin typeface="Arial"/>
                <a:ea typeface="Arial"/>
                <a:cs typeface="Arial"/>
              </a:defRPr>
            </a:pPr>
            <a:r>
              <a:rPr sz="1725" b="0">
                <a:solidFill>
                  <a:srgbClr val="202D40"/>
                </a:solidFill>
                <a:latin typeface="Arial"/>
                <a:ea typeface="Arial"/>
                <a:cs typeface="Arial"/>
              </a:rPr>
              <a:t>Crostas e organismos junto à rocha</a:t>
            </a:r>
          </a:p>
        </p:txBody>
      </p:sp>
      <p:sp>
        <p:nvSpPr>
          <p:cNvPr id="8" name="Retângulo 7">
            <a:extLst>
              <a:ext uri="{FF2B5EF4-FFF2-40B4-BE49-F238E27FC236}">
                <a16:creationId xmlns:a16="http://schemas.microsoft.com/office/drawing/2014/main" id="{54D77C85-C1D0-4992-BC58-C05362D320C2}"/>
              </a:ext>
            </a:extLst>
          </p:cNvPr>
          <p:cNvSpPr>
            <a:spLocks noGrp="1"/>
          </p:cNvSpPr>
          <p:nvPr/>
        </p:nvSpPr>
        <p:spPr>
          <a:xfrm>
            <a:off x="6438900" y="5972175"/>
            <a:ext cx="5143500" cy="419100"/>
          </a:xfrm>
          <a:prstGeom prst="rect">
            <a:avLst/>
          </a:prstGeom>
          <a:noFill/>
          <a:ln w="0">
            <a:noFill/>
          </a:ln>
        </p:spPr>
        <p:txBody>
          <a:bodyPr>
            <a:noAutofit/>
          </a:bodyPr>
          <a:lstStyle/>
          <a:p>
            <a:pPr>
              <a:defRPr sz="1725" b="0">
                <a:solidFill>
                  <a:srgbClr val="202D40"/>
                </a:solidFill>
                <a:latin typeface="Arial"/>
                <a:ea typeface="Arial"/>
                <a:cs typeface="Arial"/>
              </a:defRPr>
            </a:pPr>
            <a:r>
              <a:rPr sz="1725" b="0">
                <a:solidFill>
                  <a:srgbClr val="202D40"/>
                </a:solidFill>
                <a:latin typeface="Arial"/>
                <a:ea typeface="Arial"/>
                <a:cs typeface="Arial"/>
              </a:rPr>
              <a:t>Cobertura irregular no trecho registrado</a:t>
            </a:r>
          </a:p>
        </p:txBody>
      </p:sp>
    </p:spTree>
    <p:extLst>
      <p:ext uri="{BB962C8B-B14F-4D97-AF65-F5344CB8AC3E}">
        <p14:creationId xmlns:p14="http://schemas.microsoft.com/office/powerpoint/2010/main" val="14100418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tângulo 8">
            <a:extLst>
              <a:ext uri="{FF2B5EF4-FFF2-40B4-BE49-F238E27FC236}">
                <a16:creationId xmlns:a16="http://schemas.microsoft.com/office/drawing/2014/main" id="{D72A56BF-84D7-4FB1-9EA3-E7615BB89E8A}"/>
              </a:ext>
            </a:extLst>
          </p:cNvPr>
          <p:cNvSpPr>
            <a:spLocks noGrp="1"/>
          </p:cNvSpPr>
          <p:nvPr/>
        </p:nvSpPr>
        <p:spPr>
          <a:xfrm>
            <a:off x="0" y="0"/>
            <a:ext cx="12192000" cy="781050"/>
          </a:xfrm>
          <a:prstGeom prst="rect">
            <a:avLst/>
          </a:prstGeom>
          <a:solidFill>
            <a:srgbClr val="333399"/>
          </a:solidFill>
          <a:ln w="0">
            <a:noFill/>
          </a:ln>
        </p:spPr>
        <p:txBody>
          <a:bodyPr>
            <a:noAutofit/>
          </a:bodyPr>
          <a:lstStyle/>
          <a:p>
            <a:pPr>
              <a:defRPr sz="2925" b="0">
                <a:solidFill>
                  <a:srgbClr val="FFFFFF"/>
                </a:solidFill>
                <a:latin typeface="Arial"/>
                <a:ea typeface="Arial"/>
                <a:cs typeface="Arial"/>
              </a:defRPr>
            </a:pPr>
            <a:r>
              <a:rPr sz="2925" b="0">
                <a:solidFill>
                  <a:srgbClr val="FFFFFF"/>
                </a:solidFill>
                <a:latin typeface="Arial"/>
                <a:ea typeface="Arial"/>
                <a:cs typeface="Arial"/>
              </a:rPr>
              <a:t>Distribuição das algas na faixa entre marés</a:t>
            </a:r>
          </a:p>
        </p:txBody>
      </p:sp>
      <p:sp>
        <p:nvSpPr>
          <p:cNvPr id="2" name="Retângulo 1">
            <a:extLst>
              <a:ext uri="{FF2B5EF4-FFF2-40B4-BE49-F238E27FC236}">
                <a16:creationId xmlns:a16="http://schemas.microsoft.com/office/drawing/2014/main" id="{9E2FBD7D-AB72-479D-9E23-87D284A7EC13}"/>
              </a:ext>
            </a:extLst>
          </p:cNvPr>
          <p:cNvSpPr>
            <a:spLocks noGrp="1"/>
          </p:cNvSpPr>
          <p:nvPr/>
        </p:nvSpPr>
        <p:spPr>
          <a:xfrm>
            <a:off x="0" y="6496050"/>
            <a:ext cx="2428875" cy="361950"/>
          </a:xfrm>
          <a:prstGeom prst="rect">
            <a:avLst/>
          </a:prstGeom>
          <a:solidFill>
            <a:srgbClr val="252572"/>
          </a:solidFill>
          <a:ln w="0">
            <a:noFill/>
          </a:ln>
        </p:spPr>
        <p:txBody>
          <a:bodyPr>
            <a:noAutofit/>
          </a:bodyPr>
          <a:lstStyle/>
          <a:p>
            <a:pPr>
              <a:defRPr sz="1350" b="0">
                <a:solidFill>
                  <a:srgbClr val="FFFFFF"/>
                </a:solidFill>
                <a:latin typeface="Arial"/>
                <a:ea typeface="Arial"/>
                <a:cs typeface="Arial"/>
              </a:defRPr>
            </a:pPr>
            <a:r>
              <a:rPr sz="1350" b="0">
                <a:solidFill>
                  <a:srgbClr val="FFFFFF"/>
                </a:solidFill>
                <a:latin typeface="Arial"/>
                <a:ea typeface="Arial"/>
                <a:cs typeface="Arial"/>
              </a:rPr>
              <a:t>UERJ</a:t>
            </a:r>
          </a:p>
        </p:txBody>
      </p:sp>
      <p:sp>
        <p:nvSpPr>
          <p:cNvPr id="3" name="Retângulo 2">
            <a:extLst>
              <a:ext uri="{FF2B5EF4-FFF2-40B4-BE49-F238E27FC236}">
                <a16:creationId xmlns:a16="http://schemas.microsoft.com/office/drawing/2014/main" id="{99AAFCD7-4574-40DE-BD7B-E0290996ACDE}"/>
              </a:ext>
            </a:extLst>
          </p:cNvPr>
          <p:cNvSpPr>
            <a:spLocks noGrp="1"/>
          </p:cNvSpPr>
          <p:nvPr/>
        </p:nvSpPr>
        <p:spPr>
          <a:xfrm>
            <a:off x="2428875" y="6496050"/>
            <a:ext cx="6953250" cy="361950"/>
          </a:xfrm>
          <a:prstGeom prst="rect">
            <a:avLst/>
          </a:prstGeom>
          <a:solidFill>
            <a:srgbClr val="333399"/>
          </a:solidFill>
          <a:ln w="0">
            <a:noFill/>
          </a:ln>
        </p:spPr>
        <p:txBody>
          <a:bodyPr>
            <a:noAutofit/>
          </a:bodyPr>
          <a:lstStyle/>
          <a:p>
            <a:pPr>
              <a:defRPr sz="1350" b="0">
                <a:solidFill>
                  <a:srgbClr val="FFFFFF"/>
                </a:solidFill>
                <a:latin typeface="Arial"/>
                <a:ea typeface="Arial"/>
                <a:cs typeface="Arial"/>
              </a:defRPr>
            </a:pPr>
            <a:r>
              <a:rPr sz="1350" b="0">
                <a:solidFill>
                  <a:srgbClr val="FFFFFF"/>
                </a:solidFill>
                <a:latin typeface="Arial"/>
                <a:ea typeface="Arial"/>
                <a:cs typeface="Arial"/>
              </a:rPr>
              <a:t>Macroalgas da Praia Vermelha</a:t>
            </a:r>
          </a:p>
        </p:txBody>
      </p:sp>
      <p:sp>
        <p:nvSpPr>
          <p:cNvPr id="4" name="Retângulo 3">
            <a:extLst>
              <a:ext uri="{FF2B5EF4-FFF2-40B4-BE49-F238E27FC236}">
                <a16:creationId xmlns:a16="http://schemas.microsoft.com/office/drawing/2014/main" id="{8FC63FBF-0E65-4518-A46B-9285C4255112}"/>
              </a:ext>
            </a:extLst>
          </p:cNvPr>
          <p:cNvSpPr>
            <a:spLocks noGrp="1"/>
          </p:cNvSpPr>
          <p:nvPr/>
        </p:nvSpPr>
        <p:spPr>
          <a:xfrm>
            <a:off x="9382125" y="6496050"/>
            <a:ext cx="2809875" cy="361950"/>
          </a:xfrm>
          <a:prstGeom prst="rect">
            <a:avLst/>
          </a:prstGeom>
          <a:solidFill>
            <a:srgbClr val="5151AE"/>
          </a:solidFill>
          <a:ln w="0">
            <a:noFill/>
          </a:ln>
        </p:spPr>
        <p:txBody>
          <a:bodyPr>
            <a:noAutofit/>
          </a:bodyPr>
          <a:lstStyle/>
          <a:p>
            <a:pPr>
              <a:defRPr sz="1275" b="0">
                <a:solidFill>
                  <a:srgbClr val="FFFFFF"/>
                </a:solidFill>
                <a:latin typeface="Arial"/>
                <a:ea typeface="Arial"/>
                <a:cs typeface="Arial"/>
              </a:defRPr>
            </a:pPr>
            <a:r>
              <a:rPr sz="1275" b="0">
                <a:solidFill>
                  <a:srgbClr val="FFFFFF"/>
                </a:solidFill>
                <a:latin typeface="Arial"/>
                <a:ea typeface="Arial"/>
                <a:cs typeface="Arial"/>
              </a:rPr>
              <a:t>Resultados     9/20</a:t>
            </a:r>
          </a:p>
        </p:txBody>
      </p:sp>
      <p:pic>
        <p:nvPicPr>
          <p:cNvPr id="13" name="Imagem 12"/>
          <p:cNvPicPr>
            <a:picLocks noChangeAspect="1"/>
          </p:cNvPicPr>
          <p:nvPr/>
        </p:nvPicPr>
        <p:blipFill>
          <a:blip r:embed="rId3"/>
          <a:stretch/>
        </p:blipFill>
        <p:spPr>
          <a:xfrm>
            <a:off x="609600" y="1500188"/>
            <a:ext cx="5143500" cy="3857625"/>
          </a:xfrm>
          <a:prstGeom prst="rect">
            <a:avLst/>
          </a:prstGeom>
        </p:spPr>
      </p:pic>
      <p:pic>
        <p:nvPicPr>
          <p:cNvPr id="14" name="Imagem 13"/>
          <p:cNvPicPr>
            <a:picLocks noChangeAspect="1"/>
          </p:cNvPicPr>
          <p:nvPr/>
        </p:nvPicPr>
        <p:blipFill>
          <a:blip r:embed="rId4"/>
          <a:stretch/>
        </p:blipFill>
        <p:spPr>
          <a:xfrm>
            <a:off x="6438900" y="1500188"/>
            <a:ext cx="5143500" cy="3857625"/>
          </a:xfrm>
          <a:prstGeom prst="rect">
            <a:avLst/>
          </a:prstGeom>
        </p:spPr>
      </p:pic>
      <p:sp>
        <p:nvSpPr>
          <p:cNvPr id="7" name="Retângulo 6">
            <a:extLst>
              <a:ext uri="{FF2B5EF4-FFF2-40B4-BE49-F238E27FC236}">
                <a16:creationId xmlns:a16="http://schemas.microsoft.com/office/drawing/2014/main" id="{DE075358-A3C0-4D65-9DC2-D8D31D8BE3B5}"/>
              </a:ext>
            </a:extLst>
          </p:cNvPr>
          <p:cNvSpPr>
            <a:spLocks noGrp="1"/>
          </p:cNvSpPr>
          <p:nvPr/>
        </p:nvSpPr>
        <p:spPr>
          <a:xfrm>
            <a:off x="609600" y="5972175"/>
            <a:ext cx="5143500" cy="419100"/>
          </a:xfrm>
          <a:prstGeom prst="rect">
            <a:avLst/>
          </a:prstGeom>
          <a:noFill/>
          <a:ln w="0">
            <a:noFill/>
          </a:ln>
        </p:spPr>
        <p:txBody>
          <a:bodyPr>
            <a:noAutofit/>
          </a:bodyPr>
          <a:lstStyle/>
          <a:p>
            <a:pPr>
              <a:defRPr sz="1725" b="0">
                <a:solidFill>
                  <a:srgbClr val="202D40"/>
                </a:solidFill>
                <a:latin typeface="Arial"/>
                <a:ea typeface="Arial"/>
                <a:cs typeface="Arial"/>
              </a:defRPr>
            </a:pPr>
            <a:r>
              <a:rPr sz="1725" b="0">
                <a:solidFill>
                  <a:srgbClr val="202D40"/>
                </a:solidFill>
                <a:latin typeface="Arial"/>
                <a:ea typeface="Arial"/>
                <a:cs typeface="Arial"/>
              </a:rPr>
              <a:t>Cobertura verde e avermelhada sobre a rocha</a:t>
            </a:r>
          </a:p>
        </p:txBody>
      </p:sp>
      <p:sp>
        <p:nvSpPr>
          <p:cNvPr id="8" name="Retângulo 7">
            <a:extLst>
              <a:ext uri="{FF2B5EF4-FFF2-40B4-BE49-F238E27FC236}">
                <a16:creationId xmlns:a16="http://schemas.microsoft.com/office/drawing/2014/main" id="{878417B0-38A3-4457-888D-245C3D1F8C1D}"/>
              </a:ext>
            </a:extLst>
          </p:cNvPr>
          <p:cNvSpPr>
            <a:spLocks noGrp="1"/>
          </p:cNvSpPr>
          <p:nvPr/>
        </p:nvSpPr>
        <p:spPr>
          <a:xfrm>
            <a:off x="6438900" y="5972175"/>
            <a:ext cx="5143500" cy="419100"/>
          </a:xfrm>
          <a:prstGeom prst="rect">
            <a:avLst/>
          </a:prstGeom>
          <a:noFill/>
          <a:ln w="0">
            <a:noFill/>
          </a:ln>
        </p:spPr>
        <p:txBody>
          <a:bodyPr>
            <a:noAutofit/>
          </a:bodyPr>
          <a:lstStyle/>
          <a:p>
            <a:pPr>
              <a:defRPr sz="1725" b="0">
                <a:solidFill>
                  <a:srgbClr val="202D40"/>
                </a:solidFill>
                <a:latin typeface="Arial"/>
                <a:ea typeface="Arial"/>
                <a:cs typeface="Arial"/>
              </a:defRPr>
            </a:pPr>
            <a:r>
              <a:rPr sz="1725" b="0">
                <a:solidFill>
                  <a:srgbClr val="202D40"/>
                </a:solidFill>
                <a:latin typeface="Arial"/>
                <a:ea typeface="Arial"/>
                <a:cs typeface="Arial"/>
              </a:rPr>
              <a:t>Detalhe da distribuição irregular</a:t>
            </a:r>
          </a:p>
        </p:txBody>
      </p:sp>
    </p:spTree>
    <p:extLst>
      <p:ext uri="{BB962C8B-B14F-4D97-AF65-F5344CB8AC3E}">
        <p14:creationId xmlns:p14="http://schemas.microsoft.com/office/powerpoint/2010/main" val="2617545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tângulo 9">
            <a:extLst>
              <a:ext uri="{FF2B5EF4-FFF2-40B4-BE49-F238E27FC236}">
                <a16:creationId xmlns:a16="http://schemas.microsoft.com/office/drawing/2014/main" id="{5F014DB1-0738-4BC4-8CB3-B25B153D6034}"/>
              </a:ext>
            </a:extLst>
          </p:cNvPr>
          <p:cNvSpPr>
            <a:spLocks noGrp="1"/>
          </p:cNvSpPr>
          <p:nvPr/>
        </p:nvSpPr>
        <p:spPr>
          <a:xfrm>
            <a:off x="0" y="0"/>
            <a:ext cx="12192000" cy="781050"/>
          </a:xfrm>
          <a:prstGeom prst="rect">
            <a:avLst/>
          </a:prstGeom>
          <a:solidFill>
            <a:srgbClr val="333399"/>
          </a:solidFill>
          <a:ln w="0">
            <a:noFill/>
          </a:ln>
        </p:spPr>
        <p:txBody>
          <a:bodyPr>
            <a:noAutofit/>
          </a:bodyPr>
          <a:lstStyle/>
          <a:p>
            <a:pPr>
              <a:defRPr sz="2925" b="0">
                <a:solidFill>
                  <a:srgbClr val="FFFFFF"/>
                </a:solidFill>
                <a:latin typeface="Arial"/>
                <a:ea typeface="Arial"/>
                <a:cs typeface="Arial"/>
              </a:defRPr>
            </a:pPr>
            <a:r>
              <a:rPr sz="2925" b="0">
                <a:solidFill>
                  <a:srgbClr val="FFFFFF"/>
                </a:solidFill>
                <a:latin typeface="Arial"/>
                <a:ea typeface="Arial"/>
                <a:cs typeface="Arial"/>
              </a:rPr>
              <a:t>Infralitoral: limites do registro</a:t>
            </a:r>
          </a:p>
        </p:txBody>
      </p:sp>
      <p:sp>
        <p:nvSpPr>
          <p:cNvPr id="2" name="Retângulo 1">
            <a:extLst>
              <a:ext uri="{FF2B5EF4-FFF2-40B4-BE49-F238E27FC236}">
                <a16:creationId xmlns:a16="http://schemas.microsoft.com/office/drawing/2014/main" id="{5A6FDDE1-9C88-4ED3-B470-9FCF775C7AFD}"/>
              </a:ext>
            </a:extLst>
          </p:cNvPr>
          <p:cNvSpPr>
            <a:spLocks noGrp="1"/>
          </p:cNvSpPr>
          <p:nvPr/>
        </p:nvSpPr>
        <p:spPr>
          <a:xfrm>
            <a:off x="0" y="6496050"/>
            <a:ext cx="2428875" cy="361950"/>
          </a:xfrm>
          <a:prstGeom prst="rect">
            <a:avLst/>
          </a:prstGeom>
          <a:solidFill>
            <a:srgbClr val="252572"/>
          </a:solidFill>
          <a:ln w="0">
            <a:noFill/>
          </a:ln>
        </p:spPr>
        <p:txBody>
          <a:bodyPr>
            <a:noAutofit/>
          </a:bodyPr>
          <a:lstStyle/>
          <a:p>
            <a:pPr>
              <a:defRPr sz="1350" b="0">
                <a:solidFill>
                  <a:srgbClr val="FFFFFF"/>
                </a:solidFill>
                <a:latin typeface="Arial"/>
                <a:ea typeface="Arial"/>
                <a:cs typeface="Arial"/>
              </a:defRPr>
            </a:pPr>
            <a:r>
              <a:rPr sz="1350" b="0">
                <a:solidFill>
                  <a:srgbClr val="FFFFFF"/>
                </a:solidFill>
                <a:latin typeface="Arial"/>
                <a:ea typeface="Arial"/>
                <a:cs typeface="Arial"/>
              </a:rPr>
              <a:t>UERJ</a:t>
            </a:r>
          </a:p>
        </p:txBody>
      </p:sp>
      <p:sp>
        <p:nvSpPr>
          <p:cNvPr id="3" name="Retângulo 2">
            <a:extLst>
              <a:ext uri="{FF2B5EF4-FFF2-40B4-BE49-F238E27FC236}">
                <a16:creationId xmlns:a16="http://schemas.microsoft.com/office/drawing/2014/main" id="{8D06D10B-E5DF-4AB5-B0B6-9FD59FA50B08}"/>
              </a:ext>
            </a:extLst>
          </p:cNvPr>
          <p:cNvSpPr>
            <a:spLocks noGrp="1"/>
          </p:cNvSpPr>
          <p:nvPr/>
        </p:nvSpPr>
        <p:spPr>
          <a:xfrm>
            <a:off x="2428875" y="6496050"/>
            <a:ext cx="6953250" cy="361950"/>
          </a:xfrm>
          <a:prstGeom prst="rect">
            <a:avLst/>
          </a:prstGeom>
          <a:solidFill>
            <a:srgbClr val="333399"/>
          </a:solidFill>
          <a:ln w="0">
            <a:noFill/>
          </a:ln>
        </p:spPr>
        <p:txBody>
          <a:bodyPr>
            <a:noAutofit/>
          </a:bodyPr>
          <a:lstStyle/>
          <a:p>
            <a:pPr>
              <a:defRPr sz="1350" b="0">
                <a:solidFill>
                  <a:srgbClr val="FFFFFF"/>
                </a:solidFill>
                <a:latin typeface="Arial"/>
                <a:ea typeface="Arial"/>
                <a:cs typeface="Arial"/>
              </a:defRPr>
            </a:pPr>
            <a:r>
              <a:rPr sz="1350" b="0">
                <a:solidFill>
                  <a:srgbClr val="FFFFFF"/>
                </a:solidFill>
                <a:latin typeface="Arial"/>
                <a:ea typeface="Arial"/>
                <a:cs typeface="Arial"/>
              </a:rPr>
              <a:t>Macroalgas da Praia Vermelha</a:t>
            </a:r>
          </a:p>
        </p:txBody>
      </p:sp>
      <p:sp>
        <p:nvSpPr>
          <p:cNvPr id="4" name="Retângulo 3">
            <a:extLst>
              <a:ext uri="{FF2B5EF4-FFF2-40B4-BE49-F238E27FC236}">
                <a16:creationId xmlns:a16="http://schemas.microsoft.com/office/drawing/2014/main" id="{E92BD5D2-9A1F-483F-A76C-823982B61977}"/>
              </a:ext>
            </a:extLst>
          </p:cNvPr>
          <p:cNvSpPr>
            <a:spLocks noGrp="1"/>
          </p:cNvSpPr>
          <p:nvPr/>
        </p:nvSpPr>
        <p:spPr>
          <a:xfrm>
            <a:off x="9382125" y="6496050"/>
            <a:ext cx="2809875" cy="361950"/>
          </a:xfrm>
          <a:prstGeom prst="rect">
            <a:avLst/>
          </a:prstGeom>
          <a:solidFill>
            <a:srgbClr val="5151AE"/>
          </a:solidFill>
          <a:ln w="0">
            <a:noFill/>
          </a:ln>
        </p:spPr>
        <p:txBody>
          <a:bodyPr>
            <a:noAutofit/>
          </a:bodyPr>
          <a:lstStyle/>
          <a:p>
            <a:pPr>
              <a:defRPr sz="1275" b="0">
                <a:solidFill>
                  <a:srgbClr val="FFFFFF"/>
                </a:solidFill>
                <a:latin typeface="Arial"/>
                <a:ea typeface="Arial"/>
                <a:cs typeface="Arial"/>
              </a:defRPr>
            </a:pPr>
            <a:r>
              <a:rPr sz="1275" b="0">
                <a:solidFill>
                  <a:srgbClr val="FFFFFF"/>
                </a:solidFill>
                <a:latin typeface="Arial"/>
                <a:ea typeface="Arial"/>
                <a:cs typeface="Arial"/>
              </a:rPr>
              <a:t>Resultados     10/20</a:t>
            </a:r>
          </a:p>
        </p:txBody>
      </p:sp>
      <p:pic>
        <p:nvPicPr>
          <p:cNvPr id="14" name="Imagem 13"/>
          <p:cNvPicPr>
            <a:picLocks noChangeAspect="1"/>
          </p:cNvPicPr>
          <p:nvPr/>
        </p:nvPicPr>
        <p:blipFill>
          <a:blip r:embed="rId3"/>
          <a:stretch/>
        </p:blipFill>
        <p:spPr>
          <a:xfrm>
            <a:off x="457200" y="1312069"/>
            <a:ext cx="6000750" cy="4500563"/>
          </a:xfrm>
          <a:prstGeom prst="rect">
            <a:avLst/>
          </a:prstGeom>
        </p:spPr>
      </p:pic>
      <p:sp>
        <p:nvSpPr>
          <p:cNvPr id="6" name="Retângulo 5">
            <a:extLst>
              <a:ext uri="{FF2B5EF4-FFF2-40B4-BE49-F238E27FC236}">
                <a16:creationId xmlns:a16="http://schemas.microsoft.com/office/drawing/2014/main" id="{0017B38F-3B40-4731-8F54-2F0816851F7E}"/>
              </a:ext>
            </a:extLst>
          </p:cNvPr>
          <p:cNvSpPr>
            <a:spLocks noGrp="1"/>
          </p:cNvSpPr>
          <p:nvPr/>
        </p:nvSpPr>
        <p:spPr>
          <a:xfrm>
            <a:off x="7029450" y="1524000"/>
            <a:ext cx="4619625" cy="1104900"/>
          </a:xfrm>
          <a:prstGeom prst="rect">
            <a:avLst/>
          </a:prstGeom>
          <a:noFill/>
          <a:ln w="0">
            <a:noFill/>
          </a:ln>
        </p:spPr>
        <p:txBody>
          <a:bodyPr>
            <a:noAutofit/>
          </a:bodyPr>
          <a:lstStyle/>
          <a:p>
            <a:pPr>
              <a:defRPr sz="2325" b="1">
                <a:solidFill>
                  <a:srgbClr val="333399"/>
                </a:solidFill>
                <a:latin typeface="Arial"/>
                <a:ea typeface="Arial"/>
                <a:cs typeface="Arial"/>
              </a:defRPr>
            </a:pPr>
            <a:r>
              <a:rPr sz="2325" b="1">
                <a:solidFill>
                  <a:srgbClr val="333399"/>
                </a:solidFill>
                <a:latin typeface="Arial"/>
                <a:ea typeface="Arial"/>
                <a:cs typeface="Arial"/>
              </a:rPr>
              <a:t>Continuidade relatada abaixo da superfície</a:t>
            </a:r>
          </a:p>
        </p:txBody>
      </p:sp>
      <p:sp>
        <p:nvSpPr>
          <p:cNvPr id="7" name="Retângulo 6">
            <a:extLst>
              <a:ext uri="{FF2B5EF4-FFF2-40B4-BE49-F238E27FC236}">
                <a16:creationId xmlns:a16="http://schemas.microsoft.com/office/drawing/2014/main" id="{9A537712-4702-43D9-A020-0EB98170FD31}"/>
              </a:ext>
            </a:extLst>
          </p:cNvPr>
          <p:cNvSpPr>
            <a:spLocks noGrp="1"/>
          </p:cNvSpPr>
          <p:nvPr/>
        </p:nvSpPr>
        <p:spPr>
          <a:xfrm>
            <a:off x="7029450" y="2895600"/>
            <a:ext cx="4619625" cy="1104900"/>
          </a:xfrm>
          <a:prstGeom prst="rect">
            <a:avLst/>
          </a:prstGeom>
          <a:noFill/>
          <a:ln w="0">
            <a:noFill/>
          </a:ln>
        </p:spPr>
        <p:txBody>
          <a:bodyPr>
            <a:noAutofit/>
          </a:bodyPr>
          <a:lstStyle/>
          <a:p>
            <a:pPr>
              <a:defRPr sz="2325" b="0">
                <a:solidFill>
                  <a:srgbClr val="202D40"/>
                </a:solidFill>
                <a:latin typeface="Arial"/>
                <a:ea typeface="Arial"/>
                <a:cs typeface="Arial"/>
              </a:defRPr>
            </a:pPr>
            <a:r>
              <a:rPr sz="2325" b="0">
                <a:solidFill>
                  <a:srgbClr val="202D40"/>
                </a:solidFill>
                <a:latin typeface="Arial"/>
                <a:ea typeface="Arial"/>
                <a:cs typeface="Arial"/>
              </a:rPr>
              <a:t>Observação visual do grupo</a:t>
            </a:r>
          </a:p>
        </p:txBody>
      </p:sp>
      <p:sp>
        <p:nvSpPr>
          <p:cNvPr id="8" name="Retângulo 7">
            <a:extLst>
              <a:ext uri="{FF2B5EF4-FFF2-40B4-BE49-F238E27FC236}">
                <a16:creationId xmlns:a16="http://schemas.microsoft.com/office/drawing/2014/main" id="{7AB4CC90-2EF6-4627-AE17-3676F723D7E8}"/>
              </a:ext>
            </a:extLst>
          </p:cNvPr>
          <p:cNvSpPr>
            <a:spLocks noGrp="1"/>
          </p:cNvSpPr>
          <p:nvPr/>
        </p:nvSpPr>
        <p:spPr>
          <a:xfrm>
            <a:off x="7029450" y="4267200"/>
            <a:ext cx="4619625" cy="1104900"/>
          </a:xfrm>
          <a:prstGeom prst="rect">
            <a:avLst/>
          </a:prstGeom>
          <a:noFill/>
          <a:ln w="0">
            <a:noFill/>
          </a:ln>
        </p:spPr>
        <p:txBody>
          <a:bodyPr>
            <a:noAutofit/>
          </a:bodyPr>
          <a:lstStyle/>
          <a:p>
            <a:pPr>
              <a:defRPr sz="2325" b="0">
                <a:solidFill>
                  <a:srgbClr val="202D40"/>
                </a:solidFill>
                <a:latin typeface="Arial"/>
                <a:ea typeface="Arial"/>
                <a:cs typeface="Arial"/>
              </a:defRPr>
            </a:pPr>
            <a:r>
              <a:rPr sz="2325" b="0">
                <a:solidFill>
                  <a:srgbClr val="202D40"/>
                </a:solidFill>
                <a:latin typeface="Arial"/>
                <a:ea typeface="Arial"/>
                <a:cs typeface="Arial"/>
              </a:rPr>
              <a:t>Sem fotografia subaquática</a:t>
            </a:r>
          </a:p>
        </p:txBody>
      </p:sp>
      <p:sp>
        <p:nvSpPr>
          <p:cNvPr id="9" name="Retângulo 8">
            <a:extLst>
              <a:ext uri="{FF2B5EF4-FFF2-40B4-BE49-F238E27FC236}">
                <a16:creationId xmlns:a16="http://schemas.microsoft.com/office/drawing/2014/main" id="{285FE96F-D3AF-4961-A58B-F36EA3935511}"/>
              </a:ext>
            </a:extLst>
          </p:cNvPr>
          <p:cNvSpPr>
            <a:spLocks noGrp="1"/>
          </p:cNvSpPr>
          <p:nvPr/>
        </p:nvSpPr>
        <p:spPr>
          <a:xfrm>
            <a:off x="476250" y="6105525"/>
            <a:ext cx="11144250" cy="323850"/>
          </a:xfrm>
          <a:prstGeom prst="rect">
            <a:avLst/>
          </a:prstGeom>
          <a:noFill/>
          <a:ln w="0">
            <a:noFill/>
          </a:ln>
        </p:spPr>
        <p:txBody>
          <a:bodyPr>
            <a:noAutofit/>
          </a:bodyPr>
          <a:lstStyle/>
          <a:p>
            <a:pPr>
              <a:defRPr sz="1650" b="0">
                <a:solidFill>
                  <a:srgbClr val="202D40"/>
                </a:solidFill>
                <a:latin typeface="Arial"/>
                <a:ea typeface="Arial"/>
                <a:cs typeface="Arial"/>
              </a:defRPr>
            </a:pPr>
            <a:r>
              <a:rPr sz="1650" b="0">
                <a:solidFill>
                  <a:srgbClr val="202D40"/>
                </a:solidFill>
                <a:latin typeface="Arial"/>
                <a:ea typeface="Arial"/>
                <a:cs typeface="Arial"/>
              </a:rPr>
              <a:t>Vista de superfície. A faixa submersa não tem registro representativo.</a:t>
            </a:r>
          </a:p>
        </p:txBody>
      </p:sp>
    </p:spTree>
    <p:extLst>
      <p:ext uri="{BB962C8B-B14F-4D97-AF65-F5344CB8AC3E}">
        <p14:creationId xmlns:p14="http://schemas.microsoft.com/office/powerpoint/2010/main" val="21086605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tângulo 9">
            <a:extLst>
              <a:ext uri="{FF2B5EF4-FFF2-40B4-BE49-F238E27FC236}">
                <a16:creationId xmlns:a16="http://schemas.microsoft.com/office/drawing/2014/main" id="{09B93988-6613-4AAD-A241-15A501D142D7}"/>
              </a:ext>
            </a:extLst>
          </p:cNvPr>
          <p:cNvSpPr>
            <a:spLocks noGrp="1"/>
          </p:cNvSpPr>
          <p:nvPr/>
        </p:nvSpPr>
        <p:spPr>
          <a:xfrm>
            <a:off x="0" y="0"/>
            <a:ext cx="12192000" cy="781050"/>
          </a:xfrm>
          <a:prstGeom prst="rect">
            <a:avLst/>
          </a:prstGeom>
          <a:solidFill>
            <a:srgbClr val="333399"/>
          </a:solidFill>
          <a:ln w="0">
            <a:noFill/>
          </a:ln>
        </p:spPr>
        <p:txBody>
          <a:bodyPr>
            <a:noAutofit/>
          </a:bodyPr>
          <a:lstStyle/>
          <a:p>
            <a:pPr>
              <a:defRPr sz="2925" b="0">
                <a:solidFill>
                  <a:srgbClr val="FFFFFF"/>
                </a:solidFill>
                <a:latin typeface="Arial"/>
                <a:ea typeface="Arial"/>
                <a:cs typeface="Arial"/>
              </a:defRPr>
            </a:pPr>
            <a:r>
              <a:rPr sz="2925" b="0">
                <a:solidFill>
                  <a:srgbClr val="FFFFFF"/>
                </a:solidFill>
                <a:latin typeface="Arial"/>
                <a:ea typeface="Arial"/>
                <a:cs typeface="Arial"/>
              </a:rPr>
              <a:t>Chlorophyta: algas verdes</a:t>
            </a:r>
          </a:p>
        </p:txBody>
      </p:sp>
      <p:sp>
        <p:nvSpPr>
          <p:cNvPr id="2" name="Retângulo 1">
            <a:extLst>
              <a:ext uri="{FF2B5EF4-FFF2-40B4-BE49-F238E27FC236}">
                <a16:creationId xmlns:a16="http://schemas.microsoft.com/office/drawing/2014/main" id="{D90C8B9C-6CA9-496E-83C0-499DE51061D6}"/>
              </a:ext>
            </a:extLst>
          </p:cNvPr>
          <p:cNvSpPr>
            <a:spLocks noGrp="1"/>
          </p:cNvSpPr>
          <p:nvPr/>
        </p:nvSpPr>
        <p:spPr>
          <a:xfrm>
            <a:off x="0" y="6496050"/>
            <a:ext cx="2428875" cy="361950"/>
          </a:xfrm>
          <a:prstGeom prst="rect">
            <a:avLst/>
          </a:prstGeom>
          <a:solidFill>
            <a:srgbClr val="252572"/>
          </a:solidFill>
          <a:ln w="0">
            <a:noFill/>
          </a:ln>
        </p:spPr>
        <p:txBody>
          <a:bodyPr>
            <a:noAutofit/>
          </a:bodyPr>
          <a:lstStyle/>
          <a:p>
            <a:pPr>
              <a:defRPr sz="1350" b="0">
                <a:solidFill>
                  <a:srgbClr val="FFFFFF"/>
                </a:solidFill>
                <a:latin typeface="Arial"/>
                <a:ea typeface="Arial"/>
                <a:cs typeface="Arial"/>
              </a:defRPr>
            </a:pPr>
            <a:r>
              <a:rPr sz="1350" b="0">
                <a:solidFill>
                  <a:srgbClr val="FFFFFF"/>
                </a:solidFill>
                <a:latin typeface="Arial"/>
                <a:ea typeface="Arial"/>
                <a:cs typeface="Arial"/>
              </a:rPr>
              <a:t>UERJ</a:t>
            </a:r>
          </a:p>
        </p:txBody>
      </p:sp>
      <p:sp>
        <p:nvSpPr>
          <p:cNvPr id="3" name="Retângulo 2">
            <a:extLst>
              <a:ext uri="{FF2B5EF4-FFF2-40B4-BE49-F238E27FC236}">
                <a16:creationId xmlns:a16="http://schemas.microsoft.com/office/drawing/2014/main" id="{15417FB3-A3EE-41E2-82D3-BF1F2C92F08F}"/>
              </a:ext>
            </a:extLst>
          </p:cNvPr>
          <p:cNvSpPr>
            <a:spLocks noGrp="1"/>
          </p:cNvSpPr>
          <p:nvPr/>
        </p:nvSpPr>
        <p:spPr>
          <a:xfrm>
            <a:off x="2428875" y="6496050"/>
            <a:ext cx="6953250" cy="361950"/>
          </a:xfrm>
          <a:prstGeom prst="rect">
            <a:avLst/>
          </a:prstGeom>
          <a:solidFill>
            <a:srgbClr val="333399"/>
          </a:solidFill>
          <a:ln w="0">
            <a:noFill/>
          </a:ln>
        </p:spPr>
        <p:txBody>
          <a:bodyPr>
            <a:noAutofit/>
          </a:bodyPr>
          <a:lstStyle/>
          <a:p>
            <a:pPr>
              <a:defRPr sz="1350" b="0">
                <a:solidFill>
                  <a:srgbClr val="FFFFFF"/>
                </a:solidFill>
                <a:latin typeface="Arial"/>
                <a:ea typeface="Arial"/>
                <a:cs typeface="Arial"/>
              </a:defRPr>
            </a:pPr>
            <a:r>
              <a:rPr sz="1350" b="0">
                <a:solidFill>
                  <a:srgbClr val="FFFFFF"/>
                </a:solidFill>
                <a:latin typeface="Arial"/>
                <a:ea typeface="Arial"/>
                <a:cs typeface="Arial"/>
              </a:rPr>
              <a:t>Macroalgas da Praia Vermelha</a:t>
            </a:r>
          </a:p>
        </p:txBody>
      </p:sp>
      <p:sp>
        <p:nvSpPr>
          <p:cNvPr id="4" name="Retângulo 3">
            <a:extLst>
              <a:ext uri="{FF2B5EF4-FFF2-40B4-BE49-F238E27FC236}">
                <a16:creationId xmlns:a16="http://schemas.microsoft.com/office/drawing/2014/main" id="{2A3A4178-F1DB-4FE8-8E32-70D50FEC886D}"/>
              </a:ext>
            </a:extLst>
          </p:cNvPr>
          <p:cNvSpPr>
            <a:spLocks noGrp="1"/>
          </p:cNvSpPr>
          <p:nvPr/>
        </p:nvSpPr>
        <p:spPr>
          <a:xfrm>
            <a:off x="9382125" y="6496050"/>
            <a:ext cx="2809875" cy="361950"/>
          </a:xfrm>
          <a:prstGeom prst="rect">
            <a:avLst/>
          </a:prstGeom>
          <a:solidFill>
            <a:srgbClr val="5151AE"/>
          </a:solidFill>
          <a:ln w="0">
            <a:noFill/>
          </a:ln>
        </p:spPr>
        <p:txBody>
          <a:bodyPr>
            <a:noAutofit/>
          </a:bodyPr>
          <a:lstStyle/>
          <a:p>
            <a:pPr>
              <a:defRPr sz="1275" b="0">
                <a:solidFill>
                  <a:srgbClr val="FFFFFF"/>
                </a:solidFill>
                <a:latin typeface="Arial"/>
                <a:ea typeface="Arial"/>
                <a:cs typeface="Arial"/>
              </a:defRPr>
            </a:pPr>
            <a:r>
              <a:rPr sz="1275" b="0">
                <a:solidFill>
                  <a:srgbClr val="FFFFFF"/>
                </a:solidFill>
                <a:latin typeface="Arial"/>
                <a:ea typeface="Arial"/>
                <a:cs typeface="Arial"/>
              </a:rPr>
              <a:t>Macroalgas     11/20</a:t>
            </a:r>
          </a:p>
        </p:txBody>
      </p:sp>
      <p:pic>
        <p:nvPicPr>
          <p:cNvPr id="14" name="Imagem 13"/>
          <p:cNvPicPr>
            <a:picLocks noChangeAspect="1"/>
          </p:cNvPicPr>
          <p:nvPr/>
        </p:nvPicPr>
        <p:blipFill>
          <a:blip r:embed="rId3"/>
          <a:stretch/>
        </p:blipFill>
        <p:spPr>
          <a:xfrm>
            <a:off x="1133475" y="981075"/>
            <a:ext cx="4095750" cy="4095750"/>
          </a:xfrm>
          <a:prstGeom prst="rect">
            <a:avLst/>
          </a:prstGeom>
        </p:spPr>
      </p:pic>
      <p:pic>
        <p:nvPicPr>
          <p:cNvPr id="15" name="Imagem 14"/>
          <p:cNvPicPr>
            <a:picLocks noChangeAspect="1"/>
          </p:cNvPicPr>
          <p:nvPr/>
        </p:nvPicPr>
        <p:blipFill>
          <a:blip r:embed="rId4"/>
          <a:stretch/>
        </p:blipFill>
        <p:spPr>
          <a:xfrm>
            <a:off x="6962775" y="981075"/>
            <a:ext cx="4095750" cy="4095750"/>
          </a:xfrm>
          <a:prstGeom prst="rect">
            <a:avLst/>
          </a:prstGeom>
        </p:spPr>
      </p:pic>
      <p:sp>
        <p:nvSpPr>
          <p:cNvPr id="7" name="Retângulo 6">
            <a:extLst>
              <a:ext uri="{FF2B5EF4-FFF2-40B4-BE49-F238E27FC236}">
                <a16:creationId xmlns:a16="http://schemas.microsoft.com/office/drawing/2014/main" id="{FCA5D130-2886-40C0-9D5D-447E6D2EF239}"/>
              </a:ext>
            </a:extLst>
          </p:cNvPr>
          <p:cNvSpPr>
            <a:spLocks noGrp="1"/>
          </p:cNvSpPr>
          <p:nvPr/>
        </p:nvSpPr>
        <p:spPr>
          <a:xfrm>
            <a:off x="609600" y="5153025"/>
            <a:ext cx="5143500" cy="371475"/>
          </a:xfrm>
          <a:prstGeom prst="rect">
            <a:avLst/>
          </a:prstGeom>
          <a:noFill/>
          <a:ln w="0">
            <a:noFill/>
          </a:ln>
        </p:spPr>
        <p:txBody>
          <a:bodyPr>
            <a:noAutofit/>
          </a:bodyPr>
          <a:lstStyle/>
          <a:p>
            <a:pPr>
              <a:defRPr sz="1650" b="0">
                <a:solidFill>
                  <a:srgbClr val="333399"/>
                </a:solidFill>
                <a:latin typeface="Arial"/>
                <a:ea typeface="Arial"/>
                <a:cs typeface="Arial"/>
              </a:defRPr>
            </a:pPr>
            <a:r>
              <a:rPr sz="1650" b="0">
                <a:solidFill>
                  <a:srgbClr val="333399"/>
                </a:solidFill>
                <a:latin typeface="Arial"/>
                <a:ea typeface="Arial"/>
                <a:cs typeface="Arial"/>
              </a:rPr>
              <a:t>Talos foliáceos. Ulva, identificação preliminar</a:t>
            </a:r>
          </a:p>
        </p:txBody>
      </p:sp>
      <p:sp>
        <p:nvSpPr>
          <p:cNvPr id="8" name="Retângulo 7">
            <a:extLst>
              <a:ext uri="{FF2B5EF4-FFF2-40B4-BE49-F238E27FC236}">
                <a16:creationId xmlns:a16="http://schemas.microsoft.com/office/drawing/2014/main" id="{62ECD512-24F6-4AE3-A936-8A02958E14B5}"/>
              </a:ext>
            </a:extLst>
          </p:cNvPr>
          <p:cNvSpPr>
            <a:spLocks noGrp="1"/>
          </p:cNvSpPr>
          <p:nvPr/>
        </p:nvSpPr>
        <p:spPr>
          <a:xfrm>
            <a:off x="6438900" y="5153025"/>
            <a:ext cx="5143500" cy="371475"/>
          </a:xfrm>
          <a:prstGeom prst="rect">
            <a:avLst/>
          </a:prstGeom>
          <a:noFill/>
          <a:ln w="0">
            <a:noFill/>
          </a:ln>
        </p:spPr>
        <p:txBody>
          <a:bodyPr>
            <a:noAutofit/>
          </a:bodyPr>
          <a:lstStyle/>
          <a:p>
            <a:pPr>
              <a:defRPr sz="1650" b="0">
                <a:solidFill>
                  <a:srgbClr val="333399"/>
                </a:solidFill>
                <a:latin typeface="Arial"/>
                <a:ea typeface="Arial"/>
                <a:cs typeface="Arial"/>
              </a:defRPr>
            </a:pPr>
            <a:r>
              <a:rPr sz="1650" b="0">
                <a:solidFill>
                  <a:srgbClr val="333399"/>
                </a:solidFill>
                <a:latin typeface="Arial"/>
                <a:ea typeface="Arial"/>
                <a:cs typeface="Arial"/>
              </a:rPr>
              <a:t>Talos alongados descritos como filamentosos</a:t>
            </a:r>
          </a:p>
        </p:txBody>
      </p:sp>
      <p:sp>
        <p:nvSpPr>
          <p:cNvPr id="9" name="Retângulo 8">
            <a:extLst>
              <a:ext uri="{FF2B5EF4-FFF2-40B4-BE49-F238E27FC236}">
                <a16:creationId xmlns:a16="http://schemas.microsoft.com/office/drawing/2014/main" id="{99277858-A4C0-45F4-A3A9-1BD64EEDB252}"/>
              </a:ext>
            </a:extLst>
          </p:cNvPr>
          <p:cNvSpPr>
            <a:spLocks noGrp="1"/>
          </p:cNvSpPr>
          <p:nvPr/>
        </p:nvSpPr>
        <p:spPr>
          <a:xfrm>
            <a:off x="609600" y="5667375"/>
            <a:ext cx="10972800" cy="685800"/>
          </a:xfrm>
          <a:prstGeom prst="rect">
            <a:avLst/>
          </a:prstGeom>
          <a:noFill/>
          <a:ln w="0">
            <a:noFill/>
          </a:ln>
        </p:spPr>
        <p:txBody>
          <a:bodyPr>
            <a:noAutofit/>
          </a:bodyPr>
          <a:lstStyle/>
          <a:p>
            <a:pPr>
              <a:defRPr sz="1875" b="0">
                <a:solidFill>
                  <a:srgbClr val="202D40"/>
                </a:solidFill>
                <a:latin typeface="Arial"/>
                <a:ea typeface="Arial"/>
                <a:cs typeface="Arial"/>
              </a:defRPr>
            </a:pPr>
            <a:r>
              <a:rPr sz="1875" b="0">
                <a:solidFill>
                  <a:srgbClr val="202D40"/>
                </a:solidFill>
                <a:latin typeface="Arial"/>
                <a:ea typeface="Arial"/>
                <a:cs typeface="Arial"/>
              </a:rPr>
              <a:t>Algas pequenas no médiolitoral, em rochas alcançadas pela maré alta.</a:t>
            </a:r>
          </a:p>
          <a:p>
            <a:pPr>
              <a:defRPr sz="1875" b="0">
                <a:solidFill>
                  <a:srgbClr val="202D40"/>
                </a:solidFill>
                <a:latin typeface="Arial"/>
                <a:ea typeface="Arial"/>
                <a:cs typeface="Arial"/>
              </a:defRPr>
            </a:pPr>
            <a:r>
              <a:rPr sz="1875" b="0">
                <a:solidFill>
                  <a:srgbClr val="202D40"/>
                </a:solidFill>
                <a:latin typeface="Arial"/>
                <a:ea typeface="Arial"/>
                <a:cs typeface="Arial"/>
              </a:rPr>
              <a:t>O grupo relatou trechos com sinais de ressecamento.</a:t>
            </a:r>
          </a:p>
        </p:txBody>
      </p:sp>
    </p:spTree>
    <p:extLst>
      <p:ext uri="{BB962C8B-B14F-4D97-AF65-F5344CB8AC3E}">
        <p14:creationId xmlns:p14="http://schemas.microsoft.com/office/powerpoint/2010/main" val="8195856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tângulo 8">
            <a:extLst>
              <a:ext uri="{FF2B5EF4-FFF2-40B4-BE49-F238E27FC236}">
                <a16:creationId xmlns:a16="http://schemas.microsoft.com/office/drawing/2014/main" id="{72E19783-1AE3-4E81-9BD9-C4F0A3703821}"/>
              </a:ext>
            </a:extLst>
          </p:cNvPr>
          <p:cNvSpPr>
            <a:spLocks noGrp="1"/>
          </p:cNvSpPr>
          <p:nvPr/>
        </p:nvSpPr>
        <p:spPr>
          <a:xfrm>
            <a:off x="0" y="0"/>
            <a:ext cx="12192000" cy="781050"/>
          </a:xfrm>
          <a:prstGeom prst="rect">
            <a:avLst/>
          </a:prstGeom>
          <a:solidFill>
            <a:srgbClr val="333399"/>
          </a:solidFill>
          <a:ln w="0">
            <a:noFill/>
          </a:ln>
        </p:spPr>
        <p:txBody>
          <a:bodyPr>
            <a:noAutofit/>
          </a:bodyPr>
          <a:lstStyle/>
          <a:p>
            <a:pPr>
              <a:defRPr sz="2925" b="0">
                <a:solidFill>
                  <a:srgbClr val="FFFFFF"/>
                </a:solidFill>
                <a:latin typeface="Arial"/>
                <a:ea typeface="Arial"/>
                <a:cs typeface="Arial"/>
              </a:defRPr>
            </a:pPr>
            <a:r>
              <a:rPr sz="2925" b="0">
                <a:solidFill>
                  <a:srgbClr val="FFFFFF"/>
                </a:solidFill>
                <a:latin typeface="Arial"/>
                <a:ea typeface="Arial"/>
                <a:cs typeface="Arial"/>
              </a:rPr>
              <a:t>Formas arredondadas no conjunto de algas</a:t>
            </a:r>
          </a:p>
        </p:txBody>
      </p:sp>
      <p:sp>
        <p:nvSpPr>
          <p:cNvPr id="2" name="Retângulo 1">
            <a:extLst>
              <a:ext uri="{FF2B5EF4-FFF2-40B4-BE49-F238E27FC236}">
                <a16:creationId xmlns:a16="http://schemas.microsoft.com/office/drawing/2014/main" id="{1011216F-D09E-4B16-9766-721DF37874D5}"/>
              </a:ext>
            </a:extLst>
          </p:cNvPr>
          <p:cNvSpPr>
            <a:spLocks noGrp="1"/>
          </p:cNvSpPr>
          <p:nvPr/>
        </p:nvSpPr>
        <p:spPr>
          <a:xfrm>
            <a:off x="0" y="6496050"/>
            <a:ext cx="2428875" cy="361950"/>
          </a:xfrm>
          <a:prstGeom prst="rect">
            <a:avLst/>
          </a:prstGeom>
          <a:solidFill>
            <a:srgbClr val="252572"/>
          </a:solidFill>
          <a:ln w="0">
            <a:noFill/>
          </a:ln>
        </p:spPr>
        <p:txBody>
          <a:bodyPr>
            <a:noAutofit/>
          </a:bodyPr>
          <a:lstStyle/>
          <a:p>
            <a:pPr>
              <a:defRPr sz="1350" b="0">
                <a:solidFill>
                  <a:srgbClr val="FFFFFF"/>
                </a:solidFill>
                <a:latin typeface="Arial"/>
                <a:ea typeface="Arial"/>
                <a:cs typeface="Arial"/>
              </a:defRPr>
            </a:pPr>
            <a:r>
              <a:rPr sz="1350" b="0">
                <a:solidFill>
                  <a:srgbClr val="FFFFFF"/>
                </a:solidFill>
                <a:latin typeface="Arial"/>
                <a:ea typeface="Arial"/>
                <a:cs typeface="Arial"/>
              </a:rPr>
              <a:t>UERJ</a:t>
            </a:r>
          </a:p>
        </p:txBody>
      </p:sp>
      <p:sp>
        <p:nvSpPr>
          <p:cNvPr id="3" name="Retângulo 2">
            <a:extLst>
              <a:ext uri="{FF2B5EF4-FFF2-40B4-BE49-F238E27FC236}">
                <a16:creationId xmlns:a16="http://schemas.microsoft.com/office/drawing/2014/main" id="{76200F7E-53BE-4C58-923C-E27CAEE6F67F}"/>
              </a:ext>
            </a:extLst>
          </p:cNvPr>
          <p:cNvSpPr>
            <a:spLocks noGrp="1"/>
          </p:cNvSpPr>
          <p:nvPr/>
        </p:nvSpPr>
        <p:spPr>
          <a:xfrm>
            <a:off x="2428875" y="6496050"/>
            <a:ext cx="6953250" cy="361950"/>
          </a:xfrm>
          <a:prstGeom prst="rect">
            <a:avLst/>
          </a:prstGeom>
          <a:solidFill>
            <a:srgbClr val="333399"/>
          </a:solidFill>
          <a:ln w="0">
            <a:noFill/>
          </a:ln>
        </p:spPr>
        <p:txBody>
          <a:bodyPr>
            <a:noAutofit/>
          </a:bodyPr>
          <a:lstStyle/>
          <a:p>
            <a:pPr>
              <a:defRPr sz="1350" b="0">
                <a:solidFill>
                  <a:srgbClr val="FFFFFF"/>
                </a:solidFill>
                <a:latin typeface="Arial"/>
                <a:ea typeface="Arial"/>
                <a:cs typeface="Arial"/>
              </a:defRPr>
            </a:pPr>
            <a:r>
              <a:rPr sz="1350" b="0">
                <a:solidFill>
                  <a:srgbClr val="FFFFFF"/>
                </a:solidFill>
                <a:latin typeface="Arial"/>
                <a:ea typeface="Arial"/>
                <a:cs typeface="Arial"/>
              </a:rPr>
              <a:t>Macroalgas da Praia Vermelha</a:t>
            </a:r>
          </a:p>
        </p:txBody>
      </p:sp>
      <p:sp>
        <p:nvSpPr>
          <p:cNvPr id="4" name="Retângulo 3">
            <a:extLst>
              <a:ext uri="{FF2B5EF4-FFF2-40B4-BE49-F238E27FC236}">
                <a16:creationId xmlns:a16="http://schemas.microsoft.com/office/drawing/2014/main" id="{EB38A7FF-484C-4059-B0A7-F73FCB359275}"/>
              </a:ext>
            </a:extLst>
          </p:cNvPr>
          <p:cNvSpPr>
            <a:spLocks noGrp="1"/>
          </p:cNvSpPr>
          <p:nvPr/>
        </p:nvSpPr>
        <p:spPr>
          <a:xfrm>
            <a:off x="9382125" y="6496050"/>
            <a:ext cx="2809875" cy="361950"/>
          </a:xfrm>
          <a:prstGeom prst="rect">
            <a:avLst/>
          </a:prstGeom>
          <a:solidFill>
            <a:srgbClr val="5151AE"/>
          </a:solidFill>
          <a:ln w="0">
            <a:noFill/>
          </a:ln>
        </p:spPr>
        <p:txBody>
          <a:bodyPr>
            <a:noAutofit/>
          </a:bodyPr>
          <a:lstStyle/>
          <a:p>
            <a:pPr>
              <a:defRPr sz="1275" b="0">
                <a:solidFill>
                  <a:srgbClr val="FFFFFF"/>
                </a:solidFill>
                <a:latin typeface="Arial"/>
                <a:ea typeface="Arial"/>
                <a:cs typeface="Arial"/>
              </a:defRPr>
            </a:pPr>
            <a:r>
              <a:rPr sz="1275" b="0">
                <a:solidFill>
                  <a:srgbClr val="FFFFFF"/>
                </a:solidFill>
                <a:latin typeface="Arial"/>
                <a:ea typeface="Arial"/>
                <a:cs typeface="Arial"/>
              </a:rPr>
              <a:t>Macroalgas     12/20</a:t>
            </a:r>
          </a:p>
        </p:txBody>
      </p:sp>
      <p:pic>
        <p:nvPicPr>
          <p:cNvPr id="13" name="Imagem 12"/>
          <p:cNvPicPr>
            <a:picLocks noChangeAspect="1"/>
          </p:cNvPicPr>
          <p:nvPr/>
        </p:nvPicPr>
        <p:blipFill>
          <a:blip r:embed="rId3"/>
          <a:stretch/>
        </p:blipFill>
        <p:spPr>
          <a:xfrm>
            <a:off x="942975" y="1047750"/>
            <a:ext cx="5029200" cy="5029200"/>
          </a:xfrm>
          <a:prstGeom prst="rect">
            <a:avLst/>
          </a:prstGeom>
        </p:spPr>
      </p:pic>
      <p:sp>
        <p:nvSpPr>
          <p:cNvPr id="6" name="Retângulo 5">
            <a:extLst>
              <a:ext uri="{FF2B5EF4-FFF2-40B4-BE49-F238E27FC236}">
                <a16:creationId xmlns:a16="http://schemas.microsoft.com/office/drawing/2014/main" id="{B5276284-0F7B-42D9-9A59-9CB7E4CE4F9A}"/>
              </a:ext>
            </a:extLst>
          </p:cNvPr>
          <p:cNvSpPr>
            <a:spLocks noGrp="1"/>
          </p:cNvSpPr>
          <p:nvPr/>
        </p:nvSpPr>
        <p:spPr>
          <a:xfrm>
            <a:off x="7029450" y="1524000"/>
            <a:ext cx="4619625" cy="1104900"/>
          </a:xfrm>
          <a:prstGeom prst="rect">
            <a:avLst/>
          </a:prstGeom>
          <a:noFill/>
          <a:ln w="0">
            <a:noFill/>
          </a:ln>
        </p:spPr>
        <p:txBody>
          <a:bodyPr>
            <a:noAutofit/>
          </a:bodyPr>
          <a:lstStyle/>
          <a:p>
            <a:pPr>
              <a:defRPr sz="2325" b="1">
                <a:solidFill>
                  <a:srgbClr val="333399"/>
                </a:solidFill>
                <a:latin typeface="Arial"/>
                <a:ea typeface="Arial"/>
                <a:cs typeface="Arial"/>
              </a:defRPr>
            </a:pPr>
            <a:r>
              <a:rPr sz="2325" b="1">
                <a:solidFill>
                  <a:srgbClr val="333399"/>
                </a:solidFill>
                <a:latin typeface="Arial"/>
                <a:ea typeface="Arial"/>
                <a:cs typeface="Arial"/>
              </a:rPr>
              <a:t>Estrutura verde arredondada</a:t>
            </a:r>
          </a:p>
        </p:txBody>
      </p:sp>
      <p:sp>
        <p:nvSpPr>
          <p:cNvPr id="7" name="Retângulo 6">
            <a:extLst>
              <a:ext uri="{FF2B5EF4-FFF2-40B4-BE49-F238E27FC236}">
                <a16:creationId xmlns:a16="http://schemas.microsoft.com/office/drawing/2014/main" id="{27FFA947-9713-4DF0-A12B-71FAA64AF80F}"/>
              </a:ext>
            </a:extLst>
          </p:cNvPr>
          <p:cNvSpPr>
            <a:spLocks noGrp="1"/>
          </p:cNvSpPr>
          <p:nvPr/>
        </p:nvSpPr>
        <p:spPr>
          <a:xfrm>
            <a:off x="7029450" y="2895600"/>
            <a:ext cx="4619625" cy="1104900"/>
          </a:xfrm>
          <a:prstGeom prst="rect">
            <a:avLst/>
          </a:prstGeom>
          <a:noFill/>
          <a:ln w="0">
            <a:noFill/>
          </a:ln>
        </p:spPr>
        <p:txBody>
          <a:bodyPr>
            <a:noAutofit/>
          </a:bodyPr>
          <a:lstStyle/>
          <a:p>
            <a:pPr>
              <a:defRPr sz="2325" b="0">
                <a:solidFill>
                  <a:srgbClr val="202D40"/>
                </a:solidFill>
                <a:latin typeface="Arial"/>
                <a:ea typeface="Arial"/>
                <a:cs typeface="Arial"/>
              </a:defRPr>
            </a:pPr>
            <a:r>
              <a:rPr sz="2325" b="0">
                <a:solidFill>
                  <a:srgbClr val="202D40"/>
                </a:solidFill>
                <a:latin typeface="Arial"/>
                <a:ea typeface="Arial"/>
                <a:cs typeface="Arial"/>
              </a:rPr>
              <a:t>Lâminas verdes e formas ramificadas</a:t>
            </a:r>
          </a:p>
        </p:txBody>
      </p:sp>
      <p:sp>
        <p:nvSpPr>
          <p:cNvPr id="8" name="Retângulo 7">
            <a:extLst>
              <a:ext uri="{FF2B5EF4-FFF2-40B4-BE49-F238E27FC236}">
                <a16:creationId xmlns:a16="http://schemas.microsoft.com/office/drawing/2014/main" id="{BEDDCE90-FEA2-4F4E-A0F6-46EB709306A0}"/>
              </a:ext>
            </a:extLst>
          </p:cNvPr>
          <p:cNvSpPr>
            <a:spLocks noGrp="1"/>
          </p:cNvSpPr>
          <p:nvPr/>
        </p:nvSpPr>
        <p:spPr>
          <a:xfrm>
            <a:off x="7029450" y="4267200"/>
            <a:ext cx="4619625" cy="1104900"/>
          </a:xfrm>
          <a:prstGeom prst="rect">
            <a:avLst/>
          </a:prstGeom>
          <a:noFill/>
          <a:ln w="0">
            <a:noFill/>
          </a:ln>
        </p:spPr>
        <p:txBody>
          <a:bodyPr>
            <a:noAutofit/>
          </a:bodyPr>
          <a:lstStyle/>
          <a:p>
            <a:pPr>
              <a:defRPr sz="2325" b="0">
                <a:solidFill>
                  <a:srgbClr val="202D40"/>
                </a:solidFill>
                <a:latin typeface="Arial"/>
                <a:ea typeface="Arial"/>
                <a:cs typeface="Arial"/>
              </a:defRPr>
            </a:pPr>
            <a:r>
              <a:rPr sz="2325" b="0">
                <a:solidFill>
                  <a:srgbClr val="202D40"/>
                </a:solidFill>
                <a:latin typeface="Arial"/>
                <a:ea typeface="Arial"/>
                <a:cs typeface="Arial"/>
              </a:rPr>
              <a:t>Identificação a confirmar</a:t>
            </a:r>
          </a:p>
        </p:txBody>
      </p:sp>
    </p:spTree>
    <p:extLst>
      <p:ext uri="{BB962C8B-B14F-4D97-AF65-F5344CB8AC3E}">
        <p14:creationId xmlns:p14="http://schemas.microsoft.com/office/powerpoint/2010/main" val="13792248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tângulo 9">
            <a:extLst>
              <a:ext uri="{FF2B5EF4-FFF2-40B4-BE49-F238E27FC236}">
                <a16:creationId xmlns:a16="http://schemas.microsoft.com/office/drawing/2014/main" id="{F2F87786-8CDD-4B35-A1D7-791B8C5DD302}"/>
              </a:ext>
            </a:extLst>
          </p:cNvPr>
          <p:cNvSpPr>
            <a:spLocks noGrp="1"/>
          </p:cNvSpPr>
          <p:nvPr/>
        </p:nvSpPr>
        <p:spPr>
          <a:xfrm>
            <a:off x="0" y="0"/>
            <a:ext cx="12192000" cy="781050"/>
          </a:xfrm>
          <a:prstGeom prst="rect">
            <a:avLst/>
          </a:prstGeom>
          <a:solidFill>
            <a:srgbClr val="333399"/>
          </a:solidFill>
          <a:ln w="0">
            <a:noFill/>
          </a:ln>
        </p:spPr>
        <p:txBody>
          <a:bodyPr>
            <a:noAutofit/>
          </a:bodyPr>
          <a:lstStyle/>
          <a:p>
            <a:pPr>
              <a:defRPr sz="2925" b="0">
                <a:solidFill>
                  <a:srgbClr val="FFFFFF"/>
                </a:solidFill>
                <a:latin typeface="Arial"/>
                <a:ea typeface="Arial"/>
                <a:cs typeface="Arial"/>
              </a:defRPr>
            </a:pPr>
            <a:r>
              <a:rPr sz="2925" b="0">
                <a:solidFill>
                  <a:srgbClr val="FFFFFF"/>
                </a:solidFill>
                <a:latin typeface="Arial"/>
                <a:ea typeface="Arial"/>
                <a:cs typeface="Arial"/>
              </a:rPr>
              <a:t>Rhodophyta: algas vermelhas</a:t>
            </a:r>
          </a:p>
        </p:txBody>
      </p:sp>
      <p:sp>
        <p:nvSpPr>
          <p:cNvPr id="2" name="Retângulo 1">
            <a:extLst>
              <a:ext uri="{FF2B5EF4-FFF2-40B4-BE49-F238E27FC236}">
                <a16:creationId xmlns:a16="http://schemas.microsoft.com/office/drawing/2014/main" id="{DEAC55C6-28BD-4545-A03E-92ED9107B82A}"/>
              </a:ext>
            </a:extLst>
          </p:cNvPr>
          <p:cNvSpPr>
            <a:spLocks noGrp="1"/>
          </p:cNvSpPr>
          <p:nvPr/>
        </p:nvSpPr>
        <p:spPr>
          <a:xfrm>
            <a:off x="0" y="6496050"/>
            <a:ext cx="2428875" cy="361950"/>
          </a:xfrm>
          <a:prstGeom prst="rect">
            <a:avLst/>
          </a:prstGeom>
          <a:solidFill>
            <a:srgbClr val="252572"/>
          </a:solidFill>
          <a:ln w="0">
            <a:noFill/>
          </a:ln>
        </p:spPr>
        <p:txBody>
          <a:bodyPr>
            <a:noAutofit/>
          </a:bodyPr>
          <a:lstStyle/>
          <a:p>
            <a:pPr>
              <a:defRPr sz="1350" b="0">
                <a:solidFill>
                  <a:srgbClr val="FFFFFF"/>
                </a:solidFill>
                <a:latin typeface="Arial"/>
                <a:ea typeface="Arial"/>
                <a:cs typeface="Arial"/>
              </a:defRPr>
            </a:pPr>
            <a:r>
              <a:rPr sz="1350" b="0">
                <a:solidFill>
                  <a:srgbClr val="FFFFFF"/>
                </a:solidFill>
                <a:latin typeface="Arial"/>
                <a:ea typeface="Arial"/>
                <a:cs typeface="Arial"/>
              </a:rPr>
              <a:t>UERJ</a:t>
            </a:r>
          </a:p>
        </p:txBody>
      </p:sp>
      <p:sp>
        <p:nvSpPr>
          <p:cNvPr id="3" name="Retângulo 2">
            <a:extLst>
              <a:ext uri="{FF2B5EF4-FFF2-40B4-BE49-F238E27FC236}">
                <a16:creationId xmlns:a16="http://schemas.microsoft.com/office/drawing/2014/main" id="{FDE3717E-55AB-4826-B114-AA0C9EB50A4E}"/>
              </a:ext>
            </a:extLst>
          </p:cNvPr>
          <p:cNvSpPr>
            <a:spLocks noGrp="1"/>
          </p:cNvSpPr>
          <p:nvPr/>
        </p:nvSpPr>
        <p:spPr>
          <a:xfrm>
            <a:off x="2428875" y="6496050"/>
            <a:ext cx="6953250" cy="361950"/>
          </a:xfrm>
          <a:prstGeom prst="rect">
            <a:avLst/>
          </a:prstGeom>
          <a:solidFill>
            <a:srgbClr val="333399"/>
          </a:solidFill>
          <a:ln w="0">
            <a:noFill/>
          </a:ln>
        </p:spPr>
        <p:txBody>
          <a:bodyPr>
            <a:noAutofit/>
          </a:bodyPr>
          <a:lstStyle/>
          <a:p>
            <a:pPr>
              <a:defRPr sz="1350" b="0">
                <a:solidFill>
                  <a:srgbClr val="FFFFFF"/>
                </a:solidFill>
                <a:latin typeface="Arial"/>
                <a:ea typeface="Arial"/>
                <a:cs typeface="Arial"/>
              </a:defRPr>
            </a:pPr>
            <a:r>
              <a:rPr sz="1350" b="0">
                <a:solidFill>
                  <a:srgbClr val="FFFFFF"/>
                </a:solidFill>
                <a:latin typeface="Arial"/>
                <a:ea typeface="Arial"/>
                <a:cs typeface="Arial"/>
              </a:rPr>
              <a:t>Macroalgas da Praia Vermelha</a:t>
            </a:r>
          </a:p>
        </p:txBody>
      </p:sp>
      <p:sp>
        <p:nvSpPr>
          <p:cNvPr id="4" name="Retângulo 3">
            <a:extLst>
              <a:ext uri="{FF2B5EF4-FFF2-40B4-BE49-F238E27FC236}">
                <a16:creationId xmlns:a16="http://schemas.microsoft.com/office/drawing/2014/main" id="{9D736B04-6035-4FDC-987E-8CEC9757D967}"/>
              </a:ext>
            </a:extLst>
          </p:cNvPr>
          <p:cNvSpPr>
            <a:spLocks noGrp="1"/>
          </p:cNvSpPr>
          <p:nvPr/>
        </p:nvSpPr>
        <p:spPr>
          <a:xfrm>
            <a:off x="9382125" y="6496050"/>
            <a:ext cx="2809875" cy="361950"/>
          </a:xfrm>
          <a:prstGeom prst="rect">
            <a:avLst/>
          </a:prstGeom>
          <a:solidFill>
            <a:srgbClr val="5151AE"/>
          </a:solidFill>
          <a:ln w="0">
            <a:noFill/>
          </a:ln>
        </p:spPr>
        <p:txBody>
          <a:bodyPr>
            <a:noAutofit/>
          </a:bodyPr>
          <a:lstStyle/>
          <a:p>
            <a:pPr>
              <a:defRPr sz="1275" b="0">
                <a:solidFill>
                  <a:srgbClr val="FFFFFF"/>
                </a:solidFill>
                <a:latin typeface="Arial"/>
                <a:ea typeface="Arial"/>
                <a:cs typeface="Arial"/>
              </a:defRPr>
            </a:pPr>
            <a:r>
              <a:rPr sz="1275" b="0">
                <a:solidFill>
                  <a:srgbClr val="FFFFFF"/>
                </a:solidFill>
                <a:latin typeface="Arial"/>
                <a:ea typeface="Arial"/>
                <a:cs typeface="Arial"/>
              </a:rPr>
              <a:t>Macroalgas     13/20</a:t>
            </a:r>
          </a:p>
        </p:txBody>
      </p:sp>
      <p:pic>
        <p:nvPicPr>
          <p:cNvPr id="14" name="Imagem 13"/>
          <p:cNvPicPr>
            <a:picLocks noChangeAspect="1"/>
          </p:cNvPicPr>
          <p:nvPr/>
        </p:nvPicPr>
        <p:blipFill>
          <a:blip r:embed="rId3"/>
          <a:stretch/>
        </p:blipFill>
        <p:spPr>
          <a:xfrm>
            <a:off x="1133475" y="981075"/>
            <a:ext cx="4095750" cy="4095750"/>
          </a:xfrm>
          <a:prstGeom prst="rect">
            <a:avLst/>
          </a:prstGeom>
        </p:spPr>
      </p:pic>
      <p:pic>
        <p:nvPicPr>
          <p:cNvPr id="15" name="Imagem 14"/>
          <p:cNvPicPr>
            <a:picLocks noChangeAspect="1"/>
          </p:cNvPicPr>
          <p:nvPr/>
        </p:nvPicPr>
        <p:blipFill>
          <a:blip r:embed="rId4"/>
          <a:stretch/>
        </p:blipFill>
        <p:spPr>
          <a:xfrm>
            <a:off x="6962775" y="981075"/>
            <a:ext cx="4095750" cy="4095750"/>
          </a:xfrm>
          <a:prstGeom prst="rect">
            <a:avLst/>
          </a:prstGeom>
        </p:spPr>
      </p:pic>
      <p:sp>
        <p:nvSpPr>
          <p:cNvPr id="7" name="Retângulo 6">
            <a:extLst>
              <a:ext uri="{FF2B5EF4-FFF2-40B4-BE49-F238E27FC236}">
                <a16:creationId xmlns:a16="http://schemas.microsoft.com/office/drawing/2014/main" id="{DF8E9C6B-5ACC-4CF9-B48C-F7AC8C495BFA}"/>
              </a:ext>
            </a:extLst>
          </p:cNvPr>
          <p:cNvSpPr>
            <a:spLocks noGrp="1"/>
          </p:cNvSpPr>
          <p:nvPr/>
        </p:nvSpPr>
        <p:spPr>
          <a:xfrm>
            <a:off x="609600" y="5153025"/>
            <a:ext cx="5143500" cy="371475"/>
          </a:xfrm>
          <a:prstGeom prst="rect">
            <a:avLst/>
          </a:prstGeom>
          <a:noFill/>
          <a:ln w="0">
            <a:noFill/>
          </a:ln>
        </p:spPr>
        <p:txBody>
          <a:bodyPr>
            <a:noAutofit/>
          </a:bodyPr>
          <a:lstStyle/>
          <a:p>
            <a:pPr>
              <a:defRPr sz="1650" b="0">
                <a:solidFill>
                  <a:srgbClr val="333399"/>
                </a:solidFill>
                <a:latin typeface="Arial"/>
                <a:ea typeface="Arial"/>
                <a:cs typeface="Arial"/>
              </a:defRPr>
            </a:pPr>
            <a:r>
              <a:rPr sz="1650" b="0">
                <a:solidFill>
                  <a:srgbClr val="333399"/>
                </a:solidFill>
                <a:latin typeface="Arial"/>
                <a:ea typeface="Arial"/>
                <a:cs typeface="Arial"/>
              </a:rPr>
              <a:t>Talos rosados e ramificados</a:t>
            </a:r>
          </a:p>
        </p:txBody>
      </p:sp>
      <p:sp>
        <p:nvSpPr>
          <p:cNvPr id="8" name="Retângulo 7">
            <a:extLst>
              <a:ext uri="{FF2B5EF4-FFF2-40B4-BE49-F238E27FC236}">
                <a16:creationId xmlns:a16="http://schemas.microsoft.com/office/drawing/2014/main" id="{F5D6EA30-9A26-42E9-AD94-08761F276B6F}"/>
              </a:ext>
            </a:extLst>
          </p:cNvPr>
          <p:cNvSpPr>
            <a:spLocks noGrp="1"/>
          </p:cNvSpPr>
          <p:nvPr/>
        </p:nvSpPr>
        <p:spPr>
          <a:xfrm>
            <a:off x="6438900" y="5153025"/>
            <a:ext cx="5143500" cy="371475"/>
          </a:xfrm>
          <a:prstGeom prst="rect">
            <a:avLst/>
          </a:prstGeom>
          <a:noFill/>
          <a:ln w="0">
            <a:noFill/>
          </a:ln>
        </p:spPr>
        <p:txBody>
          <a:bodyPr>
            <a:noAutofit/>
          </a:bodyPr>
          <a:lstStyle/>
          <a:p>
            <a:pPr>
              <a:defRPr sz="1650" b="0">
                <a:solidFill>
                  <a:srgbClr val="333399"/>
                </a:solidFill>
                <a:latin typeface="Arial"/>
                <a:ea typeface="Arial"/>
                <a:cs typeface="Arial"/>
              </a:defRPr>
            </a:pPr>
            <a:r>
              <a:rPr sz="1650" b="0">
                <a:solidFill>
                  <a:srgbClr val="333399"/>
                </a:solidFill>
                <a:latin typeface="Arial"/>
                <a:ea typeface="Arial"/>
                <a:cs typeface="Arial"/>
              </a:rPr>
              <a:t>Formas compactas entre lâminas verdes</a:t>
            </a:r>
          </a:p>
        </p:txBody>
      </p:sp>
      <p:sp>
        <p:nvSpPr>
          <p:cNvPr id="9" name="Retângulo 8">
            <a:extLst>
              <a:ext uri="{FF2B5EF4-FFF2-40B4-BE49-F238E27FC236}">
                <a16:creationId xmlns:a16="http://schemas.microsoft.com/office/drawing/2014/main" id="{D00A9466-80FF-4F8C-B454-42C813ACA18A}"/>
              </a:ext>
            </a:extLst>
          </p:cNvPr>
          <p:cNvSpPr>
            <a:spLocks noGrp="1"/>
          </p:cNvSpPr>
          <p:nvPr/>
        </p:nvSpPr>
        <p:spPr>
          <a:xfrm>
            <a:off x="609600" y="5667375"/>
            <a:ext cx="10972800" cy="685800"/>
          </a:xfrm>
          <a:prstGeom prst="rect">
            <a:avLst/>
          </a:prstGeom>
          <a:noFill/>
          <a:ln w="0">
            <a:noFill/>
          </a:ln>
        </p:spPr>
        <p:txBody>
          <a:bodyPr>
            <a:noAutofit/>
          </a:bodyPr>
          <a:lstStyle/>
          <a:p>
            <a:pPr>
              <a:defRPr sz="1875" b="0">
                <a:solidFill>
                  <a:srgbClr val="202D40"/>
                </a:solidFill>
                <a:latin typeface="Arial"/>
                <a:ea typeface="Arial"/>
                <a:cs typeface="Arial"/>
              </a:defRPr>
            </a:pPr>
            <a:r>
              <a:rPr sz="1875" b="0">
                <a:solidFill>
                  <a:srgbClr val="202D40"/>
                </a:solidFill>
                <a:latin typeface="Arial"/>
                <a:ea typeface="Arial"/>
                <a:cs typeface="Arial"/>
              </a:rPr>
              <a:t>Algas pequenas próximas às verdes. O grupo relatou sua ocorrência</a:t>
            </a:r>
          </a:p>
          <a:p>
            <a:pPr>
              <a:defRPr sz="1875" b="0">
                <a:solidFill>
                  <a:srgbClr val="202D40"/>
                </a:solidFill>
                <a:latin typeface="Arial"/>
                <a:ea typeface="Arial"/>
                <a:cs typeface="Arial"/>
              </a:defRPr>
            </a:pPr>
            <a:r>
              <a:rPr sz="1875" b="0">
                <a:solidFill>
                  <a:srgbClr val="202D40"/>
                </a:solidFill>
                <a:latin typeface="Arial"/>
                <a:ea typeface="Arial"/>
                <a:cs typeface="Arial"/>
              </a:rPr>
              <a:t>em trechos com contato mais frequente com a água.</a:t>
            </a:r>
          </a:p>
        </p:txBody>
      </p:sp>
    </p:spTree>
    <p:extLst>
      <p:ext uri="{BB962C8B-B14F-4D97-AF65-F5344CB8AC3E}">
        <p14:creationId xmlns:p14="http://schemas.microsoft.com/office/powerpoint/2010/main" val="14900586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tângulo 9">
            <a:extLst>
              <a:ext uri="{FF2B5EF4-FFF2-40B4-BE49-F238E27FC236}">
                <a16:creationId xmlns:a16="http://schemas.microsoft.com/office/drawing/2014/main" id="{53B99470-4B29-4EF7-BFAA-B5E28A4E265D}"/>
              </a:ext>
            </a:extLst>
          </p:cNvPr>
          <p:cNvSpPr>
            <a:spLocks noGrp="1"/>
          </p:cNvSpPr>
          <p:nvPr/>
        </p:nvSpPr>
        <p:spPr>
          <a:xfrm>
            <a:off x="0" y="0"/>
            <a:ext cx="12192000" cy="781050"/>
          </a:xfrm>
          <a:prstGeom prst="rect">
            <a:avLst/>
          </a:prstGeom>
          <a:solidFill>
            <a:srgbClr val="333399"/>
          </a:solidFill>
          <a:ln w="0">
            <a:noFill/>
          </a:ln>
        </p:spPr>
        <p:txBody>
          <a:bodyPr>
            <a:noAutofit/>
          </a:bodyPr>
          <a:lstStyle/>
          <a:p>
            <a:pPr>
              <a:defRPr sz="2925" b="0">
                <a:solidFill>
                  <a:srgbClr val="FFFFFF"/>
                </a:solidFill>
                <a:latin typeface="Arial"/>
                <a:ea typeface="Arial"/>
                <a:cs typeface="Arial"/>
              </a:defRPr>
            </a:pPr>
            <a:r>
              <a:rPr sz="2925" b="0">
                <a:solidFill>
                  <a:srgbClr val="FFFFFF"/>
                </a:solidFill>
                <a:latin typeface="Arial"/>
                <a:ea typeface="Arial"/>
                <a:cs typeface="Arial"/>
              </a:rPr>
              <a:t>Variedade de talos nas algas vermelhas</a:t>
            </a:r>
          </a:p>
        </p:txBody>
      </p:sp>
      <p:sp>
        <p:nvSpPr>
          <p:cNvPr id="2" name="Retângulo 1">
            <a:extLst>
              <a:ext uri="{FF2B5EF4-FFF2-40B4-BE49-F238E27FC236}">
                <a16:creationId xmlns:a16="http://schemas.microsoft.com/office/drawing/2014/main" id="{15673E28-4B86-43F6-B2C7-8F4BA2F13A1D}"/>
              </a:ext>
            </a:extLst>
          </p:cNvPr>
          <p:cNvSpPr>
            <a:spLocks noGrp="1"/>
          </p:cNvSpPr>
          <p:nvPr/>
        </p:nvSpPr>
        <p:spPr>
          <a:xfrm>
            <a:off x="0" y="6496050"/>
            <a:ext cx="2428875" cy="361950"/>
          </a:xfrm>
          <a:prstGeom prst="rect">
            <a:avLst/>
          </a:prstGeom>
          <a:solidFill>
            <a:srgbClr val="252572"/>
          </a:solidFill>
          <a:ln w="0">
            <a:noFill/>
          </a:ln>
        </p:spPr>
        <p:txBody>
          <a:bodyPr>
            <a:noAutofit/>
          </a:bodyPr>
          <a:lstStyle/>
          <a:p>
            <a:pPr>
              <a:defRPr sz="1350" b="0">
                <a:solidFill>
                  <a:srgbClr val="FFFFFF"/>
                </a:solidFill>
                <a:latin typeface="Arial"/>
                <a:ea typeface="Arial"/>
                <a:cs typeface="Arial"/>
              </a:defRPr>
            </a:pPr>
            <a:r>
              <a:rPr sz="1350" b="0">
                <a:solidFill>
                  <a:srgbClr val="FFFFFF"/>
                </a:solidFill>
                <a:latin typeface="Arial"/>
                <a:ea typeface="Arial"/>
                <a:cs typeface="Arial"/>
              </a:rPr>
              <a:t>UERJ</a:t>
            </a:r>
          </a:p>
        </p:txBody>
      </p:sp>
      <p:sp>
        <p:nvSpPr>
          <p:cNvPr id="3" name="Retângulo 2">
            <a:extLst>
              <a:ext uri="{FF2B5EF4-FFF2-40B4-BE49-F238E27FC236}">
                <a16:creationId xmlns:a16="http://schemas.microsoft.com/office/drawing/2014/main" id="{F940B09C-3EEB-466C-B104-5280E6B7B054}"/>
              </a:ext>
            </a:extLst>
          </p:cNvPr>
          <p:cNvSpPr>
            <a:spLocks noGrp="1"/>
          </p:cNvSpPr>
          <p:nvPr/>
        </p:nvSpPr>
        <p:spPr>
          <a:xfrm>
            <a:off x="2428875" y="6496050"/>
            <a:ext cx="6953250" cy="361950"/>
          </a:xfrm>
          <a:prstGeom prst="rect">
            <a:avLst/>
          </a:prstGeom>
          <a:solidFill>
            <a:srgbClr val="333399"/>
          </a:solidFill>
          <a:ln w="0">
            <a:noFill/>
          </a:ln>
        </p:spPr>
        <p:txBody>
          <a:bodyPr>
            <a:noAutofit/>
          </a:bodyPr>
          <a:lstStyle/>
          <a:p>
            <a:pPr>
              <a:defRPr sz="1350" b="0">
                <a:solidFill>
                  <a:srgbClr val="FFFFFF"/>
                </a:solidFill>
                <a:latin typeface="Arial"/>
                <a:ea typeface="Arial"/>
                <a:cs typeface="Arial"/>
              </a:defRPr>
            </a:pPr>
            <a:r>
              <a:rPr sz="1350" b="0">
                <a:solidFill>
                  <a:srgbClr val="FFFFFF"/>
                </a:solidFill>
                <a:latin typeface="Arial"/>
                <a:ea typeface="Arial"/>
                <a:cs typeface="Arial"/>
              </a:rPr>
              <a:t>Macroalgas da Praia Vermelha</a:t>
            </a:r>
          </a:p>
        </p:txBody>
      </p:sp>
      <p:sp>
        <p:nvSpPr>
          <p:cNvPr id="4" name="Retângulo 3">
            <a:extLst>
              <a:ext uri="{FF2B5EF4-FFF2-40B4-BE49-F238E27FC236}">
                <a16:creationId xmlns:a16="http://schemas.microsoft.com/office/drawing/2014/main" id="{59E9F06A-2346-4BEB-A777-0265F6E8140C}"/>
              </a:ext>
            </a:extLst>
          </p:cNvPr>
          <p:cNvSpPr>
            <a:spLocks noGrp="1"/>
          </p:cNvSpPr>
          <p:nvPr/>
        </p:nvSpPr>
        <p:spPr>
          <a:xfrm>
            <a:off x="9382125" y="6496050"/>
            <a:ext cx="2809875" cy="361950"/>
          </a:xfrm>
          <a:prstGeom prst="rect">
            <a:avLst/>
          </a:prstGeom>
          <a:solidFill>
            <a:srgbClr val="5151AE"/>
          </a:solidFill>
          <a:ln w="0">
            <a:noFill/>
          </a:ln>
        </p:spPr>
        <p:txBody>
          <a:bodyPr>
            <a:noAutofit/>
          </a:bodyPr>
          <a:lstStyle/>
          <a:p>
            <a:pPr>
              <a:defRPr sz="1275" b="0">
                <a:solidFill>
                  <a:srgbClr val="FFFFFF"/>
                </a:solidFill>
                <a:latin typeface="Arial"/>
                <a:ea typeface="Arial"/>
                <a:cs typeface="Arial"/>
              </a:defRPr>
            </a:pPr>
            <a:r>
              <a:rPr sz="1275" b="0">
                <a:solidFill>
                  <a:srgbClr val="FFFFFF"/>
                </a:solidFill>
                <a:latin typeface="Arial"/>
                <a:ea typeface="Arial"/>
                <a:cs typeface="Arial"/>
              </a:rPr>
              <a:t>Macroalgas     14/20</a:t>
            </a:r>
          </a:p>
        </p:txBody>
      </p:sp>
      <p:pic>
        <p:nvPicPr>
          <p:cNvPr id="14" name="Imagem 13"/>
          <p:cNvPicPr>
            <a:picLocks noChangeAspect="1"/>
          </p:cNvPicPr>
          <p:nvPr/>
        </p:nvPicPr>
        <p:blipFill>
          <a:blip r:embed="rId3"/>
          <a:stretch/>
        </p:blipFill>
        <p:spPr>
          <a:xfrm>
            <a:off x="1133475" y="981075"/>
            <a:ext cx="4095750" cy="4095750"/>
          </a:xfrm>
          <a:prstGeom prst="rect">
            <a:avLst/>
          </a:prstGeom>
        </p:spPr>
      </p:pic>
      <p:pic>
        <p:nvPicPr>
          <p:cNvPr id="15" name="Imagem 14"/>
          <p:cNvPicPr>
            <a:picLocks noChangeAspect="1"/>
          </p:cNvPicPr>
          <p:nvPr/>
        </p:nvPicPr>
        <p:blipFill>
          <a:blip r:embed="rId4"/>
          <a:stretch/>
        </p:blipFill>
        <p:spPr>
          <a:xfrm>
            <a:off x="6962775" y="981075"/>
            <a:ext cx="4095750" cy="4095750"/>
          </a:xfrm>
          <a:prstGeom prst="rect">
            <a:avLst/>
          </a:prstGeom>
        </p:spPr>
      </p:pic>
      <p:sp>
        <p:nvSpPr>
          <p:cNvPr id="7" name="Retângulo 6">
            <a:extLst>
              <a:ext uri="{FF2B5EF4-FFF2-40B4-BE49-F238E27FC236}">
                <a16:creationId xmlns:a16="http://schemas.microsoft.com/office/drawing/2014/main" id="{FDCA8D34-66A8-4C44-9BF6-9F34ACF5B8B1}"/>
              </a:ext>
            </a:extLst>
          </p:cNvPr>
          <p:cNvSpPr>
            <a:spLocks noGrp="1"/>
          </p:cNvSpPr>
          <p:nvPr/>
        </p:nvSpPr>
        <p:spPr>
          <a:xfrm>
            <a:off x="609600" y="5153025"/>
            <a:ext cx="5143500" cy="371475"/>
          </a:xfrm>
          <a:prstGeom prst="rect">
            <a:avLst/>
          </a:prstGeom>
          <a:noFill/>
          <a:ln w="0">
            <a:noFill/>
          </a:ln>
        </p:spPr>
        <p:txBody>
          <a:bodyPr>
            <a:noAutofit/>
          </a:bodyPr>
          <a:lstStyle/>
          <a:p>
            <a:pPr>
              <a:defRPr sz="1650" b="0">
                <a:solidFill>
                  <a:srgbClr val="333399"/>
                </a:solidFill>
                <a:latin typeface="Arial"/>
                <a:ea typeface="Arial"/>
                <a:cs typeface="Arial"/>
              </a:defRPr>
            </a:pPr>
            <a:r>
              <a:rPr sz="1650" b="0">
                <a:solidFill>
                  <a:srgbClr val="333399"/>
                </a:solidFill>
                <a:latin typeface="Arial"/>
                <a:ea typeface="Arial"/>
                <a:cs typeface="Arial"/>
              </a:rPr>
              <a:t>Superfície rosada de aspecto crostoso</a:t>
            </a:r>
          </a:p>
        </p:txBody>
      </p:sp>
      <p:sp>
        <p:nvSpPr>
          <p:cNvPr id="8" name="Retângulo 7">
            <a:extLst>
              <a:ext uri="{FF2B5EF4-FFF2-40B4-BE49-F238E27FC236}">
                <a16:creationId xmlns:a16="http://schemas.microsoft.com/office/drawing/2014/main" id="{765DA38F-06C5-4F1A-90BB-CC09F4E7D441}"/>
              </a:ext>
            </a:extLst>
          </p:cNvPr>
          <p:cNvSpPr>
            <a:spLocks noGrp="1"/>
          </p:cNvSpPr>
          <p:nvPr/>
        </p:nvSpPr>
        <p:spPr>
          <a:xfrm>
            <a:off x="6438900" y="5153025"/>
            <a:ext cx="5143500" cy="371475"/>
          </a:xfrm>
          <a:prstGeom prst="rect">
            <a:avLst/>
          </a:prstGeom>
          <a:noFill/>
          <a:ln w="0">
            <a:noFill/>
          </a:ln>
        </p:spPr>
        <p:txBody>
          <a:bodyPr>
            <a:noAutofit/>
          </a:bodyPr>
          <a:lstStyle/>
          <a:p>
            <a:pPr>
              <a:defRPr sz="1650" b="0">
                <a:solidFill>
                  <a:srgbClr val="333399"/>
                </a:solidFill>
                <a:latin typeface="Arial"/>
                <a:ea typeface="Arial"/>
                <a:cs typeface="Arial"/>
              </a:defRPr>
            </a:pPr>
            <a:r>
              <a:rPr sz="1650" b="0">
                <a:solidFill>
                  <a:srgbClr val="333399"/>
                </a:solidFill>
                <a:latin typeface="Arial"/>
                <a:ea typeface="Arial"/>
                <a:cs typeface="Arial"/>
              </a:rPr>
              <a:t>Detalhe das ramificações sobre a rocha</a:t>
            </a:r>
          </a:p>
        </p:txBody>
      </p:sp>
      <p:sp>
        <p:nvSpPr>
          <p:cNvPr id="9" name="Retângulo 8">
            <a:extLst>
              <a:ext uri="{FF2B5EF4-FFF2-40B4-BE49-F238E27FC236}">
                <a16:creationId xmlns:a16="http://schemas.microsoft.com/office/drawing/2014/main" id="{1F49CED2-9129-4DF8-A058-88F989DA0C81}"/>
              </a:ext>
            </a:extLst>
          </p:cNvPr>
          <p:cNvSpPr>
            <a:spLocks noGrp="1"/>
          </p:cNvSpPr>
          <p:nvPr/>
        </p:nvSpPr>
        <p:spPr>
          <a:xfrm>
            <a:off x="609600" y="5667375"/>
            <a:ext cx="10972800" cy="685800"/>
          </a:xfrm>
          <a:prstGeom prst="rect">
            <a:avLst/>
          </a:prstGeom>
          <a:noFill/>
          <a:ln w="0">
            <a:noFill/>
          </a:ln>
        </p:spPr>
        <p:txBody>
          <a:bodyPr>
            <a:noAutofit/>
          </a:bodyPr>
          <a:lstStyle/>
          <a:p>
            <a:pPr>
              <a:defRPr sz="1875" b="0">
                <a:solidFill>
                  <a:srgbClr val="202D40"/>
                </a:solidFill>
                <a:latin typeface="Arial"/>
                <a:ea typeface="Arial"/>
                <a:cs typeface="Arial"/>
              </a:defRPr>
            </a:pPr>
            <a:r>
              <a:rPr sz="1875" b="0">
                <a:solidFill>
                  <a:srgbClr val="202D40"/>
                </a:solidFill>
                <a:latin typeface="Arial"/>
                <a:ea typeface="Arial"/>
                <a:cs typeface="Arial"/>
              </a:rPr>
              <a:t>O grupo descreveu formas crostosas, calcificadas, laminares e ramificadas.</a:t>
            </a:r>
          </a:p>
          <a:p>
            <a:pPr>
              <a:defRPr sz="1875" b="0">
                <a:solidFill>
                  <a:srgbClr val="202D40"/>
                </a:solidFill>
                <a:latin typeface="Arial"/>
                <a:ea typeface="Arial"/>
                <a:cs typeface="Arial"/>
              </a:defRPr>
            </a:pPr>
            <a:r>
              <a:rPr sz="1875" b="0">
                <a:solidFill>
                  <a:srgbClr val="202D40"/>
                </a:solidFill>
                <a:latin typeface="Arial"/>
                <a:ea typeface="Arial"/>
                <a:cs typeface="Arial"/>
              </a:rPr>
              <a:t>As fotografias destacam as crostas e as ramificações finas.</a:t>
            </a:r>
          </a:p>
        </p:txBody>
      </p:sp>
    </p:spTree>
    <p:extLst>
      <p:ext uri="{BB962C8B-B14F-4D97-AF65-F5344CB8AC3E}">
        <p14:creationId xmlns:p14="http://schemas.microsoft.com/office/powerpoint/2010/main" val="19844467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tângulo 9">
            <a:extLst>
              <a:ext uri="{FF2B5EF4-FFF2-40B4-BE49-F238E27FC236}">
                <a16:creationId xmlns:a16="http://schemas.microsoft.com/office/drawing/2014/main" id="{96512340-C461-46E7-88F1-5EE11681899D}"/>
              </a:ext>
            </a:extLst>
          </p:cNvPr>
          <p:cNvSpPr>
            <a:spLocks noGrp="1"/>
          </p:cNvSpPr>
          <p:nvPr/>
        </p:nvSpPr>
        <p:spPr>
          <a:xfrm>
            <a:off x="0" y="0"/>
            <a:ext cx="12192000" cy="781050"/>
          </a:xfrm>
          <a:prstGeom prst="rect">
            <a:avLst/>
          </a:prstGeom>
          <a:solidFill>
            <a:srgbClr val="333399"/>
          </a:solidFill>
          <a:ln w="0">
            <a:noFill/>
          </a:ln>
        </p:spPr>
        <p:txBody>
          <a:bodyPr>
            <a:noAutofit/>
          </a:bodyPr>
          <a:lstStyle/>
          <a:p>
            <a:pPr>
              <a:defRPr sz="2925" b="0">
                <a:solidFill>
                  <a:srgbClr val="FFFFFF"/>
                </a:solidFill>
                <a:latin typeface="Arial"/>
                <a:ea typeface="Arial"/>
                <a:cs typeface="Arial"/>
              </a:defRPr>
            </a:pPr>
            <a:r>
              <a:rPr sz="2925" b="0">
                <a:solidFill>
                  <a:srgbClr val="FFFFFF"/>
                </a:solidFill>
                <a:latin typeface="Arial"/>
                <a:ea typeface="Arial"/>
                <a:cs typeface="Arial"/>
              </a:rPr>
              <a:t>Phaeophyceae: algas pardas</a:t>
            </a:r>
          </a:p>
        </p:txBody>
      </p:sp>
      <p:sp>
        <p:nvSpPr>
          <p:cNvPr id="2" name="Retângulo 1">
            <a:extLst>
              <a:ext uri="{FF2B5EF4-FFF2-40B4-BE49-F238E27FC236}">
                <a16:creationId xmlns:a16="http://schemas.microsoft.com/office/drawing/2014/main" id="{C8256FE0-BEF5-4731-B8C4-DCFE561288B5}"/>
              </a:ext>
            </a:extLst>
          </p:cNvPr>
          <p:cNvSpPr>
            <a:spLocks noGrp="1"/>
          </p:cNvSpPr>
          <p:nvPr/>
        </p:nvSpPr>
        <p:spPr>
          <a:xfrm>
            <a:off x="0" y="6496050"/>
            <a:ext cx="2428875" cy="361950"/>
          </a:xfrm>
          <a:prstGeom prst="rect">
            <a:avLst/>
          </a:prstGeom>
          <a:solidFill>
            <a:srgbClr val="252572"/>
          </a:solidFill>
          <a:ln w="0">
            <a:noFill/>
          </a:ln>
        </p:spPr>
        <p:txBody>
          <a:bodyPr>
            <a:noAutofit/>
          </a:bodyPr>
          <a:lstStyle/>
          <a:p>
            <a:pPr>
              <a:defRPr sz="1350" b="0">
                <a:solidFill>
                  <a:srgbClr val="FFFFFF"/>
                </a:solidFill>
                <a:latin typeface="Arial"/>
                <a:ea typeface="Arial"/>
                <a:cs typeface="Arial"/>
              </a:defRPr>
            </a:pPr>
            <a:r>
              <a:rPr sz="1350" b="0">
                <a:solidFill>
                  <a:srgbClr val="FFFFFF"/>
                </a:solidFill>
                <a:latin typeface="Arial"/>
                <a:ea typeface="Arial"/>
                <a:cs typeface="Arial"/>
              </a:rPr>
              <a:t>UERJ</a:t>
            </a:r>
          </a:p>
        </p:txBody>
      </p:sp>
      <p:sp>
        <p:nvSpPr>
          <p:cNvPr id="3" name="Retângulo 2">
            <a:extLst>
              <a:ext uri="{FF2B5EF4-FFF2-40B4-BE49-F238E27FC236}">
                <a16:creationId xmlns:a16="http://schemas.microsoft.com/office/drawing/2014/main" id="{25655772-47BA-42D8-BC80-1C146DF0A6B6}"/>
              </a:ext>
            </a:extLst>
          </p:cNvPr>
          <p:cNvSpPr>
            <a:spLocks noGrp="1"/>
          </p:cNvSpPr>
          <p:nvPr/>
        </p:nvSpPr>
        <p:spPr>
          <a:xfrm>
            <a:off x="2428875" y="6496050"/>
            <a:ext cx="6953250" cy="361950"/>
          </a:xfrm>
          <a:prstGeom prst="rect">
            <a:avLst/>
          </a:prstGeom>
          <a:solidFill>
            <a:srgbClr val="333399"/>
          </a:solidFill>
          <a:ln w="0">
            <a:noFill/>
          </a:ln>
        </p:spPr>
        <p:txBody>
          <a:bodyPr>
            <a:noAutofit/>
          </a:bodyPr>
          <a:lstStyle/>
          <a:p>
            <a:pPr>
              <a:defRPr sz="1350" b="0">
                <a:solidFill>
                  <a:srgbClr val="FFFFFF"/>
                </a:solidFill>
                <a:latin typeface="Arial"/>
                <a:ea typeface="Arial"/>
                <a:cs typeface="Arial"/>
              </a:defRPr>
            </a:pPr>
            <a:r>
              <a:rPr sz="1350" b="0">
                <a:solidFill>
                  <a:srgbClr val="FFFFFF"/>
                </a:solidFill>
                <a:latin typeface="Arial"/>
                <a:ea typeface="Arial"/>
                <a:cs typeface="Arial"/>
              </a:rPr>
              <a:t>Macroalgas da Praia Vermelha</a:t>
            </a:r>
          </a:p>
        </p:txBody>
      </p:sp>
      <p:sp>
        <p:nvSpPr>
          <p:cNvPr id="4" name="Retângulo 3">
            <a:extLst>
              <a:ext uri="{FF2B5EF4-FFF2-40B4-BE49-F238E27FC236}">
                <a16:creationId xmlns:a16="http://schemas.microsoft.com/office/drawing/2014/main" id="{2FF875F9-666C-4AD7-A768-2AD319356BD3}"/>
              </a:ext>
            </a:extLst>
          </p:cNvPr>
          <p:cNvSpPr>
            <a:spLocks noGrp="1"/>
          </p:cNvSpPr>
          <p:nvPr/>
        </p:nvSpPr>
        <p:spPr>
          <a:xfrm>
            <a:off x="9382125" y="6496050"/>
            <a:ext cx="2809875" cy="361950"/>
          </a:xfrm>
          <a:prstGeom prst="rect">
            <a:avLst/>
          </a:prstGeom>
          <a:solidFill>
            <a:srgbClr val="5151AE"/>
          </a:solidFill>
          <a:ln w="0">
            <a:noFill/>
          </a:ln>
        </p:spPr>
        <p:txBody>
          <a:bodyPr>
            <a:noAutofit/>
          </a:bodyPr>
          <a:lstStyle/>
          <a:p>
            <a:pPr>
              <a:defRPr sz="1275" b="0">
                <a:solidFill>
                  <a:srgbClr val="FFFFFF"/>
                </a:solidFill>
                <a:latin typeface="Arial"/>
                <a:ea typeface="Arial"/>
                <a:cs typeface="Arial"/>
              </a:defRPr>
            </a:pPr>
            <a:r>
              <a:rPr sz="1275" b="0">
                <a:solidFill>
                  <a:srgbClr val="FFFFFF"/>
                </a:solidFill>
                <a:latin typeface="Arial"/>
                <a:ea typeface="Arial"/>
                <a:cs typeface="Arial"/>
              </a:rPr>
              <a:t>Macroalgas     15/20</a:t>
            </a:r>
          </a:p>
        </p:txBody>
      </p:sp>
      <p:pic>
        <p:nvPicPr>
          <p:cNvPr id="14" name="Imagem 13"/>
          <p:cNvPicPr>
            <a:picLocks noChangeAspect="1"/>
          </p:cNvPicPr>
          <p:nvPr/>
        </p:nvPicPr>
        <p:blipFill>
          <a:blip r:embed="rId3"/>
          <a:stretch/>
        </p:blipFill>
        <p:spPr>
          <a:xfrm>
            <a:off x="1200150" y="1000125"/>
            <a:ext cx="4895850" cy="4895850"/>
          </a:xfrm>
          <a:prstGeom prst="rect">
            <a:avLst/>
          </a:prstGeom>
        </p:spPr>
      </p:pic>
      <p:sp>
        <p:nvSpPr>
          <p:cNvPr id="6" name="Retângulo 5">
            <a:extLst>
              <a:ext uri="{FF2B5EF4-FFF2-40B4-BE49-F238E27FC236}">
                <a16:creationId xmlns:a16="http://schemas.microsoft.com/office/drawing/2014/main" id="{C9B4EA7C-7491-4F57-9B12-133FB9D099C0}"/>
              </a:ext>
            </a:extLst>
          </p:cNvPr>
          <p:cNvSpPr>
            <a:spLocks noGrp="1"/>
          </p:cNvSpPr>
          <p:nvPr/>
        </p:nvSpPr>
        <p:spPr>
          <a:xfrm>
            <a:off x="7315200" y="1295400"/>
            <a:ext cx="4238625" cy="933450"/>
          </a:xfrm>
          <a:prstGeom prst="rect">
            <a:avLst/>
          </a:prstGeom>
          <a:noFill/>
          <a:ln w="0">
            <a:noFill/>
          </a:ln>
        </p:spPr>
        <p:txBody>
          <a:bodyPr>
            <a:noAutofit/>
          </a:bodyPr>
          <a:lstStyle/>
          <a:p>
            <a:pPr>
              <a:defRPr sz="2175" b="1">
                <a:solidFill>
                  <a:srgbClr val="333399"/>
                </a:solidFill>
                <a:latin typeface="Arial"/>
                <a:ea typeface="Arial"/>
                <a:cs typeface="Arial"/>
              </a:defRPr>
            </a:pPr>
            <a:r>
              <a:rPr sz="2175" b="1">
                <a:solidFill>
                  <a:srgbClr val="333399"/>
                </a:solidFill>
                <a:latin typeface="Arial"/>
                <a:ea typeface="Arial"/>
                <a:cs typeface="Arial"/>
              </a:rPr>
              <a:t>Padina, identificação preliminar</a:t>
            </a:r>
          </a:p>
        </p:txBody>
      </p:sp>
      <p:sp>
        <p:nvSpPr>
          <p:cNvPr id="7" name="Retângulo 6">
            <a:extLst>
              <a:ext uri="{FF2B5EF4-FFF2-40B4-BE49-F238E27FC236}">
                <a16:creationId xmlns:a16="http://schemas.microsoft.com/office/drawing/2014/main" id="{6934C3B6-17D5-48AE-8459-7B8CC39FFF17}"/>
              </a:ext>
            </a:extLst>
          </p:cNvPr>
          <p:cNvSpPr>
            <a:spLocks noGrp="1"/>
          </p:cNvSpPr>
          <p:nvPr/>
        </p:nvSpPr>
        <p:spPr>
          <a:xfrm>
            <a:off x="7315200" y="2609850"/>
            <a:ext cx="4238625" cy="1524000"/>
          </a:xfrm>
          <a:prstGeom prst="rect">
            <a:avLst/>
          </a:prstGeom>
          <a:noFill/>
          <a:ln w="0">
            <a:noFill/>
          </a:ln>
        </p:spPr>
        <p:txBody>
          <a:bodyPr>
            <a:noAutofit/>
          </a:bodyPr>
          <a:lstStyle/>
          <a:p>
            <a:pPr>
              <a:defRPr sz="2025" b="0">
                <a:solidFill>
                  <a:srgbClr val="202D40"/>
                </a:solidFill>
                <a:latin typeface="Arial"/>
                <a:ea typeface="Arial"/>
                <a:cs typeface="Arial"/>
              </a:defRPr>
            </a:pPr>
            <a:r>
              <a:rPr sz="2025" b="0">
                <a:solidFill>
                  <a:srgbClr val="202D40"/>
                </a:solidFill>
                <a:latin typeface="Arial"/>
                <a:ea typeface="Arial"/>
                <a:cs typeface="Arial"/>
              </a:rPr>
              <a:t>Algas pequenas, castanhas</a:t>
            </a:r>
          </a:p>
          <a:p>
            <a:pPr>
              <a:defRPr sz="2025" b="0">
                <a:solidFill>
                  <a:srgbClr val="202D40"/>
                </a:solidFill>
                <a:latin typeface="Arial"/>
                <a:ea typeface="Arial"/>
                <a:cs typeface="Arial"/>
              </a:defRPr>
            </a:pPr>
            <a:r>
              <a:rPr sz="2025" b="0">
                <a:solidFill>
                  <a:srgbClr val="202D40"/>
                </a:solidFill>
                <a:latin typeface="Arial"/>
                <a:ea typeface="Arial"/>
                <a:cs typeface="Arial"/>
              </a:rPr>
              <a:t>Lâminas em leque</a:t>
            </a:r>
          </a:p>
          <a:p>
            <a:pPr>
              <a:defRPr sz="2025" b="0">
                <a:solidFill>
                  <a:srgbClr val="202D40"/>
                </a:solidFill>
                <a:latin typeface="Arial"/>
                <a:ea typeface="Arial"/>
                <a:cs typeface="Arial"/>
              </a:defRPr>
            </a:pPr>
            <a:r>
              <a:rPr sz="2025" b="0">
                <a:solidFill>
                  <a:srgbClr val="202D40"/>
                </a:solidFill>
                <a:latin typeface="Arial"/>
                <a:ea typeface="Arial"/>
                <a:cs typeface="Arial"/>
              </a:rPr>
              <a:t>Aspecto translúcido</a:t>
            </a:r>
          </a:p>
        </p:txBody>
      </p:sp>
      <p:sp>
        <p:nvSpPr>
          <p:cNvPr id="8" name="Retângulo 7">
            <a:extLst>
              <a:ext uri="{FF2B5EF4-FFF2-40B4-BE49-F238E27FC236}">
                <a16:creationId xmlns:a16="http://schemas.microsoft.com/office/drawing/2014/main" id="{D42575D1-C650-445E-8B81-62F1CEB46422}"/>
              </a:ext>
            </a:extLst>
          </p:cNvPr>
          <p:cNvSpPr>
            <a:spLocks noGrp="1"/>
          </p:cNvSpPr>
          <p:nvPr/>
        </p:nvSpPr>
        <p:spPr>
          <a:xfrm>
            <a:off x="7315200" y="4429125"/>
            <a:ext cx="4238625" cy="1333500"/>
          </a:xfrm>
          <a:prstGeom prst="rect">
            <a:avLst/>
          </a:prstGeom>
          <a:noFill/>
          <a:ln w="0">
            <a:noFill/>
          </a:ln>
        </p:spPr>
        <p:txBody>
          <a:bodyPr>
            <a:noAutofit/>
          </a:bodyPr>
          <a:lstStyle/>
          <a:p>
            <a:pPr>
              <a:defRPr sz="1950" b="0">
                <a:solidFill>
                  <a:srgbClr val="202D40"/>
                </a:solidFill>
                <a:latin typeface="Arial"/>
                <a:ea typeface="Arial"/>
                <a:cs typeface="Arial"/>
              </a:defRPr>
            </a:pPr>
            <a:r>
              <a:rPr sz="1950" b="0">
                <a:solidFill>
                  <a:srgbClr val="202D40"/>
                </a:solidFill>
                <a:latin typeface="Arial"/>
                <a:ea typeface="Arial"/>
                <a:cs typeface="Arial"/>
              </a:rPr>
              <a:t>No médiolitoral, mais em</a:t>
            </a:r>
          </a:p>
          <a:p>
            <a:pPr>
              <a:defRPr sz="1950" b="0">
                <a:solidFill>
                  <a:srgbClr val="202D40"/>
                </a:solidFill>
                <a:latin typeface="Arial"/>
                <a:ea typeface="Arial"/>
                <a:cs typeface="Arial"/>
              </a:defRPr>
            </a:pPr>
            <a:r>
              <a:rPr sz="1950" b="0">
                <a:solidFill>
                  <a:srgbClr val="202D40"/>
                </a:solidFill>
                <a:latin typeface="Arial"/>
                <a:ea typeface="Arial"/>
                <a:cs typeface="Arial"/>
              </a:rPr>
              <a:t>direção ao mar, segundo</a:t>
            </a:r>
          </a:p>
          <a:p>
            <a:pPr>
              <a:defRPr sz="1950" b="0">
                <a:solidFill>
                  <a:srgbClr val="202D40"/>
                </a:solidFill>
                <a:latin typeface="Arial"/>
                <a:ea typeface="Arial"/>
                <a:cs typeface="Arial"/>
              </a:defRPr>
            </a:pPr>
            <a:r>
              <a:rPr sz="1950" b="0">
                <a:solidFill>
                  <a:srgbClr val="202D40"/>
                </a:solidFill>
                <a:latin typeface="Arial"/>
                <a:ea typeface="Arial"/>
                <a:cs typeface="Arial"/>
              </a:rPr>
              <a:t>o relato do grupo.</a:t>
            </a:r>
          </a:p>
        </p:txBody>
      </p:sp>
      <p:sp>
        <p:nvSpPr>
          <p:cNvPr id="9" name="Retângulo 8">
            <a:extLst>
              <a:ext uri="{FF2B5EF4-FFF2-40B4-BE49-F238E27FC236}">
                <a16:creationId xmlns:a16="http://schemas.microsoft.com/office/drawing/2014/main" id="{4E35734C-715A-419F-81A1-D07501B8511E}"/>
              </a:ext>
            </a:extLst>
          </p:cNvPr>
          <p:cNvSpPr>
            <a:spLocks noGrp="1"/>
          </p:cNvSpPr>
          <p:nvPr/>
        </p:nvSpPr>
        <p:spPr>
          <a:xfrm>
            <a:off x="552450" y="6067425"/>
            <a:ext cx="10858500" cy="323850"/>
          </a:xfrm>
          <a:prstGeom prst="rect">
            <a:avLst/>
          </a:prstGeom>
          <a:noFill/>
          <a:ln w="0">
            <a:noFill/>
          </a:ln>
        </p:spPr>
        <p:txBody>
          <a:bodyPr>
            <a:noAutofit/>
          </a:bodyPr>
          <a:lstStyle/>
          <a:p>
            <a:pPr>
              <a:defRPr sz="1650" b="0">
                <a:solidFill>
                  <a:srgbClr val="202D40"/>
                </a:solidFill>
                <a:latin typeface="Arial"/>
                <a:ea typeface="Arial"/>
                <a:cs typeface="Arial"/>
              </a:defRPr>
            </a:pPr>
            <a:r>
              <a:rPr sz="1650" b="0">
                <a:solidFill>
                  <a:srgbClr val="202D40"/>
                </a:solidFill>
                <a:latin typeface="Arial"/>
                <a:ea typeface="Arial"/>
                <a:cs typeface="Arial"/>
              </a:rPr>
              <a:t>O grupo também descreveu aspecto calcário, que precisa de confirmação.</a:t>
            </a:r>
          </a:p>
        </p:txBody>
      </p:sp>
    </p:spTree>
    <p:extLst>
      <p:ext uri="{BB962C8B-B14F-4D97-AF65-F5344CB8AC3E}">
        <p14:creationId xmlns:p14="http://schemas.microsoft.com/office/powerpoint/2010/main" val="17219265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Retângulo 12">
            <a:extLst>
              <a:ext uri="{FF2B5EF4-FFF2-40B4-BE49-F238E27FC236}">
                <a16:creationId xmlns:a16="http://schemas.microsoft.com/office/drawing/2014/main" id="{2C8F6E9A-8435-4391-8E96-37A528318F28}"/>
              </a:ext>
            </a:extLst>
          </p:cNvPr>
          <p:cNvSpPr>
            <a:spLocks noGrp="1"/>
          </p:cNvSpPr>
          <p:nvPr/>
        </p:nvSpPr>
        <p:spPr>
          <a:xfrm>
            <a:off x="0" y="0"/>
            <a:ext cx="12192000" cy="781050"/>
          </a:xfrm>
          <a:prstGeom prst="rect">
            <a:avLst/>
          </a:prstGeom>
          <a:solidFill>
            <a:srgbClr val="333399"/>
          </a:solidFill>
          <a:ln w="0">
            <a:noFill/>
          </a:ln>
        </p:spPr>
        <p:txBody>
          <a:bodyPr>
            <a:noAutofit/>
          </a:bodyPr>
          <a:lstStyle/>
          <a:p>
            <a:pPr>
              <a:defRPr sz="2925" b="0">
                <a:solidFill>
                  <a:srgbClr val="FFFFFF"/>
                </a:solidFill>
                <a:latin typeface="Arial"/>
                <a:ea typeface="Arial"/>
                <a:cs typeface="Arial"/>
              </a:defRPr>
            </a:pPr>
            <a:r>
              <a:rPr sz="2925" b="0">
                <a:solidFill>
                  <a:srgbClr val="FFFFFF"/>
                </a:solidFill>
                <a:latin typeface="Arial"/>
                <a:ea typeface="Arial"/>
                <a:cs typeface="Arial"/>
              </a:rPr>
              <a:t>Discussão: condições em cada zona</a:t>
            </a:r>
          </a:p>
        </p:txBody>
      </p:sp>
      <p:sp>
        <p:nvSpPr>
          <p:cNvPr id="2" name="Retângulo 1">
            <a:extLst>
              <a:ext uri="{FF2B5EF4-FFF2-40B4-BE49-F238E27FC236}">
                <a16:creationId xmlns:a16="http://schemas.microsoft.com/office/drawing/2014/main" id="{C8FDB712-1665-4F6E-9D9A-7D24A598BDEE}"/>
              </a:ext>
            </a:extLst>
          </p:cNvPr>
          <p:cNvSpPr>
            <a:spLocks noGrp="1"/>
          </p:cNvSpPr>
          <p:nvPr/>
        </p:nvSpPr>
        <p:spPr>
          <a:xfrm>
            <a:off x="0" y="6496050"/>
            <a:ext cx="2428875" cy="361950"/>
          </a:xfrm>
          <a:prstGeom prst="rect">
            <a:avLst/>
          </a:prstGeom>
          <a:solidFill>
            <a:srgbClr val="252572"/>
          </a:solidFill>
          <a:ln w="0">
            <a:noFill/>
          </a:ln>
        </p:spPr>
        <p:txBody>
          <a:bodyPr>
            <a:noAutofit/>
          </a:bodyPr>
          <a:lstStyle/>
          <a:p>
            <a:pPr>
              <a:defRPr sz="1350" b="0">
                <a:solidFill>
                  <a:srgbClr val="FFFFFF"/>
                </a:solidFill>
                <a:latin typeface="Arial"/>
                <a:ea typeface="Arial"/>
                <a:cs typeface="Arial"/>
              </a:defRPr>
            </a:pPr>
            <a:r>
              <a:rPr sz="1350" b="0">
                <a:solidFill>
                  <a:srgbClr val="FFFFFF"/>
                </a:solidFill>
                <a:latin typeface="Arial"/>
                <a:ea typeface="Arial"/>
                <a:cs typeface="Arial"/>
              </a:rPr>
              <a:t>UERJ</a:t>
            </a:r>
          </a:p>
        </p:txBody>
      </p:sp>
      <p:sp>
        <p:nvSpPr>
          <p:cNvPr id="3" name="Retângulo 2">
            <a:extLst>
              <a:ext uri="{FF2B5EF4-FFF2-40B4-BE49-F238E27FC236}">
                <a16:creationId xmlns:a16="http://schemas.microsoft.com/office/drawing/2014/main" id="{B6DD3641-5E7E-484F-9B50-21F0CDCB1E46}"/>
              </a:ext>
            </a:extLst>
          </p:cNvPr>
          <p:cNvSpPr>
            <a:spLocks noGrp="1"/>
          </p:cNvSpPr>
          <p:nvPr/>
        </p:nvSpPr>
        <p:spPr>
          <a:xfrm>
            <a:off x="2428875" y="6496050"/>
            <a:ext cx="6953250" cy="361950"/>
          </a:xfrm>
          <a:prstGeom prst="rect">
            <a:avLst/>
          </a:prstGeom>
          <a:solidFill>
            <a:srgbClr val="333399"/>
          </a:solidFill>
          <a:ln w="0">
            <a:noFill/>
          </a:ln>
        </p:spPr>
        <p:txBody>
          <a:bodyPr>
            <a:noAutofit/>
          </a:bodyPr>
          <a:lstStyle/>
          <a:p>
            <a:pPr>
              <a:defRPr sz="1350" b="0">
                <a:solidFill>
                  <a:srgbClr val="FFFFFF"/>
                </a:solidFill>
                <a:latin typeface="Arial"/>
                <a:ea typeface="Arial"/>
                <a:cs typeface="Arial"/>
              </a:defRPr>
            </a:pPr>
            <a:r>
              <a:rPr sz="1350" b="0">
                <a:solidFill>
                  <a:srgbClr val="FFFFFF"/>
                </a:solidFill>
                <a:latin typeface="Arial"/>
                <a:ea typeface="Arial"/>
                <a:cs typeface="Arial"/>
              </a:rPr>
              <a:t>Macroalgas da Praia Vermelha</a:t>
            </a:r>
          </a:p>
        </p:txBody>
      </p:sp>
      <p:sp>
        <p:nvSpPr>
          <p:cNvPr id="4" name="Retângulo 3">
            <a:extLst>
              <a:ext uri="{FF2B5EF4-FFF2-40B4-BE49-F238E27FC236}">
                <a16:creationId xmlns:a16="http://schemas.microsoft.com/office/drawing/2014/main" id="{5A9F50CB-F069-4EF8-A459-A65994801024}"/>
              </a:ext>
            </a:extLst>
          </p:cNvPr>
          <p:cNvSpPr>
            <a:spLocks noGrp="1"/>
          </p:cNvSpPr>
          <p:nvPr/>
        </p:nvSpPr>
        <p:spPr>
          <a:xfrm>
            <a:off x="9382125" y="6496050"/>
            <a:ext cx="2809875" cy="361950"/>
          </a:xfrm>
          <a:prstGeom prst="rect">
            <a:avLst/>
          </a:prstGeom>
          <a:solidFill>
            <a:srgbClr val="5151AE"/>
          </a:solidFill>
          <a:ln w="0">
            <a:noFill/>
          </a:ln>
        </p:spPr>
        <p:txBody>
          <a:bodyPr>
            <a:noAutofit/>
          </a:bodyPr>
          <a:lstStyle/>
          <a:p>
            <a:pPr>
              <a:defRPr sz="1275" b="0">
                <a:solidFill>
                  <a:srgbClr val="FFFFFF"/>
                </a:solidFill>
                <a:latin typeface="Arial"/>
                <a:ea typeface="Arial"/>
                <a:cs typeface="Arial"/>
              </a:defRPr>
            </a:pPr>
            <a:r>
              <a:rPr sz="1275" b="0">
                <a:solidFill>
                  <a:srgbClr val="FFFFFF"/>
                </a:solidFill>
                <a:latin typeface="Arial"/>
                <a:ea typeface="Arial"/>
                <a:cs typeface="Arial"/>
              </a:rPr>
              <a:t>Discussão     16/20</a:t>
            </a:r>
          </a:p>
        </p:txBody>
      </p:sp>
      <p:pic>
        <p:nvPicPr>
          <p:cNvPr id="17" name="Imagem 16"/>
          <p:cNvPicPr>
            <a:picLocks noChangeAspect="1"/>
          </p:cNvPicPr>
          <p:nvPr/>
        </p:nvPicPr>
        <p:blipFill>
          <a:blip r:embed="rId3"/>
          <a:stretch/>
        </p:blipFill>
        <p:spPr>
          <a:xfrm>
            <a:off x="885825" y="1038225"/>
            <a:ext cx="4857750" cy="4857750"/>
          </a:xfrm>
          <a:prstGeom prst="rect">
            <a:avLst/>
          </a:prstGeom>
        </p:spPr>
      </p:pic>
      <p:sp>
        <p:nvSpPr>
          <p:cNvPr id="6" name="Retângulo 5">
            <a:extLst>
              <a:ext uri="{FF2B5EF4-FFF2-40B4-BE49-F238E27FC236}">
                <a16:creationId xmlns:a16="http://schemas.microsoft.com/office/drawing/2014/main" id="{CF4A6986-05A5-49D6-B641-197D9E882DB9}"/>
              </a:ext>
            </a:extLst>
          </p:cNvPr>
          <p:cNvSpPr>
            <a:spLocks noGrp="1"/>
          </p:cNvSpPr>
          <p:nvPr/>
        </p:nvSpPr>
        <p:spPr>
          <a:xfrm>
            <a:off x="6772275" y="1219200"/>
            <a:ext cx="4953000" cy="419100"/>
          </a:xfrm>
          <a:prstGeom prst="rect">
            <a:avLst/>
          </a:prstGeom>
          <a:noFill/>
          <a:ln w="0">
            <a:noFill/>
          </a:ln>
        </p:spPr>
        <p:txBody>
          <a:bodyPr>
            <a:noAutofit/>
          </a:bodyPr>
          <a:lstStyle/>
          <a:p>
            <a:pPr>
              <a:defRPr sz="2175" b="1">
                <a:solidFill>
                  <a:srgbClr val="333399"/>
                </a:solidFill>
                <a:latin typeface="Arial"/>
                <a:ea typeface="Arial"/>
                <a:cs typeface="Arial"/>
              </a:defRPr>
            </a:pPr>
            <a:r>
              <a:rPr sz="2175" b="1">
                <a:solidFill>
                  <a:srgbClr val="333399"/>
                </a:solidFill>
                <a:latin typeface="Arial"/>
                <a:ea typeface="Arial"/>
                <a:cs typeface="Arial"/>
              </a:rPr>
              <a:t>Supralitoral</a:t>
            </a:r>
          </a:p>
        </p:txBody>
      </p:sp>
      <p:sp>
        <p:nvSpPr>
          <p:cNvPr id="7" name="Retângulo 6">
            <a:extLst>
              <a:ext uri="{FF2B5EF4-FFF2-40B4-BE49-F238E27FC236}">
                <a16:creationId xmlns:a16="http://schemas.microsoft.com/office/drawing/2014/main" id="{EA4659ED-0B92-4119-AA03-D998F4F2E173}"/>
              </a:ext>
            </a:extLst>
          </p:cNvPr>
          <p:cNvSpPr>
            <a:spLocks noGrp="1"/>
          </p:cNvSpPr>
          <p:nvPr/>
        </p:nvSpPr>
        <p:spPr>
          <a:xfrm>
            <a:off x="6772275" y="1724025"/>
            <a:ext cx="4953000" cy="885825"/>
          </a:xfrm>
          <a:prstGeom prst="rect">
            <a:avLst/>
          </a:prstGeom>
          <a:noFill/>
          <a:ln w="0">
            <a:noFill/>
          </a:ln>
        </p:spPr>
        <p:txBody>
          <a:bodyPr>
            <a:noAutofit/>
          </a:bodyPr>
          <a:lstStyle/>
          <a:p>
            <a:pPr>
              <a:defRPr sz="1950" b="0">
                <a:solidFill>
                  <a:srgbClr val="202D40"/>
                </a:solidFill>
                <a:latin typeface="Arial"/>
                <a:ea typeface="Arial"/>
                <a:cs typeface="Arial"/>
              </a:defRPr>
            </a:pPr>
            <a:r>
              <a:rPr sz="1950" b="0">
                <a:solidFill>
                  <a:srgbClr val="202D40"/>
                </a:solidFill>
                <a:latin typeface="Arial"/>
                <a:ea typeface="Arial"/>
                <a:cs typeface="Arial"/>
              </a:rPr>
              <a:t>Maior exposição ao ar, à radiação</a:t>
            </a:r>
          </a:p>
          <a:p>
            <a:pPr>
              <a:defRPr sz="1950" b="0">
                <a:solidFill>
                  <a:srgbClr val="202D40"/>
                </a:solidFill>
                <a:latin typeface="Arial"/>
                <a:ea typeface="Arial"/>
                <a:cs typeface="Arial"/>
              </a:defRPr>
            </a:pPr>
            <a:r>
              <a:rPr sz="1950" b="0">
                <a:solidFill>
                  <a:srgbClr val="202D40"/>
                </a:solidFill>
                <a:latin typeface="Arial"/>
                <a:ea typeface="Arial"/>
                <a:cs typeface="Arial"/>
              </a:rPr>
              <a:t>e às variações de temperatura.</a:t>
            </a:r>
          </a:p>
        </p:txBody>
      </p:sp>
      <p:sp>
        <p:nvSpPr>
          <p:cNvPr id="8" name="Retângulo 7">
            <a:extLst>
              <a:ext uri="{FF2B5EF4-FFF2-40B4-BE49-F238E27FC236}">
                <a16:creationId xmlns:a16="http://schemas.microsoft.com/office/drawing/2014/main" id="{D800A675-7C6E-4521-B8BA-A131CC3EEC8F}"/>
              </a:ext>
            </a:extLst>
          </p:cNvPr>
          <p:cNvSpPr>
            <a:spLocks noGrp="1"/>
          </p:cNvSpPr>
          <p:nvPr/>
        </p:nvSpPr>
        <p:spPr>
          <a:xfrm>
            <a:off x="6772275" y="2914650"/>
            <a:ext cx="4953000" cy="419100"/>
          </a:xfrm>
          <a:prstGeom prst="rect">
            <a:avLst/>
          </a:prstGeom>
          <a:noFill/>
          <a:ln w="0">
            <a:noFill/>
          </a:ln>
        </p:spPr>
        <p:txBody>
          <a:bodyPr>
            <a:noAutofit/>
          </a:bodyPr>
          <a:lstStyle/>
          <a:p>
            <a:pPr>
              <a:defRPr sz="2175" b="1">
                <a:solidFill>
                  <a:srgbClr val="333399"/>
                </a:solidFill>
                <a:latin typeface="Arial"/>
                <a:ea typeface="Arial"/>
                <a:cs typeface="Arial"/>
              </a:defRPr>
            </a:pPr>
            <a:r>
              <a:rPr sz="2175" b="1">
                <a:solidFill>
                  <a:srgbClr val="333399"/>
                </a:solidFill>
                <a:latin typeface="Arial"/>
                <a:ea typeface="Arial"/>
                <a:cs typeface="Arial"/>
              </a:rPr>
              <a:t>Médiolitoral</a:t>
            </a:r>
          </a:p>
        </p:txBody>
      </p:sp>
      <p:sp>
        <p:nvSpPr>
          <p:cNvPr id="9" name="Retângulo 8">
            <a:extLst>
              <a:ext uri="{FF2B5EF4-FFF2-40B4-BE49-F238E27FC236}">
                <a16:creationId xmlns:a16="http://schemas.microsoft.com/office/drawing/2014/main" id="{C661EFCE-ABF1-4153-BC51-346051746605}"/>
              </a:ext>
            </a:extLst>
          </p:cNvPr>
          <p:cNvSpPr>
            <a:spLocks noGrp="1"/>
          </p:cNvSpPr>
          <p:nvPr/>
        </p:nvSpPr>
        <p:spPr>
          <a:xfrm>
            <a:off x="6772275" y="3419475"/>
            <a:ext cx="4953000" cy="885825"/>
          </a:xfrm>
          <a:prstGeom prst="rect">
            <a:avLst/>
          </a:prstGeom>
          <a:noFill/>
          <a:ln w="0">
            <a:noFill/>
          </a:ln>
        </p:spPr>
        <p:txBody>
          <a:bodyPr>
            <a:noAutofit/>
          </a:bodyPr>
          <a:lstStyle/>
          <a:p>
            <a:pPr>
              <a:defRPr sz="1950" b="0">
                <a:solidFill>
                  <a:srgbClr val="202D40"/>
                </a:solidFill>
                <a:latin typeface="Arial"/>
                <a:ea typeface="Arial"/>
                <a:cs typeface="Arial"/>
              </a:defRPr>
            </a:pPr>
            <a:r>
              <a:rPr sz="1950" b="0">
                <a:solidFill>
                  <a:srgbClr val="202D40"/>
                </a:solidFill>
                <a:latin typeface="Arial"/>
                <a:ea typeface="Arial"/>
                <a:cs typeface="Arial"/>
              </a:rPr>
              <a:t>Alternância de imersão e emersão.</a:t>
            </a:r>
          </a:p>
          <a:p>
            <a:pPr>
              <a:defRPr sz="1950" b="0">
                <a:solidFill>
                  <a:srgbClr val="202D40"/>
                </a:solidFill>
                <a:latin typeface="Arial"/>
                <a:ea typeface="Arial"/>
                <a:cs typeface="Arial"/>
              </a:defRPr>
            </a:pPr>
            <a:r>
              <a:rPr sz="1950" b="0">
                <a:solidFill>
                  <a:srgbClr val="202D40"/>
                </a:solidFill>
                <a:latin typeface="Arial"/>
                <a:ea typeface="Arial"/>
                <a:cs typeface="Arial"/>
              </a:rPr>
              <a:t>Algas verdes e vermelhas no trecho.</a:t>
            </a:r>
          </a:p>
        </p:txBody>
      </p:sp>
      <p:sp>
        <p:nvSpPr>
          <p:cNvPr id="10" name="Retângulo 9">
            <a:extLst>
              <a:ext uri="{FF2B5EF4-FFF2-40B4-BE49-F238E27FC236}">
                <a16:creationId xmlns:a16="http://schemas.microsoft.com/office/drawing/2014/main" id="{A7E1DA67-5484-45C4-8053-58838D5A1317}"/>
              </a:ext>
            </a:extLst>
          </p:cNvPr>
          <p:cNvSpPr>
            <a:spLocks noGrp="1"/>
          </p:cNvSpPr>
          <p:nvPr/>
        </p:nvSpPr>
        <p:spPr>
          <a:xfrm>
            <a:off x="6772275" y="4619625"/>
            <a:ext cx="4953000" cy="419100"/>
          </a:xfrm>
          <a:prstGeom prst="rect">
            <a:avLst/>
          </a:prstGeom>
          <a:noFill/>
          <a:ln w="0">
            <a:noFill/>
          </a:ln>
        </p:spPr>
        <p:txBody>
          <a:bodyPr>
            <a:noAutofit/>
          </a:bodyPr>
          <a:lstStyle/>
          <a:p>
            <a:pPr>
              <a:defRPr sz="2175" b="1">
                <a:solidFill>
                  <a:srgbClr val="333399"/>
                </a:solidFill>
                <a:latin typeface="Arial"/>
                <a:ea typeface="Arial"/>
                <a:cs typeface="Arial"/>
              </a:defRPr>
            </a:pPr>
            <a:r>
              <a:rPr sz="2175" b="1">
                <a:solidFill>
                  <a:srgbClr val="333399"/>
                </a:solidFill>
                <a:latin typeface="Arial"/>
                <a:ea typeface="Arial"/>
                <a:cs typeface="Arial"/>
              </a:rPr>
              <a:t>Infralitoral</a:t>
            </a:r>
          </a:p>
        </p:txBody>
      </p:sp>
      <p:sp>
        <p:nvSpPr>
          <p:cNvPr id="11" name="Retângulo 10">
            <a:extLst>
              <a:ext uri="{FF2B5EF4-FFF2-40B4-BE49-F238E27FC236}">
                <a16:creationId xmlns:a16="http://schemas.microsoft.com/office/drawing/2014/main" id="{8210FCA8-1896-4F85-B1F7-6A5FA2A6F9A0}"/>
              </a:ext>
            </a:extLst>
          </p:cNvPr>
          <p:cNvSpPr>
            <a:spLocks noGrp="1"/>
          </p:cNvSpPr>
          <p:nvPr/>
        </p:nvSpPr>
        <p:spPr>
          <a:xfrm>
            <a:off x="6772275" y="5124450"/>
            <a:ext cx="4953000" cy="885825"/>
          </a:xfrm>
          <a:prstGeom prst="rect">
            <a:avLst/>
          </a:prstGeom>
          <a:noFill/>
          <a:ln w="0">
            <a:noFill/>
          </a:ln>
        </p:spPr>
        <p:txBody>
          <a:bodyPr>
            <a:noAutofit/>
          </a:bodyPr>
          <a:lstStyle/>
          <a:p>
            <a:pPr>
              <a:defRPr sz="1950" b="0">
                <a:solidFill>
                  <a:srgbClr val="202D40"/>
                </a:solidFill>
                <a:latin typeface="Arial"/>
                <a:ea typeface="Arial"/>
                <a:cs typeface="Arial"/>
              </a:defRPr>
            </a:pPr>
            <a:r>
              <a:rPr sz="1950" b="0">
                <a:solidFill>
                  <a:srgbClr val="202D40"/>
                </a:solidFill>
                <a:latin typeface="Arial"/>
                <a:ea typeface="Arial"/>
                <a:cs typeface="Arial"/>
              </a:rPr>
              <a:t>Submersão reduz a dessecação.</a:t>
            </a:r>
          </a:p>
          <a:p>
            <a:pPr>
              <a:defRPr sz="1950" b="0">
                <a:solidFill>
                  <a:srgbClr val="202D40"/>
                </a:solidFill>
                <a:latin typeface="Arial"/>
                <a:ea typeface="Arial"/>
                <a:cs typeface="Arial"/>
              </a:defRPr>
            </a:pPr>
            <a:r>
              <a:rPr sz="1950" b="0">
                <a:solidFill>
                  <a:srgbClr val="202D40"/>
                </a:solidFill>
                <a:latin typeface="Arial"/>
                <a:ea typeface="Arial"/>
                <a:cs typeface="Arial"/>
              </a:rPr>
              <a:t>Formas maiores no relato visual.</a:t>
            </a:r>
          </a:p>
        </p:txBody>
      </p:sp>
      <p:sp>
        <p:nvSpPr>
          <p:cNvPr id="12" name="Retângulo 11">
            <a:extLst>
              <a:ext uri="{FF2B5EF4-FFF2-40B4-BE49-F238E27FC236}">
                <a16:creationId xmlns:a16="http://schemas.microsoft.com/office/drawing/2014/main" id="{90F261CF-6B99-4358-B172-375078A6D0B5}"/>
              </a:ext>
            </a:extLst>
          </p:cNvPr>
          <p:cNvSpPr>
            <a:spLocks noGrp="1"/>
          </p:cNvSpPr>
          <p:nvPr/>
        </p:nvSpPr>
        <p:spPr>
          <a:xfrm>
            <a:off x="552450" y="6067425"/>
            <a:ext cx="10858500" cy="323850"/>
          </a:xfrm>
          <a:prstGeom prst="rect">
            <a:avLst/>
          </a:prstGeom>
          <a:noFill/>
          <a:ln w="0">
            <a:noFill/>
          </a:ln>
        </p:spPr>
        <p:txBody>
          <a:bodyPr>
            <a:noAutofit/>
          </a:bodyPr>
          <a:lstStyle/>
          <a:p>
            <a:pPr>
              <a:defRPr sz="1650" b="0">
                <a:solidFill>
                  <a:srgbClr val="202D40"/>
                </a:solidFill>
                <a:latin typeface="Arial"/>
                <a:ea typeface="Arial"/>
                <a:cs typeface="Arial"/>
              </a:defRPr>
            </a:pPr>
            <a:r>
              <a:rPr sz="1650" b="0">
                <a:solidFill>
                  <a:srgbClr val="202D40"/>
                </a:solidFill>
                <a:latin typeface="Arial"/>
                <a:ea typeface="Arial"/>
                <a:cs typeface="Arial"/>
              </a:rPr>
              <a:t>Foto do médiolitoral. A observação do infralitoral não tem registro subaquático.</a:t>
            </a:r>
          </a:p>
        </p:txBody>
      </p:sp>
    </p:spTree>
    <p:extLst>
      <p:ext uri="{BB962C8B-B14F-4D97-AF65-F5344CB8AC3E}">
        <p14:creationId xmlns:p14="http://schemas.microsoft.com/office/powerpoint/2010/main" val="13127406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Retângulo 11">
            <a:extLst>
              <a:ext uri="{FF2B5EF4-FFF2-40B4-BE49-F238E27FC236}">
                <a16:creationId xmlns:a16="http://schemas.microsoft.com/office/drawing/2014/main" id="{12C59C1D-1D2E-40D1-BC09-67863FE1DB04}"/>
              </a:ext>
            </a:extLst>
          </p:cNvPr>
          <p:cNvSpPr>
            <a:spLocks noGrp="1"/>
          </p:cNvSpPr>
          <p:nvPr/>
        </p:nvSpPr>
        <p:spPr>
          <a:xfrm>
            <a:off x="0" y="0"/>
            <a:ext cx="12192000" cy="781050"/>
          </a:xfrm>
          <a:prstGeom prst="rect">
            <a:avLst/>
          </a:prstGeom>
          <a:solidFill>
            <a:srgbClr val="333399"/>
          </a:solidFill>
          <a:ln w="0">
            <a:noFill/>
          </a:ln>
        </p:spPr>
        <p:txBody>
          <a:bodyPr>
            <a:noAutofit/>
          </a:bodyPr>
          <a:lstStyle/>
          <a:p>
            <a:pPr>
              <a:defRPr sz="2925" b="0">
                <a:solidFill>
                  <a:srgbClr val="FFFFFF"/>
                </a:solidFill>
                <a:latin typeface="Arial"/>
                <a:ea typeface="Arial"/>
                <a:cs typeface="Arial"/>
              </a:defRPr>
            </a:pPr>
            <a:r>
              <a:rPr sz="2925" b="0">
                <a:solidFill>
                  <a:srgbClr val="FFFFFF"/>
                </a:solidFill>
                <a:latin typeface="Arial"/>
                <a:ea typeface="Arial"/>
                <a:cs typeface="Arial"/>
              </a:rPr>
              <a:t>Discussão: talos e condições ambientais</a:t>
            </a:r>
          </a:p>
        </p:txBody>
      </p:sp>
      <p:sp>
        <p:nvSpPr>
          <p:cNvPr id="2" name="Retângulo 1">
            <a:extLst>
              <a:ext uri="{FF2B5EF4-FFF2-40B4-BE49-F238E27FC236}">
                <a16:creationId xmlns:a16="http://schemas.microsoft.com/office/drawing/2014/main" id="{C902482A-3BD5-42D4-8494-DB0248DBB508}"/>
              </a:ext>
            </a:extLst>
          </p:cNvPr>
          <p:cNvSpPr>
            <a:spLocks noGrp="1"/>
          </p:cNvSpPr>
          <p:nvPr/>
        </p:nvSpPr>
        <p:spPr>
          <a:xfrm>
            <a:off x="0" y="6496050"/>
            <a:ext cx="2428875" cy="361950"/>
          </a:xfrm>
          <a:prstGeom prst="rect">
            <a:avLst/>
          </a:prstGeom>
          <a:solidFill>
            <a:srgbClr val="252572"/>
          </a:solidFill>
          <a:ln w="0">
            <a:noFill/>
          </a:ln>
        </p:spPr>
        <p:txBody>
          <a:bodyPr>
            <a:noAutofit/>
          </a:bodyPr>
          <a:lstStyle/>
          <a:p>
            <a:pPr>
              <a:defRPr sz="1350" b="0">
                <a:solidFill>
                  <a:srgbClr val="FFFFFF"/>
                </a:solidFill>
                <a:latin typeface="Arial"/>
                <a:ea typeface="Arial"/>
                <a:cs typeface="Arial"/>
              </a:defRPr>
            </a:pPr>
            <a:r>
              <a:rPr sz="1350" b="0">
                <a:solidFill>
                  <a:srgbClr val="FFFFFF"/>
                </a:solidFill>
                <a:latin typeface="Arial"/>
                <a:ea typeface="Arial"/>
                <a:cs typeface="Arial"/>
              </a:rPr>
              <a:t>UERJ</a:t>
            </a:r>
          </a:p>
        </p:txBody>
      </p:sp>
      <p:sp>
        <p:nvSpPr>
          <p:cNvPr id="3" name="Retângulo 2">
            <a:extLst>
              <a:ext uri="{FF2B5EF4-FFF2-40B4-BE49-F238E27FC236}">
                <a16:creationId xmlns:a16="http://schemas.microsoft.com/office/drawing/2014/main" id="{89F0DECD-0B86-4DEA-A92C-03976464B098}"/>
              </a:ext>
            </a:extLst>
          </p:cNvPr>
          <p:cNvSpPr>
            <a:spLocks noGrp="1"/>
          </p:cNvSpPr>
          <p:nvPr/>
        </p:nvSpPr>
        <p:spPr>
          <a:xfrm>
            <a:off x="2428875" y="6496050"/>
            <a:ext cx="6953250" cy="361950"/>
          </a:xfrm>
          <a:prstGeom prst="rect">
            <a:avLst/>
          </a:prstGeom>
          <a:solidFill>
            <a:srgbClr val="333399"/>
          </a:solidFill>
          <a:ln w="0">
            <a:noFill/>
          </a:ln>
        </p:spPr>
        <p:txBody>
          <a:bodyPr>
            <a:noAutofit/>
          </a:bodyPr>
          <a:lstStyle/>
          <a:p>
            <a:pPr>
              <a:defRPr sz="1350" b="0">
                <a:solidFill>
                  <a:srgbClr val="FFFFFF"/>
                </a:solidFill>
                <a:latin typeface="Arial"/>
                <a:ea typeface="Arial"/>
                <a:cs typeface="Arial"/>
              </a:defRPr>
            </a:pPr>
            <a:r>
              <a:rPr sz="1350" b="0">
                <a:solidFill>
                  <a:srgbClr val="FFFFFF"/>
                </a:solidFill>
                <a:latin typeface="Arial"/>
                <a:ea typeface="Arial"/>
                <a:cs typeface="Arial"/>
              </a:rPr>
              <a:t>Macroalgas da Praia Vermelha</a:t>
            </a:r>
          </a:p>
        </p:txBody>
      </p:sp>
      <p:sp>
        <p:nvSpPr>
          <p:cNvPr id="4" name="Retângulo 3">
            <a:extLst>
              <a:ext uri="{FF2B5EF4-FFF2-40B4-BE49-F238E27FC236}">
                <a16:creationId xmlns:a16="http://schemas.microsoft.com/office/drawing/2014/main" id="{A99CF6BC-461B-4138-A908-DF5783AE679D}"/>
              </a:ext>
            </a:extLst>
          </p:cNvPr>
          <p:cNvSpPr>
            <a:spLocks noGrp="1"/>
          </p:cNvSpPr>
          <p:nvPr/>
        </p:nvSpPr>
        <p:spPr>
          <a:xfrm>
            <a:off x="9382125" y="6496050"/>
            <a:ext cx="2809875" cy="361950"/>
          </a:xfrm>
          <a:prstGeom prst="rect">
            <a:avLst/>
          </a:prstGeom>
          <a:solidFill>
            <a:srgbClr val="5151AE"/>
          </a:solidFill>
          <a:ln w="0">
            <a:noFill/>
          </a:ln>
        </p:spPr>
        <p:txBody>
          <a:bodyPr>
            <a:noAutofit/>
          </a:bodyPr>
          <a:lstStyle/>
          <a:p>
            <a:pPr>
              <a:defRPr sz="1275" b="0">
                <a:solidFill>
                  <a:srgbClr val="FFFFFF"/>
                </a:solidFill>
                <a:latin typeface="Arial"/>
                <a:ea typeface="Arial"/>
                <a:cs typeface="Arial"/>
              </a:defRPr>
            </a:pPr>
            <a:r>
              <a:rPr sz="1275" b="0">
                <a:solidFill>
                  <a:srgbClr val="FFFFFF"/>
                </a:solidFill>
                <a:latin typeface="Arial"/>
                <a:ea typeface="Arial"/>
                <a:cs typeface="Arial"/>
              </a:rPr>
              <a:t>Discussão     17/20</a:t>
            </a:r>
          </a:p>
        </p:txBody>
      </p:sp>
      <p:sp>
        <p:nvSpPr>
          <p:cNvPr id="5" name="Retângulo 4">
            <a:extLst>
              <a:ext uri="{FF2B5EF4-FFF2-40B4-BE49-F238E27FC236}">
                <a16:creationId xmlns:a16="http://schemas.microsoft.com/office/drawing/2014/main" id="{A5CE746D-E433-498A-8428-5F300D84ECEC}"/>
              </a:ext>
            </a:extLst>
          </p:cNvPr>
          <p:cNvSpPr>
            <a:spLocks noGrp="1"/>
          </p:cNvSpPr>
          <p:nvPr/>
        </p:nvSpPr>
        <p:spPr>
          <a:xfrm>
            <a:off x="838200" y="1285875"/>
            <a:ext cx="10477500" cy="533400"/>
          </a:xfrm>
          <a:prstGeom prst="rect">
            <a:avLst/>
          </a:prstGeom>
          <a:noFill/>
          <a:ln w="0">
            <a:noFill/>
          </a:ln>
        </p:spPr>
        <p:txBody>
          <a:bodyPr>
            <a:noAutofit/>
          </a:bodyPr>
          <a:lstStyle/>
          <a:p>
            <a:pPr>
              <a:defRPr sz="2550" b="1">
                <a:solidFill>
                  <a:srgbClr val="333399"/>
                </a:solidFill>
                <a:latin typeface="Arial"/>
                <a:ea typeface="Arial"/>
                <a:cs typeface="Arial"/>
              </a:defRPr>
            </a:pPr>
            <a:r>
              <a:rPr sz="2550" b="1">
                <a:solidFill>
                  <a:srgbClr val="333399"/>
                </a:solidFill>
                <a:latin typeface="Arial"/>
                <a:ea typeface="Arial"/>
                <a:cs typeface="Arial"/>
              </a:rPr>
              <a:t>Talos flexíveis, foliáceos e ramificados</a:t>
            </a:r>
          </a:p>
        </p:txBody>
      </p:sp>
      <p:sp>
        <p:nvSpPr>
          <p:cNvPr id="6" name="Retângulo 5">
            <a:extLst>
              <a:ext uri="{FF2B5EF4-FFF2-40B4-BE49-F238E27FC236}">
                <a16:creationId xmlns:a16="http://schemas.microsoft.com/office/drawing/2014/main" id="{1D547FB6-F2A5-4B4C-8C6B-3C3A5C9A2CE8}"/>
              </a:ext>
            </a:extLst>
          </p:cNvPr>
          <p:cNvSpPr>
            <a:spLocks noGrp="1"/>
          </p:cNvSpPr>
          <p:nvPr/>
        </p:nvSpPr>
        <p:spPr>
          <a:xfrm>
            <a:off x="838200" y="1885950"/>
            <a:ext cx="10477500" cy="904875"/>
          </a:xfrm>
          <a:prstGeom prst="rect">
            <a:avLst/>
          </a:prstGeom>
          <a:noFill/>
          <a:ln w="0">
            <a:noFill/>
          </a:ln>
        </p:spPr>
        <p:txBody>
          <a:bodyPr>
            <a:noAutofit/>
          </a:bodyPr>
          <a:lstStyle/>
          <a:p>
            <a:pPr>
              <a:defRPr sz="2100" b="0">
                <a:solidFill>
                  <a:srgbClr val="202D40"/>
                </a:solidFill>
                <a:latin typeface="Arial"/>
                <a:ea typeface="Arial"/>
                <a:cs typeface="Arial"/>
              </a:defRPr>
            </a:pPr>
            <a:r>
              <a:rPr sz="2100" b="0">
                <a:solidFill>
                  <a:srgbClr val="202D40"/>
                </a:solidFill>
                <a:latin typeface="Arial"/>
                <a:ea typeface="Arial"/>
                <a:cs typeface="Arial"/>
              </a:rPr>
              <a:t>Podem se deformar com o movimento da água.</a:t>
            </a:r>
          </a:p>
          <a:p>
            <a:pPr>
              <a:defRPr sz="2100" b="0">
                <a:solidFill>
                  <a:srgbClr val="202D40"/>
                </a:solidFill>
                <a:latin typeface="Arial"/>
                <a:ea typeface="Arial"/>
                <a:cs typeface="Arial"/>
              </a:defRPr>
            </a:pPr>
            <a:r>
              <a:rPr sz="2100" b="0">
                <a:solidFill>
                  <a:srgbClr val="202D40"/>
                </a:solidFill>
                <a:latin typeface="Arial"/>
                <a:ea typeface="Arial"/>
                <a:cs typeface="Arial"/>
              </a:rPr>
              <a:t>A tolerância à emersão depende também de outras características.</a:t>
            </a:r>
          </a:p>
        </p:txBody>
      </p:sp>
      <p:sp>
        <p:nvSpPr>
          <p:cNvPr id="7" name="Retângulo 6">
            <a:extLst>
              <a:ext uri="{FF2B5EF4-FFF2-40B4-BE49-F238E27FC236}">
                <a16:creationId xmlns:a16="http://schemas.microsoft.com/office/drawing/2014/main" id="{BBC9B2C0-3C12-4D1F-90E9-6C635F875803}"/>
              </a:ext>
            </a:extLst>
          </p:cNvPr>
          <p:cNvSpPr>
            <a:spLocks noGrp="1"/>
          </p:cNvSpPr>
          <p:nvPr/>
        </p:nvSpPr>
        <p:spPr>
          <a:xfrm>
            <a:off x="838200" y="3124200"/>
            <a:ext cx="10477500" cy="533400"/>
          </a:xfrm>
          <a:prstGeom prst="rect">
            <a:avLst/>
          </a:prstGeom>
          <a:noFill/>
          <a:ln w="0">
            <a:noFill/>
          </a:ln>
        </p:spPr>
        <p:txBody>
          <a:bodyPr>
            <a:noAutofit/>
          </a:bodyPr>
          <a:lstStyle/>
          <a:p>
            <a:pPr>
              <a:defRPr sz="2550" b="1">
                <a:solidFill>
                  <a:srgbClr val="333399"/>
                </a:solidFill>
                <a:latin typeface="Arial"/>
                <a:ea typeface="Arial"/>
                <a:cs typeface="Arial"/>
              </a:defRPr>
            </a:pPr>
            <a:r>
              <a:rPr sz="2550" b="1">
                <a:solidFill>
                  <a:srgbClr val="333399"/>
                </a:solidFill>
                <a:latin typeface="Arial"/>
                <a:ea typeface="Arial"/>
                <a:cs typeface="Arial"/>
              </a:rPr>
              <a:t>Talos crostosos e calcificados</a:t>
            </a:r>
          </a:p>
        </p:txBody>
      </p:sp>
      <p:sp>
        <p:nvSpPr>
          <p:cNvPr id="8" name="Retângulo 7">
            <a:extLst>
              <a:ext uri="{FF2B5EF4-FFF2-40B4-BE49-F238E27FC236}">
                <a16:creationId xmlns:a16="http://schemas.microsoft.com/office/drawing/2014/main" id="{08F7D0CE-2334-43FB-9479-E8AA6AF38480}"/>
              </a:ext>
            </a:extLst>
          </p:cNvPr>
          <p:cNvSpPr>
            <a:spLocks noGrp="1"/>
          </p:cNvSpPr>
          <p:nvPr/>
        </p:nvSpPr>
        <p:spPr>
          <a:xfrm>
            <a:off x="838200" y="3724275"/>
            <a:ext cx="10477500" cy="904875"/>
          </a:xfrm>
          <a:prstGeom prst="rect">
            <a:avLst/>
          </a:prstGeom>
          <a:noFill/>
          <a:ln w="0">
            <a:noFill/>
          </a:ln>
        </p:spPr>
        <p:txBody>
          <a:bodyPr>
            <a:noAutofit/>
          </a:bodyPr>
          <a:lstStyle/>
          <a:p>
            <a:pPr>
              <a:defRPr sz="2100" b="0">
                <a:solidFill>
                  <a:srgbClr val="202D40"/>
                </a:solidFill>
                <a:latin typeface="Arial"/>
                <a:ea typeface="Arial"/>
                <a:cs typeface="Arial"/>
              </a:defRPr>
            </a:pPr>
            <a:r>
              <a:rPr sz="2100" b="0">
                <a:solidFill>
                  <a:srgbClr val="202D40"/>
                </a:solidFill>
                <a:latin typeface="Arial"/>
                <a:ea typeface="Arial"/>
                <a:cs typeface="Arial"/>
              </a:rPr>
              <a:t>O grupo os descreveu em trechos umedecidos por respingos.</a:t>
            </a:r>
          </a:p>
          <a:p>
            <a:pPr>
              <a:defRPr sz="2100" b="0">
                <a:solidFill>
                  <a:srgbClr val="202D40"/>
                </a:solidFill>
                <a:latin typeface="Arial"/>
                <a:ea typeface="Arial"/>
                <a:cs typeface="Arial"/>
              </a:defRPr>
            </a:pPr>
            <a:r>
              <a:rPr sz="2100" b="0">
                <a:solidFill>
                  <a:srgbClr val="202D40"/>
                </a:solidFill>
                <a:latin typeface="Arial"/>
                <a:ea typeface="Arial"/>
                <a:cs typeface="Arial"/>
              </a:rPr>
              <a:t>O crescimento junto à rocha ajuda a interpretar sua exposição ao fluxo.</a:t>
            </a:r>
          </a:p>
        </p:txBody>
      </p:sp>
      <p:sp>
        <p:nvSpPr>
          <p:cNvPr id="9" name="Retângulo 8">
            <a:extLst>
              <a:ext uri="{FF2B5EF4-FFF2-40B4-BE49-F238E27FC236}">
                <a16:creationId xmlns:a16="http://schemas.microsoft.com/office/drawing/2014/main" id="{61F3179F-2A6C-42EC-8058-B9A12FBA9292}"/>
              </a:ext>
            </a:extLst>
          </p:cNvPr>
          <p:cNvSpPr>
            <a:spLocks noGrp="1"/>
          </p:cNvSpPr>
          <p:nvPr/>
        </p:nvSpPr>
        <p:spPr>
          <a:xfrm>
            <a:off x="838200" y="4924425"/>
            <a:ext cx="10477500" cy="533400"/>
          </a:xfrm>
          <a:prstGeom prst="rect">
            <a:avLst/>
          </a:prstGeom>
          <a:noFill/>
          <a:ln w="0">
            <a:noFill/>
          </a:ln>
        </p:spPr>
        <p:txBody>
          <a:bodyPr>
            <a:noAutofit/>
          </a:bodyPr>
          <a:lstStyle/>
          <a:p>
            <a:pPr>
              <a:defRPr sz="2550" b="1">
                <a:solidFill>
                  <a:srgbClr val="333399"/>
                </a:solidFill>
                <a:latin typeface="Arial"/>
                <a:ea typeface="Arial"/>
                <a:cs typeface="Arial"/>
              </a:defRPr>
            </a:pPr>
            <a:r>
              <a:rPr sz="2550" b="1">
                <a:solidFill>
                  <a:srgbClr val="333399"/>
                </a:solidFill>
                <a:latin typeface="Arial"/>
                <a:ea typeface="Arial"/>
                <a:cs typeface="Arial"/>
              </a:rPr>
              <a:t>Formas maiores e mais delicadas</a:t>
            </a:r>
          </a:p>
        </p:txBody>
      </p:sp>
      <p:sp>
        <p:nvSpPr>
          <p:cNvPr id="10" name="Retângulo 9">
            <a:extLst>
              <a:ext uri="{FF2B5EF4-FFF2-40B4-BE49-F238E27FC236}">
                <a16:creationId xmlns:a16="http://schemas.microsoft.com/office/drawing/2014/main" id="{B3827C2A-DCBB-4C5F-8EEC-93757F60249D}"/>
              </a:ext>
            </a:extLst>
          </p:cNvPr>
          <p:cNvSpPr>
            <a:spLocks noGrp="1"/>
          </p:cNvSpPr>
          <p:nvPr/>
        </p:nvSpPr>
        <p:spPr>
          <a:xfrm>
            <a:off x="838200" y="5524500"/>
            <a:ext cx="10477500" cy="609600"/>
          </a:xfrm>
          <a:prstGeom prst="rect">
            <a:avLst/>
          </a:prstGeom>
          <a:noFill/>
          <a:ln w="0">
            <a:noFill/>
          </a:ln>
        </p:spPr>
        <p:txBody>
          <a:bodyPr>
            <a:noAutofit/>
          </a:bodyPr>
          <a:lstStyle/>
          <a:p>
            <a:pPr>
              <a:defRPr sz="2100" b="0">
                <a:solidFill>
                  <a:srgbClr val="202D40"/>
                </a:solidFill>
                <a:latin typeface="Arial"/>
                <a:ea typeface="Arial"/>
                <a:cs typeface="Arial"/>
              </a:defRPr>
            </a:pPr>
            <a:r>
              <a:rPr sz="2100" b="0">
                <a:solidFill>
                  <a:srgbClr val="202D40"/>
                </a:solidFill>
                <a:latin typeface="Arial"/>
                <a:ea typeface="Arial"/>
                <a:cs typeface="Arial"/>
              </a:rPr>
              <a:t>O relato do infralitoral é compatível com menor risco de dessecação.</a:t>
            </a:r>
          </a:p>
        </p:txBody>
      </p:sp>
      <p:sp>
        <p:nvSpPr>
          <p:cNvPr id="11" name="Retângulo 10">
            <a:extLst>
              <a:ext uri="{FF2B5EF4-FFF2-40B4-BE49-F238E27FC236}">
                <a16:creationId xmlns:a16="http://schemas.microsoft.com/office/drawing/2014/main" id="{631E4E28-13E7-4ACE-974F-0CBEE89BE568}"/>
              </a:ext>
            </a:extLst>
          </p:cNvPr>
          <p:cNvSpPr>
            <a:spLocks noGrp="1"/>
          </p:cNvSpPr>
          <p:nvPr/>
        </p:nvSpPr>
        <p:spPr>
          <a:xfrm>
            <a:off x="838200" y="6181725"/>
            <a:ext cx="10477500" cy="266700"/>
          </a:xfrm>
          <a:prstGeom prst="rect">
            <a:avLst/>
          </a:prstGeom>
          <a:noFill/>
          <a:ln w="0">
            <a:noFill/>
          </a:ln>
        </p:spPr>
        <p:txBody>
          <a:bodyPr>
            <a:noAutofit/>
          </a:bodyPr>
          <a:lstStyle/>
          <a:p>
            <a:pPr>
              <a:defRPr sz="1575" b="0">
                <a:solidFill>
                  <a:srgbClr val="202D40"/>
                </a:solidFill>
                <a:latin typeface="Arial"/>
                <a:ea typeface="Arial"/>
                <a:cs typeface="Arial"/>
              </a:defRPr>
            </a:pPr>
            <a:r>
              <a:rPr sz="1575" b="0">
                <a:solidFill>
                  <a:srgbClr val="202D40"/>
                </a:solidFill>
                <a:latin typeface="Arial"/>
                <a:ea typeface="Arial"/>
                <a:cs typeface="Arial"/>
              </a:rPr>
              <a:t>Relações interpretativas. A atividade não testou os mecanismos de adaptação.</a:t>
            </a:r>
          </a:p>
        </p:txBody>
      </p:sp>
    </p:spTree>
    <p:extLst>
      <p:ext uri="{BB962C8B-B14F-4D97-AF65-F5344CB8AC3E}">
        <p14:creationId xmlns:p14="http://schemas.microsoft.com/office/powerpoint/2010/main" val="16309223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tângulo 10">
            <a:extLst>
              <a:ext uri="{FF2B5EF4-FFF2-40B4-BE49-F238E27FC236}">
                <a16:creationId xmlns:a16="http://schemas.microsoft.com/office/drawing/2014/main" id="{ACF4B5DD-7C10-44D2-8FD9-B5780862B15E}"/>
              </a:ext>
            </a:extLst>
          </p:cNvPr>
          <p:cNvSpPr>
            <a:spLocks noGrp="1"/>
          </p:cNvSpPr>
          <p:nvPr/>
        </p:nvSpPr>
        <p:spPr>
          <a:xfrm>
            <a:off x="0" y="0"/>
            <a:ext cx="12192000" cy="781050"/>
          </a:xfrm>
          <a:prstGeom prst="rect">
            <a:avLst/>
          </a:prstGeom>
          <a:solidFill>
            <a:srgbClr val="333399"/>
          </a:solidFill>
          <a:ln w="0">
            <a:noFill/>
          </a:ln>
        </p:spPr>
        <p:txBody>
          <a:bodyPr>
            <a:noAutofit/>
          </a:bodyPr>
          <a:lstStyle/>
          <a:p>
            <a:pPr>
              <a:defRPr sz="2925" b="0">
                <a:solidFill>
                  <a:srgbClr val="FFFFFF"/>
                </a:solidFill>
                <a:latin typeface="Arial"/>
                <a:ea typeface="Arial"/>
                <a:cs typeface="Arial"/>
              </a:defRPr>
            </a:pPr>
            <a:r>
              <a:rPr sz="2925" b="0">
                <a:solidFill>
                  <a:srgbClr val="FFFFFF"/>
                </a:solidFill>
                <a:latin typeface="Arial"/>
                <a:ea typeface="Arial"/>
                <a:cs typeface="Arial"/>
              </a:rPr>
              <a:t>Conclusão</a:t>
            </a:r>
          </a:p>
        </p:txBody>
      </p:sp>
      <p:sp>
        <p:nvSpPr>
          <p:cNvPr id="2" name="Retângulo 1">
            <a:extLst>
              <a:ext uri="{FF2B5EF4-FFF2-40B4-BE49-F238E27FC236}">
                <a16:creationId xmlns:a16="http://schemas.microsoft.com/office/drawing/2014/main" id="{09AE76FF-3E20-474E-B5A4-61F35AC80EAB}"/>
              </a:ext>
            </a:extLst>
          </p:cNvPr>
          <p:cNvSpPr>
            <a:spLocks noGrp="1"/>
          </p:cNvSpPr>
          <p:nvPr/>
        </p:nvSpPr>
        <p:spPr>
          <a:xfrm>
            <a:off x="0" y="6496050"/>
            <a:ext cx="2428875" cy="361950"/>
          </a:xfrm>
          <a:prstGeom prst="rect">
            <a:avLst/>
          </a:prstGeom>
          <a:solidFill>
            <a:srgbClr val="252572"/>
          </a:solidFill>
          <a:ln w="0">
            <a:noFill/>
          </a:ln>
        </p:spPr>
        <p:txBody>
          <a:bodyPr>
            <a:noAutofit/>
          </a:bodyPr>
          <a:lstStyle/>
          <a:p>
            <a:pPr>
              <a:defRPr sz="1350" b="0">
                <a:solidFill>
                  <a:srgbClr val="FFFFFF"/>
                </a:solidFill>
                <a:latin typeface="Arial"/>
                <a:ea typeface="Arial"/>
                <a:cs typeface="Arial"/>
              </a:defRPr>
            </a:pPr>
            <a:r>
              <a:rPr sz="1350" b="0">
                <a:solidFill>
                  <a:srgbClr val="FFFFFF"/>
                </a:solidFill>
                <a:latin typeface="Arial"/>
                <a:ea typeface="Arial"/>
                <a:cs typeface="Arial"/>
              </a:rPr>
              <a:t>UERJ</a:t>
            </a:r>
          </a:p>
        </p:txBody>
      </p:sp>
      <p:sp>
        <p:nvSpPr>
          <p:cNvPr id="3" name="Retângulo 2">
            <a:extLst>
              <a:ext uri="{FF2B5EF4-FFF2-40B4-BE49-F238E27FC236}">
                <a16:creationId xmlns:a16="http://schemas.microsoft.com/office/drawing/2014/main" id="{8E091FEE-8040-444F-8561-48DDB1FF0B79}"/>
              </a:ext>
            </a:extLst>
          </p:cNvPr>
          <p:cNvSpPr>
            <a:spLocks noGrp="1"/>
          </p:cNvSpPr>
          <p:nvPr/>
        </p:nvSpPr>
        <p:spPr>
          <a:xfrm>
            <a:off x="2428875" y="6496050"/>
            <a:ext cx="6953250" cy="361950"/>
          </a:xfrm>
          <a:prstGeom prst="rect">
            <a:avLst/>
          </a:prstGeom>
          <a:solidFill>
            <a:srgbClr val="333399"/>
          </a:solidFill>
          <a:ln w="0">
            <a:noFill/>
          </a:ln>
        </p:spPr>
        <p:txBody>
          <a:bodyPr>
            <a:noAutofit/>
          </a:bodyPr>
          <a:lstStyle/>
          <a:p>
            <a:pPr>
              <a:defRPr sz="1350" b="0">
                <a:solidFill>
                  <a:srgbClr val="FFFFFF"/>
                </a:solidFill>
                <a:latin typeface="Arial"/>
                <a:ea typeface="Arial"/>
                <a:cs typeface="Arial"/>
              </a:defRPr>
            </a:pPr>
            <a:r>
              <a:rPr sz="1350" b="0">
                <a:solidFill>
                  <a:srgbClr val="FFFFFF"/>
                </a:solidFill>
                <a:latin typeface="Arial"/>
                <a:ea typeface="Arial"/>
                <a:cs typeface="Arial"/>
              </a:rPr>
              <a:t>Macroalgas da Praia Vermelha</a:t>
            </a:r>
          </a:p>
        </p:txBody>
      </p:sp>
      <p:sp>
        <p:nvSpPr>
          <p:cNvPr id="4" name="Retângulo 3">
            <a:extLst>
              <a:ext uri="{FF2B5EF4-FFF2-40B4-BE49-F238E27FC236}">
                <a16:creationId xmlns:a16="http://schemas.microsoft.com/office/drawing/2014/main" id="{866F66A5-6F76-40F9-BF5A-64C672274F70}"/>
              </a:ext>
            </a:extLst>
          </p:cNvPr>
          <p:cNvSpPr>
            <a:spLocks noGrp="1"/>
          </p:cNvSpPr>
          <p:nvPr/>
        </p:nvSpPr>
        <p:spPr>
          <a:xfrm>
            <a:off x="9382125" y="6496050"/>
            <a:ext cx="2809875" cy="361950"/>
          </a:xfrm>
          <a:prstGeom prst="rect">
            <a:avLst/>
          </a:prstGeom>
          <a:solidFill>
            <a:srgbClr val="5151AE"/>
          </a:solidFill>
          <a:ln w="0">
            <a:noFill/>
          </a:ln>
        </p:spPr>
        <p:txBody>
          <a:bodyPr>
            <a:noAutofit/>
          </a:bodyPr>
          <a:lstStyle/>
          <a:p>
            <a:pPr>
              <a:defRPr sz="1275" b="0">
                <a:solidFill>
                  <a:srgbClr val="FFFFFF"/>
                </a:solidFill>
                <a:latin typeface="Arial"/>
                <a:ea typeface="Arial"/>
                <a:cs typeface="Arial"/>
              </a:defRPr>
            </a:pPr>
            <a:r>
              <a:rPr sz="1275" b="0">
                <a:solidFill>
                  <a:srgbClr val="FFFFFF"/>
                </a:solidFill>
                <a:latin typeface="Arial"/>
                <a:ea typeface="Arial"/>
                <a:cs typeface="Arial"/>
              </a:rPr>
              <a:t>Conclusão     18/20</a:t>
            </a:r>
          </a:p>
        </p:txBody>
      </p:sp>
      <p:sp>
        <p:nvSpPr>
          <p:cNvPr id="5" name="Retângulo 4">
            <a:extLst>
              <a:ext uri="{FF2B5EF4-FFF2-40B4-BE49-F238E27FC236}">
                <a16:creationId xmlns:a16="http://schemas.microsoft.com/office/drawing/2014/main" id="{B3748A19-50C7-404B-A22A-0155EC89D499}"/>
              </a:ext>
            </a:extLst>
          </p:cNvPr>
          <p:cNvSpPr>
            <a:spLocks noGrp="1"/>
          </p:cNvSpPr>
          <p:nvPr/>
        </p:nvSpPr>
        <p:spPr>
          <a:xfrm>
            <a:off x="838200" y="1333500"/>
            <a:ext cx="10477500" cy="542925"/>
          </a:xfrm>
          <a:prstGeom prst="rect">
            <a:avLst/>
          </a:prstGeom>
          <a:noFill/>
          <a:ln w="0">
            <a:noFill/>
          </a:ln>
        </p:spPr>
        <p:txBody>
          <a:bodyPr>
            <a:noAutofit/>
          </a:bodyPr>
          <a:lstStyle/>
          <a:p>
            <a:pPr>
              <a:defRPr sz="2550" b="1">
                <a:solidFill>
                  <a:srgbClr val="333399"/>
                </a:solidFill>
                <a:latin typeface="Arial"/>
                <a:ea typeface="Arial"/>
                <a:cs typeface="Arial"/>
              </a:defRPr>
            </a:pPr>
            <a:r>
              <a:rPr sz="2550" b="1">
                <a:solidFill>
                  <a:srgbClr val="333399"/>
                </a:solidFill>
                <a:latin typeface="Arial"/>
                <a:ea typeface="Arial"/>
                <a:cs typeface="Arial"/>
              </a:rPr>
              <a:t>Exposição ao ar e disponibilidade de água</a:t>
            </a:r>
          </a:p>
        </p:txBody>
      </p:sp>
      <p:sp>
        <p:nvSpPr>
          <p:cNvPr id="6" name="Retângulo 5">
            <a:extLst>
              <a:ext uri="{FF2B5EF4-FFF2-40B4-BE49-F238E27FC236}">
                <a16:creationId xmlns:a16="http://schemas.microsoft.com/office/drawing/2014/main" id="{904BB748-C50B-4A58-9FD7-EFA208B522E8}"/>
              </a:ext>
            </a:extLst>
          </p:cNvPr>
          <p:cNvSpPr>
            <a:spLocks noGrp="1"/>
          </p:cNvSpPr>
          <p:nvPr/>
        </p:nvSpPr>
        <p:spPr>
          <a:xfrm>
            <a:off x="838200" y="2000250"/>
            <a:ext cx="10477500" cy="581025"/>
          </a:xfrm>
          <a:prstGeom prst="rect">
            <a:avLst/>
          </a:prstGeom>
          <a:noFill/>
          <a:ln w="0">
            <a:noFill/>
          </a:ln>
        </p:spPr>
        <p:txBody>
          <a:bodyPr>
            <a:noAutofit/>
          </a:bodyPr>
          <a:lstStyle/>
          <a:p>
            <a:pPr>
              <a:defRPr sz="2175" b="0">
                <a:solidFill>
                  <a:srgbClr val="202D40"/>
                </a:solidFill>
                <a:latin typeface="Arial"/>
                <a:ea typeface="Arial"/>
                <a:cs typeface="Arial"/>
              </a:defRPr>
            </a:pPr>
            <a:r>
              <a:rPr sz="2175" b="0">
                <a:solidFill>
                  <a:srgbClr val="202D40"/>
                </a:solidFill>
                <a:latin typeface="Arial"/>
                <a:ea typeface="Arial"/>
                <a:cs typeface="Arial"/>
              </a:rPr>
              <a:t>Ajudam a interpretar a zonação das macroalgas no costão.</a:t>
            </a:r>
          </a:p>
        </p:txBody>
      </p:sp>
      <p:sp>
        <p:nvSpPr>
          <p:cNvPr id="7" name="Retângulo 6">
            <a:extLst>
              <a:ext uri="{FF2B5EF4-FFF2-40B4-BE49-F238E27FC236}">
                <a16:creationId xmlns:a16="http://schemas.microsoft.com/office/drawing/2014/main" id="{AB098F32-8390-4475-8864-13851C2D4289}"/>
              </a:ext>
            </a:extLst>
          </p:cNvPr>
          <p:cNvSpPr>
            <a:spLocks noGrp="1"/>
          </p:cNvSpPr>
          <p:nvPr/>
        </p:nvSpPr>
        <p:spPr>
          <a:xfrm>
            <a:off x="838200" y="3171825"/>
            <a:ext cx="10477500" cy="542925"/>
          </a:xfrm>
          <a:prstGeom prst="rect">
            <a:avLst/>
          </a:prstGeom>
          <a:noFill/>
          <a:ln w="0">
            <a:noFill/>
          </a:ln>
        </p:spPr>
        <p:txBody>
          <a:bodyPr>
            <a:noAutofit/>
          </a:bodyPr>
          <a:lstStyle/>
          <a:p>
            <a:pPr>
              <a:defRPr sz="2550" b="1">
                <a:solidFill>
                  <a:srgbClr val="333399"/>
                </a:solidFill>
                <a:latin typeface="Arial"/>
                <a:ea typeface="Arial"/>
                <a:cs typeface="Arial"/>
              </a:defRPr>
            </a:pPr>
            <a:r>
              <a:rPr sz="2550" b="1">
                <a:solidFill>
                  <a:srgbClr val="333399"/>
                </a:solidFill>
                <a:latin typeface="Arial"/>
                <a:ea typeface="Arial"/>
                <a:cs typeface="Arial"/>
              </a:rPr>
              <a:t>Maior cobertura e variedade aparente</a:t>
            </a:r>
          </a:p>
        </p:txBody>
      </p:sp>
      <p:sp>
        <p:nvSpPr>
          <p:cNvPr id="8" name="Retângulo 7">
            <a:extLst>
              <a:ext uri="{FF2B5EF4-FFF2-40B4-BE49-F238E27FC236}">
                <a16:creationId xmlns:a16="http://schemas.microsoft.com/office/drawing/2014/main" id="{C6AABA68-6B7A-4A2F-9DE4-68231C163B2D}"/>
              </a:ext>
            </a:extLst>
          </p:cNvPr>
          <p:cNvSpPr>
            <a:spLocks noGrp="1"/>
          </p:cNvSpPr>
          <p:nvPr/>
        </p:nvSpPr>
        <p:spPr>
          <a:xfrm>
            <a:off x="838200" y="3838575"/>
            <a:ext cx="10477500" cy="704850"/>
          </a:xfrm>
          <a:prstGeom prst="rect">
            <a:avLst/>
          </a:prstGeom>
          <a:noFill/>
          <a:ln w="0">
            <a:noFill/>
          </a:ln>
        </p:spPr>
        <p:txBody>
          <a:bodyPr>
            <a:noAutofit/>
          </a:bodyPr>
          <a:lstStyle/>
          <a:p>
            <a:pPr>
              <a:defRPr sz="2175" b="0">
                <a:solidFill>
                  <a:srgbClr val="202D40"/>
                </a:solidFill>
                <a:latin typeface="Arial"/>
                <a:ea typeface="Arial"/>
                <a:cs typeface="Arial"/>
              </a:defRPr>
            </a:pPr>
            <a:r>
              <a:rPr sz="2175" b="0">
                <a:solidFill>
                  <a:srgbClr val="202D40"/>
                </a:solidFill>
                <a:latin typeface="Arial"/>
                <a:ea typeface="Arial"/>
                <a:cs typeface="Arial"/>
              </a:rPr>
              <a:t>O grupo relatou esse padrão em direção aos trechos mais úmidos.</a:t>
            </a:r>
          </a:p>
        </p:txBody>
      </p:sp>
      <p:sp>
        <p:nvSpPr>
          <p:cNvPr id="9" name="Retângulo 8">
            <a:extLst>
              <a:ext uri="{FF2B5EF4-FFF2-40B4-BE49-F238E27FC236}">
                <a16:creationId xmlns:a16="http://schemas.microsoft.com/office/drawing/2014/main" id="{08D3E47A-DE07-4F6A-956F-6A1C6F8326B8}"/>
              </a:ext>
            </a:extLst>
          </p:cNvPr>
          <p:cNvSpPr>
            <a:spLocks noGrp="1"/>
          </p:cNvSpPr>
          <p:nvPr/>
        </p:nvSpPr>
        <p:spPr>
          <a:xfrm>
            <a:off x="838200" y="5029200"/>
            <a:ext cx="10477500" cy="542925"/>
          </a:xfrm>
          <a:prstGeom prst="rect">
            <a:avLst/>
          </a:prstGeom>
          <a:noFill/>
          <a:ln w="0">
            <a:noFill/>
          </a:ln>
        </p:spPr>
        <p:txBody>
          <a:bodyPr>
            <a:noAutofit/>
          </a:bodyPr>
          <a:lstStyle/>
          <a:p>
            <a:pPr>
              <a:defRPr sz="2550" b="1">
                <a:solidFill>
                  <a:srgbClr val="333399"/>
                </a:solidFill>
                <a:latin typeface="Arial"/>
                <a:ea typeface="Arial"/>
                <a:cs typeface="Arial"/>
              </a:defRPr>
            </a:pPr>
            <a:r>
              <a:rPr sz="2550" b="1">
                <a:solidFill>
                  <a:srgbClr val="333399"/>
                </a:solidFill>
                <a:latin typeface="Arial"/>
                <a:ea typeface="Arial"/>
                <a:cs typeface="Arial"/>
              </a:rPr>
              <a:t>Diferentes formas de talo no mesmo ambiente</a:t>
            </a:r>
          </a:p>
        </p:txBody>
      </p:sp>
      <p:sp>
        <p:nvSpPr>
          <p:cNvPr id="10" name="Retângulo 9">
            <a:extLst>
              <a:ext uri="{FF2B5EF4-FFF2-40B4-BE49-F238E27FC236}">
                <a16:creationId xmlns:a16="http://schemas.microsoft.com/office/drawing/2014/main" id="{993B698B-4FF4-4256-8AA7-C0A31BDADB22}"/>
              </a:ext>
            </a:extLst>
          </p:cNvPr>
          <p:cNvSpPr>
            <a:spLocks noGrp="1"/>
          </p:cNvSpPr>
          <p:nvPr/>
        </p:nvSpPr>
        <p:spPr>
          <a:xfrm>
            <a:off x="838200" y="5657850"/>
            <a:ext cx="10477500" cy="714375"/>
          </a:xfrm>
          <a:prstGeom prst="rect">
            <a:avLst/>
          </a:prstGeom>
          <a:noFill/>
          <a:ln w="0">
            <a:noFill/>
          </a:ln>
        </p:spPr>
        <p:txBody>
          <a:bodyPr>
            <a:noAutofit/>
          </a:bodyPr>
          <a:lstStyle/>
          <a:p>
            <a:pPr>
              <a:defRPr sz="2025" b="0">
                <a:solidFill>
                  <a:srgbClr val="202D40"/>
                </a:solidFill>
                <a:latin typeface="Arial"/>
                <a:ea typeface="Arial"/>
                <a:cs typeface="Arial"/>
              </a:defRPr>
            </a:pPr>
            <a:r>
              <a:rPr sz="2025" b="0">
                <a:solidFill>
                  <a:srgbClr val="202D40"/>
                </a:solidFill>
                <a:latin typeface="Arial"/>
                <a:ea typeface="Arial"/>
                <a:cs typeface="Arial"/>
              </a:rPr>
              <a:t>As formas observadas permitem discutir relações com a exposição e as ondas.</a:t>
            </a:r>
          </a:p>
        </p:txBody>
      </p:sp>
    </p:spTree>
    <p:extLst>
      <p:ext uri="{BB962C8B-B14F-4D97-AF65-F5344CB8AC3E}">
        <p14:creationId xmlns:p14="http://schemas.microsoft.com/office/powerpoint/2010/main" val="5091935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tângulo 9">
            <a:extLst>
              <a:ext uri="{FF2B5EF4-FFF2-40B4-BE49-F238E27FC236}">
                <a16:creationId xmlns:a16="http://schemas.microsoft.com/office/drawing/2014/main" id="{7BE74D62-EAF2-48D8-93D9-C55C8F4B8CD7}"/>
              </a:ext>
            </a:extLst>
          </p:cNvPr>
          <p:cNvSpPr>
            <a:spLocks noGrp="1"/>
          </p:cNvSpPr>
          <p:nvPr/>
        </p:nvSpPr>
        <p:spPr>
          <a:xfrm>
            <a:off x="0" y="0"/>
            <a:ext cx="12192000" cy="781050"/>
          </a:xfrm>
          <a:prstGeom prst="rect">
            <a:avLst/>
          </a:prstGeom>
          <a:solidFill>
            <a:srgbClr val="333399"/>
          </a:solidFill>
          <a:ln w="0">
            <a:noFill/>
          </a:ln>
        </p:spPr>
        <p:txBody>
          <a:bodyPr>
            <a:noAutofit/>
          </a:bodyPr>
          <a:lstStyle/>
          <a:p>
            <a:pPr>
              <a:defRPr sz="2925" b="0">
                <a:solidFill>
                  <a:srgbClr val="FFFFFF"/>
                </a:solidFill>
                <a:latin typeface="Arial"/>
                <a:ea typeface="Arial"/>
                <a:cs typeface="Arial"/>
              </a:defRPr>
            </a:pPr>
            <a:r>
              <a:rPr sz="2925" b="0">
                <a:solidFill>
                  <a:srgbClr val="FFFFFF"/>
                </a:solidFill>
                <a:latin typeface="Arial"/>
                <a:ea typeface="Arial"/>
                <a:cs typeface="Arial"/>
              </a:rPr>
              <a:t>Fontes e registros</a:t>
            </a:r>
          </a:p>
        </p:txBody>
      </p:sp>
      <p:sp>
        <p:nvSpPr>
          <p:cNvPr id="2" name="Retângulo 1">
            <a:extLst>
              <a:ext uri="{FF2B5EF4-FFF2-40B4-BE49-F238E27FC236}">
                <a16:creationId xmlns:a16="http://schemas.microsoft.com/office/drawing/2014/main" id="{A5C25581-A9E5-4659-A7FF-9726B229A0E7}"/>
              </a:ext>
            </a:extLst>
          </p:cNvPr>
          <p:cNvSpPr>
            <a:spLocks noGrp="1"/>
          </p:cNvSpPr>
          <p:nvPr/>
        </p:nvSpPr>
        <p:spPr>
          <a:xfrm>
            <a:off x="0" y="6496050"/>
            <a:ext cx="2428875" cy="361950"/>
          </a:xfrm>
          <a:prstGeom prst="rect">
            <a:avLst/>
          </a:prstGeom>
          <a:solidFill>
            <a:srgbClr val="252572"/>
          </a:solidFill>
          <a:ln w="0">
            <a:noFill/>
          </a:ln>
        </p:spPr>
        <p:txBody>
          <a:bodyPr>
            <a:noAutofit/>
          </a:bodyPr>
          <a:lstStyle/>
          <a:p>
            <a:pPr>
              <a:defRPr sz="1350" b="0">
                <a:solidFill>
                  <a:srgbClr val="FFFFFF"/>
                </a:solidFill>
                <a:latin typeface="Arial"/>
                <a:ea typeface="Arial"/>
                <a:cs typeface="Arial"/>
              </a:defRPr>
            </a:pPr>
            <a:r>
              <a:rPr sz="1350" b="0">
                <a:solidFill>
                  <a:srgbClr val="FFFFFF"/>
                </a:solidFill>
                <a:latin typeface="Arial"/>
                <a:ea typeface="Arial"/>
                <a:cs typeface="Arial"/>
              </a:rPr>
              <a:t>UERJ</a:t>
            </a:r>
          </a:p>
        </p:txBody>
      </p:sp>
      <p:sp>
        <p:nvSpPr>
          <p:cNvPr id="3" name="Retângulo 2">
            <a:extLst>
              <a:ext uri="{FF2B5EF4-FFF2-40B4-BE49-F238E27FC236}">
                <a16:creationId xmlns:a16="http://schemas.microsoft.com/office/drawing/2014/main" id="{D5061B26-4394-49D9-BE40-341DE2349F02}"/>
              </a:ext>
            </a:extLst>
          </p:cNvPr>
          <p:cNvSpPr>
            <a:spLocks noGrp="1"/>
          </p:cNvSpPr>
          <p:nvPr/>
        </p:nvSpPr>
        <p:spPr>
          <a:xfrm>
            <a:off x="2428875" y="6496050"/>
            <a:ext cx="6953250" cy="361950"/>
          </a:xfrm>
          <a:prstGeom prst="rect">
            <a:avLst/>
          </a:prstGeom>
          <a:solidFill>
            <a:srgbClr val="333399"/>
          </a:solidFill>
          <a:ln w="0">
            <a:noFill/>
          </a:ln>
        </p:spPr>
        <p:txBody>
          <a:bodyPr>
            <a:noAutofit/>
          </a:bodyPr>
          <a:lstStyle/>
          <a:p>
            <a:pPr>
              <a:defRPr sz="1350" b="0">
                <a:solidFill>
                  <a:srgbClr val="FFFFFF"/>
                </a:solidFill>
                <a:latin typeface="Arial"/>
                <a:ea typeface="Arial"/>
                <a:cs typeface="Arial"/>
              </a:defRPr>
            </a:pPr>
            <a:r>
              <a:rPr sz="1350" b="0">
                <a:solidFill>
                  <a:srgbClr val="FFFFFF"/>
                </a:solidFill>
                <a:latin typeface="Arial"/>
                <a:ea typeface="Arial"/>
                <a:cs typeface="Arial"/>
              </a:rPr>
              <a:t>Macroalgas da Praia Vermelha</a:t>
            </a:r>
          </a:p>
        </p:txBody>
      </p:sp>
      <p:sp>
        <p:nvSpPr>
          <p:cNvPr id="4" name="Retângulo 3">
            <a:extLst>
              <a:ext uri="{FF2B5EF4-FFF2-40B4-BE49-F238E27FC236}">
                <a16:creationId xmlns:a16="http://schemas.microsoft.com/office/drawing/2014/main" id="{26F3479E-2B7A-4B0A-B909-F04BF377B12E}"/>
              </a:ext>
            </a:extLst>
          </p:cNvPr>
          <p:cNvSpPr>
            <a:spLocks noGrp="1"/>
          </p:cNvSpPr>
          <p:nvPr/>
        </p:nvSpPr>
        <p:spPr>
          <a:xfrm>
            <a:off x="9382125" y="6496050"/>
            <a:ext cx="2809875" cy="361950"/>
          </a:xfrm>
          <a:prstGeom prst="rect">
            <a:avLst/>
          </a:prstGeom>
          <a:solidFill>
            <a:srgbClr val="5151AE"/>
          </a:solidFill>
          <a:ln w="0">
            <a:noFill/>
          </a:ln>
        </p:spPr>
        <p:txBody>
          <a:bodyPr>
            <a:noAutofit/>
          </a:bodyPr>
          <a:lstStyle/>
          <a:p>
            <a:pPr>
              <a:defRPr sz="1275" b="0">
                <a:solidFill>
                  <a:srgbClr val="FFFFFF"/>
                </a:solidFill>
                <a:latin typeface="Arial"/>
                <a:ea typeface="Arial"/>
                <a:cs typeface="Arial"/>
              </a:defRPr>
            </a:pPr>
            <a:r>
              <a:rPr sz="1275" b="0">
                <a:solidFill>
                  <a:srgbClr val="FFFFFF"/>
                </a:solidFill>
                <a:latin typeface="Arial"/>
                <a:ea typeface="Arial"/>
                <a:cs typeface="Arial"/>
              </a:rPr>
              <a:t>Referências     19/20</a:t>
            </a:r>
          </a:p>
        </p:txBody>
      </p:sp>
      <p:sp>
        <p:nvSpPr>
          <p:cNvPr id="5" name="Retângulo 4">
            <a:extLst>
              <a:ext uri="{FF2B5EF4-FFF2-40B4-BE49-F238E27FC236}">
                <a16:creationId xmlns:a16="http://schemas.microsoft.com/office/drawing/2014/main" id="{3BE59BE8-FA71-48B5-8766-EBF83875DA66}"/>
              </a:ext>
            </a:extLst>
          </p:cNvPr>
          <p:cNvSpPr>
            <a:spLocks noGrp="1"/>
          </p:cNvSpPr>
          <p:nvPr/>
        </p:nvSpPr>
        <p:spPr>
          <a:xfrm>
            <a:off x="838200" y="1381125"/>
            <a:ext cx="10477500" cy="466725"/>
          </a:xfrm>
          <a:prstGeom prst="rect">
            <a:avLst/>
          </a:prstGeom>
          <a:noFill/>
          <a:ln w="0">
            <a:noFill/>
          </a:ln>
        </p:spPr>
        <p:txBody>
          <a:bodyPr>
            <a:noAutofit/>
          </a:bodyPr>
          <a:lstStyle/>
          <a:p>
            <a:pPr>
              <a:defRPr sz="2550" b="1">
                <a:solidFill>
                  <a:srgbClr val="333399"/>
                </a:solidFill>
                <a:latin typeface="Arial"/>
                <a:ea typeface="Arial"/>
                <a:cs typeface="Arial"/>
              </a:defRPr>
            </a:pPr>
            <a:r>
              <a:rPr sz="2550" b="1">
                <a:solidFill>
                  <a:srgbClr val="333399"/>
                </a:solidFill>
                <a:latin typeface="Arial"/>
                <a:ea typeface="Arial"/>
                <a:cs typeface="Arial"/>
              </a:rPr>
              <a:t>Roteiro da aula prática</a:t>
            </a:r>
          </a:p>
        </p:txBody>
      </p:sp>
      <p:sp>
        <p:nvSpPr>
          <p:cNvPr id="6" name="Retângulo 5">
            <a:extLst>
              <a:ext uri="{FF2B5EF4-FFF2-40B4-BE49-F238E27FC236}">
                <a16:creationId xmlns:a16="http://schemas.microsoft.com/office/drawing/2014/main" id="{1519A28C-DA6E-44CB-9873-44EAFDF3406F}"/>
              </a:ext>
            </a:extLst>
          </p:cNvPr>
          <p:cNvSpPr>
            <a:spLocks noGrp="1"/>
          </p:cNvSpPr>
          <p:nvPr/>
        </p:nvSpPr>
        <p:spPr>
          <a:xfrm>
            <a:off x="838200" y="1943100"/>
            <a:ext cx="10477500" cy="438150"/>
          </a:xfrm>
          <a:prstGeom prst="rect">
            <a:avLst/>
          </a:prstGeom>
          <a:noFill/>
          <a:ln w="0">
            <a:noFill/>
          </a:ln>
        </p:spPr>
        <p:txBody>
          <a:bodyPr>
            <a:noAutofit/>
          </a:bodyPr>
          <a:lstStyle/>
          <a:p>
            <a:pPr>
              <a:defRPr sz="2100" b="0">
                <a:solidFill>
                  <a:srgbClr val="202D40"/>
                </a:solidFill>
                <a:latin typeface="Arial"/>
                <a:ea typeface="Arial"/>
                <a:cs typeface="Arial"/>
              </a:defRPr>
            </a:pPr>
            <a:r>
              <a:rPr sz="2100" b="0">
                <a:solidFill>
                  <a:srgbClr val="202D40"/>
                </a:solidFill>
                <a:latin typeface="Arial"/>
                <a:ea typeface="Arial"/>
                <a:cs typeface="Arial"/>
              </a:rPr>
              <a:t>Fundamentos de Biologia III. Material da disciplina.</a:t>
            </a:r>
          </a:p>
        </p:txBody>
      </p:sp>
      <p:sp>
        <p:nvSpPr>
          <p:cNvPr id="7" name="Retângulo 6">
            <a:extLst>
              <a:ext uri="{FF2B5EF4-FFF2-40B4-BE49-F238E27FC236}">
                <a16:creationId xmlns:a16="http://schemas.microsoft.com/office/drawing/2014/main" id="{A8D93F69-1B07-4E10-94BA-16A68680EB36}"/>
              </a:ext>
            </a:extLst>
          </p:cNvPr>
          <p:cNvSpPr>
            <a:spLocks noGrp="1"/>
          </p:cNvSpPr>
          <p:nvPr/>
        </p:nvSpPr>
        <p:spPr>
          <a:xfrm>
            <a:off x="838200" y="2847975"/>
            <a:ext cx="10477500" cy="466725"/>
          </a:xfrm>
          <a:prstGeom prst="rect">
            <a:avLst/>
          </a:prstGeom>
          <a:noFill/>
          <a:ln w="0">
            <a:noFill/>
          </a:ln>
        </p:spPr>
        <p:txBody>
          <a:bodyPr>
            <a:noAutofit/>
          </a:bodyPr>
          <a:lstStyle/>
          <a:p>
            <a:pPr>
              <a:defRPr sz="2550" b="1">
                <a:solidFill>
                  <a:srgbClr val="333399"/>
                </a:solidFill>
                <a:latin typeface="Arial"/>
                <a:ea typeface="Arial"/>
                <a:cs typeface="Arial"/>
              </a:defRPr>
            </a:pPr>
            <a:r>
              <a:rPr sz="2550" b="1">
                <a:solidFill>
                  <a:srgbClr val="333399"/>
                </a:solidFill>
                <a:latin typeface="Arial"/>
                <a:ea typeface="Arial"/>
                <a:cs typeface="Arial"/>
              </a:rPr>
              <a:t>Relatos do grupo</a:t>
            </a:r>
          </a:p>
        </p:txBody>
      </p:sp>
      <p:sp>
        <p:nvSpPr>
          <p:cNvPr id="8" name="Retângulo 7">
            <a:extLst>
              <a:ext uri="{FF2B5EF4-FFF2-40B4-BE49-F238E27FC236}">
                <a16:creationId xmlns:a16="http://schemas.microsoft.com/office/drawing/2014/main" id="{DB6E8BE2-9BA9-47FC-836E-36CA6185BBC0}"/>
              </a:ext>
            </a:extLst>
          </p:cNvPr>
          <p:cNvSpPr>
            <a:spLocks noGrp="1"/>
          </p:cNvSpPr>
          <p:nvPr/>
        </p:nvSpPr>
        <p:spPr>
          <a:xfrm>
            <a:off x="838200" y="3409950"/>
            <a:ext cx="10477500" cy="1333500"/>
          </a:xfrm>
          <a:prstGeom prst="rect">
            <a:avLst/>
          </a:prstGeom>
          <a:noFill/>
          <a:ln w="0">
            <a:noFill/>
          </a:ln>
        </p:spPr>
        <p:txBody>
          <a:bodyPr>
            <a:noAutofit/>
          </a:bodyPr>
          <a:lstStyle/>
          <a:p>
            <a:pPr>
              <a:defRPr sz="2100" b="0">
                <a:solidFill>
                  <a:srgbClr val="202D40"/>
                </a:solidFill>
                <a:latin typeface="Arial"/>
                <a:ea typeface="Arial"/>
                <a:cs typeface="Arial"/>
              </a:defRPr>
            </a:pPr>
            <a:r>
              <a:rPr sz="2100" b="0">
                <a:solidFill>
                  <a:srgbClr val="202D40"/>
                </a:solidFill>
                <a:latin typeface="Arial"/>
                <a:ea typeface="Arial"/>
                <a:cs typeface="Arial"/>
              </a:rPr>
              <a:t>Zonação</a:t>
            </a:r>
          </a:p>
          <a:p>
            <a:pPr>
              <a:defRPr sz="2100" b="0">
                <a:solidFill>
                  <a:srgbClr val="202D40"/>
                </a:solidFill>
                <a:latin typeface="Arial"/>
                <a:ea typeface="Arial"/>
                <a:cs typeface="Arial"/>
              </a:defRPr>
            </a:pPr>
            <a:r>
              <a:rPr sz="2100" b="0">
                <a:solidFill>
                  <a:srgbClr val="202D40"/>
                </a:solidFill>
                <a:latin typeface="Arial"/>
                <a:ea typeface="Arial"/>
                <a:cs typeface="Arial"/>
              </a:rPr>
              <a:t>Resultados: macroalgas</a:t>
            </a:r>
          </a:p>
          <a:p>
            <a:pPr>
              <a:defRPr sz="2100" b="0">
                <a:solidFill>
                  <a:srgbClr val="202D40"/>
                </a:solidFill>
                <a:latin typeface="Arial"/>
                <a:ea typeface="Arial"/>
                <a:cs typeface="Arial"/>
              </a:defRPr>
            </a:pPr>
            <a:r>
              <a:rPr sz="2100" b="0">
                <a:solidFill>
                  <a:srgbClr val="202D40"/>
                </a:solidFill>
                <a:latin typeface="Arial"/>
                <a:ea typeface="Arial"/>
                <a:cs typeface="Arial"/>
              </a:rPr>
              <a:t>Discussão e conclusão</a:t>
            </a:r>
          </a:p>
        </p:txBody>
      </p:sp>
      <p:sp>
        <p:nvSpPr>
          <p:cNvPr id="9" name="Retângulo 8">
            <a:extLst>
              <a:ext uri="{FF2B5EF4-FFF2-40B4-BE49-F238E27FC236}">
                <a16:creationId xmlns:a16="http://schemas.microsoft.com/office/drawing/2014/main" id="{675E915D-595E-4C69-ADC1-F14F990435BE}"/>
              </a:ext>
            </a:extLst>
          </p:cNvPr>
          <p:cNvSpPr>
            <a:spLocks noGrp="1"/>
          </p:cNvSpPr>
          <p:nvPr/>
        </p:nvSpPr>
        <p:spPr>
          <a:xfrm>
            <a:off x="838200" y="5572125"/>
            <a:ext cx="10477500" cy="523875"/>
          </a:xfrm>
          <a:prstGeom prst="rect">
            <a:avLst/>
          </a:prstGeom>
          <a:noFill/>
          <a:ln w="0">
            <a:noFill/>
          </a:ln>
        </p:spPr>
        <p:txBody>
          <a:bodyPr>
            <a:noAutofit/>
          </a:bodyPr>
          <a:lstStyle/>
          <a:p>
            <a:pPr>
              <a:defRPr sz="1950" b="0">
                <a:solidFill>
                  <a:srgbClr val="202D40"/>
                </a:solidFill>
                <a:latin typeface="Arial"/>
                <a:ea typeface="Arial"/>
                <a:cs typeface="Arial"/>
              </a:defRPr>
            </a:pPr>
            <a:r>
              <a:rPr sz="1950" b="0">
                <a:solidFill>
                  <a:srgbClr val="202D40"/>
                </a:solidFill>
                <a:latin typeface="Arial"/>
                <a:ea typeface="Arial"/>
                <a:cs typeface="Arial"/>
              </a:rPr>
              <a:t>Fotografias de campo do grupo e logo UERJ fornecido</a:t>
            </a:r>
          </a:p>
        </p:txBody>
      </p:sp>
    </p:spTree>
    <p:extLst>
      <p:ext uri="{BB962C8B-B14F-4D97-AF65-F5344CB8AC3E}">
        <p14:creationId xmlns:p14="http://schemas.microsoft.com/office/powerpoint/2010/main" val="4111999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tângulo 7">
            <a:extLst>
              <a:ext uri="{FF2B5EF4-FFF2-40B4-BE49-F238E27FC236}">
                <a16:creationId xmlns:a16="http://schemas.microsoft.com/office/drawing/2014/main" id="{FD239EC7-3918-4E13-87A0-11BF007F12AB}"/>
              </a:ext>
            </a:extLst>
          </p:cNvPr>
          <p:cNvSpPr>
            <a:spLocks noGrp="1"/>
          </p:cNvSpPr>
          <p:nvPr/>
        </p:nvSpPr>
        <p:spPr>
          <a:xfrm>
            <a:off x="0" y="0"/>
            <a:ext cx="12192000" cy="781050"/>
          </a:xfrm>
          <a:prstGeom prst="rect">
            <a:avLst/>
          </a:prstGeom>
          <a:solidFill>
            <a:srgbClr val="333399"/>
          </a:solidFill>
          <a:ln w="0">
            <a:noFill/>
          </a:ln>
        </p:spPr>
        <p:txBody>
          <a:bodyPr>
            <a:noAutofit/>
          </a:bodyPr>
          <a:lstStyle/>
          <a:p>
            <a:pPr>
              <a:defRPr sz="2925" b="0">
                <a:solidFill>
                  <a:srgbClr val="FFFFFF"/>
                </a:solidFill>
                <a:latin typeface="Arial"/>
                <a:ea typeface="Arial"/>
                <a:cs typeface="Arial"/>
              </a:defRPr>
            </a:pPr>
            <a:r>
              <a:rPr sz="2925" b="0">
                <a:solidFill>
                  <a:srgbClr val="FFFFFF"/>
                </a:solidFill>
                <a:latin typeface="Arial"/>
                <a:ea typeface="Arial"/>
                <a:cs typeface="Arial"/>
              </a:rPr>
              <a:t>Muito obrigado!</a:t>
            </a:r>
          </a:p>
        </p:txBody>
      </p:sp>
      <p:sp>
        <p:nvSpPr>
          <p:cNvPr id="2" name="Retângulo 1">
            <a:extLst>
              <a:ext uri="{FF2B5EF4-FFF2-40B4-BE49-F238E27FC236}">
                <a16:creationId xmlns:a16="http://schemas.microsoft.com/office/drawing/2014/main" id="{C3D8E5A3-0FD3-4AAA-9C57-353DCA9DCF62}"/>
              </a:ext>
            </a:extLst>
          </p:cNvPr>
          <p:cNvSpPr>
            <a:spLocks noGrp="1"/>
          </p:cNvSpPr>
          <p:nvPr/>
        </p:nvSpPr>
        <p:spPr>
          <a:xfrm>
            <a:off x="0" y="6496050"/>
            <a:ext cx="2428875" cy="361950"/>
          </a:xfrm>
          <a:prstGeom prst="rect">
            <a:avLst/>
          </a:prstGeom>
          <a:solidFill>
            <a:srgbClr val="252572"/>
          </a:solidFill>
          <a:ln w="0">
            <a:noFill/>
          </a:ln>
        </p:spPr>
        <p:txBody>
          <a:bodyPr>
            <a:noAutofit/>
          </a:bodyPr>
          <a:lstStyle/>
          <a:p>
            <a:pPr>
              <a:defRPr sz="1350" b="0">
                <a:solidFill>
                  <a:srgbClr val="FFFFFF"/>
                </a:solidFill>
                <a:latin typeface="Arial"/>
                <a:ea typeface="Arial"/>
                <a:cs typeface="Arial"/>
              </a:defRPr>
            </a:pPr>
            <a:r>
              <a:rPr sz="1350" b="0">
                <a:solidFill>
                  <a:srgbClr val="FFFFFF"/>
                </a:solidFill>
                <a:latin typeface="Arial"/>
                <a:ea typeface="Arial"/>
                <a:cs typeface="Arial"/>
              </a:rPr>
              <a:t>UERJ</a:t>
            </a:r>
          </a:p>
        </p:txBody>
      </p:sp>
      <p:sp>
        <p:nvSpPr>
          <p:cNvPr id="3" name="Retângulo 2">
            <a:extLst>
              <a:ext uri="{FF2B5EF4-FFF2-40B4-BE49-F238E27FC236}">
                <a16:creationId xmlns:a16="http://schemas.microsoft.com/office/drawing/2014/main" id="{13850C95-CCFD-4885-AF52-8F086D87F4BB}"/>
              </a:ext>
            </a:extLst>
          </p:cNvPr>
          <p:cNvSpPr>
            <a:spLocks noGrp="1"/>
          </p:cNvSpPr>
          <p:nvPr/>
        </p:nvSpPr>
        <p:spPr>
          <a:xfrm>
            <a:off x="2428875" y="6496050"/>
            <a:ext cx="6953250" cy="361950"/>
          </a:xfrm>
          <a:prstGeom prst="rect">
            <a:avLst/>
          </a:prstGeom>
          <a:solidFill>
            <a:srgbClr val="333399"/>
          </a:solidFill>
          <a:ln w="0">
            <a:noFill/>
          </a:ln>
        </p:spPr>
        <p:txBody>
          <a:bodyPr>
            <a:noAutofit/>
          </a:bodyPr>
          <a:lstStyle/>
          <a:p>
            <a:pPr>
              <a:defRPr sz="1350" b="0">
                <a:solidFill>
                  <a:srgbClr val="FFFFFF"/>
                </a:solidFill>
                <a:latin typeface="Arial"/>
                <a:ea typeface="Arial"/>
                <a:cs typeface="Arial"/>
              </a:defRPr>
            </a:pPr>
            <a:r>
              <a:rPr sz="1350" b="0">
                <a:solidFill>
                  <a:srgbClr val="FFFFFF"/>
                </a:solidFill>
                <a:latin typeface="Arial"/>
                <a:ea typeface="Arial"/>
                <a:cs typeface="Arial"/>
              </a:rPr>
              <a:t>Macroalgas da Praia Vermelha</a:t>
            </a:r>
          </a:p>
        </p:txBody>
      </p:sp>
      <p:sp>
        <p:nvSpPr>
          <p:cNvPr id="4" name="Retângulo 3">
            <a:extLst>
              <a:ext uri="{FF2B5EF4-FFF2-40B4-BE49-F238E27FC236}">
                <a16:creationId xmlns:a16="http://schemas.microsoft.com/office/drawing/2014/main" id="{08ECD085-9EA1-4774-98A2-AB051431C293}"/>
              </a:ext>
            </a:extLst>
          </p:cNvPr>
          <p:cNvSpPr>
            <a:spLocks noGrp="1"/>
          </p:cNvSpPr>
          <p:nvPr/>
        </p:nvSpPr>
        <p:spPr>
          <a:xfrm>
            <a:off x="9382125" y="6496050"/>
            <a:ext cx="2809875" cy="361950"/>
          </a:xfrm>
          <a:prstGeom prst="rect">
            <a:avLst/>
          </a:prstGeom>
          <a:solidFill>
            <a:srgbClr val="5151AE"/>
          </a:solidFill>
          <a:ln w="0">
            <a:noFill/>
          </a:ln>
        </p:spPr>
        <p:txBody>
          <a:bodyPr>
            <a:noAutofit/>
          </a:bodyPr>
          <a:lstStyle/>
          <a:p>
            <a:pPr>
              <a:defRPr sz="1275" b="0">
                <a:solidFill>
                  <a:srgbClr val="FFFFFF"/>
                </a:solidFill>
                <a:latin typeface="Arial"/>
                <a:ea typeface="Arial"/>
                <a:cs typeface="Arial"/>
              </a:defRPr>
            </a:pPr>
            <a:r>
              <a:rPr sz="1275" b="0">
                <a:solidFill>
                  <a:srgbClr val="FFFFFF"/>
                </a:solidFill>
                <a:latin typeface="Arial"/>
                <a:ea typeface="Arial"/>
                <a:cs typeface="Arial"/>
              </a:rPr>
              <a:t>Encerramento     20/20</a:t>
            </a:r>
          </a:p>
        </p:txBody>
      </p:sp>
      <p:sp>
        <p:nvSpPr>
          <p:cNvPr id="5" name="Retângulo 4">
            <a:extLst>
              <a:ext uri="{FF2B5EF4-FFF2-40B4-BE49-F238E27FC236}">
                <a16:creationId xmlns:a16="http://schemas.microsoft.com/office/drawing/2014/main" id="{AB0D7127-0328-4441-92C5-8F3C9E234D8E}"/>
              </a:ext>
            </a:extLst>
          </p:cNvPr>
          <p:cNvSpPr>
            <a:spLocks noGrp="1"/>
          </p:cNvSpPr>
          <p:nvPr/>
        </p:nvSpPr>
        <p:spPr>
          <a:xfrm>
            <a:off x="838200" y="2238375"/>
            <a:ext cx="10477500" cy="1095375"/>
          </a:xfrm>
          <a:prstGeom prst="rect">
            <a:avLst/>
          </a:prstGeom>
          <a:noFill/>
          <a:ln w="0">
            <a:noFill/>
          </a:ln>
        </p:spPr>
        <p:txBody>
          <a:bodyPr>
            <a:noAutofit/>
          </a:bodyPr>
          <a:lstStyle/>
          <a:p>
            <a:pPr>
              <a:defRPr sz="4800" b="1">
                <a:solidFill>
                  <a:srgbClr val="333399"/>
                </a:solidFill>
                <a:latin typeface="Arial"/>
                <a:ea typeface="Arial"/>
                <a:cs typeface="Arial"/>
              </a:defRPr>
            </a:pPr>
            <a:r>
              <a:rPr sz="4800" b="1">
                <a:solidFill>
                  <a:srgbClr val="333399"/>
                </a:solidFill>
                <a:latin typeface="Arial"/>
                <a:ea typeface="Arial"/>
                <a:cs typeface="Arial"/>
              </a:rPr>
              <a:t>Muito obrigado!</a:t>
            </a:r>
          </a:p>
        </p:txBody>
      </p:sp>
      <p:sp>
        <p:nvSpPr>
          <p:cNvPr id="6" name="Retângulo 5">
            <a:extLst>
              <a:ext uri="{FF2B5EF4-FFF2-40B4-BE49-F238E27FC236}">
                <a16:creationId xmlns:a16="http://schemas.microsoft.com/office/drawing/2014/main" id="{6E88A834-8BD2-427E-AB9D-616CEC770F1A}"/>
              </a:ext>
            </a:extLst>
          </p:cNvPr>
          <p:cNvSpPr>
            <a:spLocks noGrp="1"/>
          </p:cNvSpPr>
          <p:nvPr/>
        </p:nvSpPr>
        <p:spPr>
          <a:xfrm>
            <a:off x="866775" y="3762375"/>
            <a:ext cx="10477500" cy="762000"/>
          </a:xfrm>
          <a:prstGeom prst="rect">
            <a:avLst/>
          </a:prstGeom>
          <a:noFill/>
          <a:ln w="0">
            <a:noFill/>
          </a:ln>
        </p:spPr>
        <p:txBody>
          <a:bodyPr>
            <a:noAutofit/>
          </a:bodyPr>
          <a:lstStyle/>
          <a:p>
            <a:pPr>
              <a:defRPr sz="2625" b="0">
                <a:solidFill>
                  <a:srgbClr val="202D40"/>
                </a:solidFill>
                <a:latin typeface="Arial"/>
                <a:ea typeface="Arial"/>
                <a:cs typeface="Arial"/>
              </a:defRPr>
            </a:pPr>
            <a:r>
              <a:rPr sz="2625" b="0">
                <a:solidFill>
                  <a:srgbClr val="202D40"/>
                </a:solidFill>
                <a:latin typeface="Arial"/>
                <a:ea typeface="Arial"/>
                <a:cs typeface="Arial"/>
              </a:rPr>
              <a:t>Perguntas e comentários</a:t>
            </a:r>
          </a:p>
        </p:txBody>
      </p:sp>
      <p:pic>
        <p:nvPicPr>
          <p:cNvPr id="14" name="Imagem 13"/>
          <p:cNvPicPr>
            <a:picLocks noChangeAspect="1"/>
          </p:cNvPicPr>
          <p:nvPr/>
        </p:nvPicPr>
        <p:blipFill>
          <a:blip r:embed="rId3"/>
          <a:stretch/>
        </p:blipFill>
        <p:spPr>
          <a:xfrm>
            <a:off x="10001250" y="4810125"/>
            <a:ext cx="1238250" cy="1238250"/>
          </a:xfrm>
          <a:prstGeom prst="rect">
            <a:avLst/>
          </a:prstGeom>
        </p:spPr>
      </p:pic>
    </p:spTree>
    <p:extLst>
      <p:ext uri="{BB962C8B-B14F-4D97-AF65-F5344CB8AC3E}">
        <p14:creationId xmlns:p14="http://schemas.microsoft.com/office/powerpoint/2010/main" val="202737663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1852</Words>
  <Application>Microsoft Office PowerPoint</Application>
  <DocSecurity>0</DocSecurity>
  <PresentationFormat>Widescreen</PresentationFormat>
  <Paragraphs>201</Paragraphs>
  <Slides>20</Slides>
  <Notes>20</Notes>
  <HiddenSlides>0</HiddenSlides>
  <MMClips>0</MMClips>
  <ScaleCrop>false</ScaleCrop>
  <HeadingPairs>
    <vt:vector size="6" baseType="variant">
      <vt:variant>
        <vt:lpstr>Fontes usadas</vt:lpstr>
      </vt:variant>
      <vt:variant>
        <vt:i4>2</vt:i4>
      </vt:variant>
      <vt:variant>
        <vt:lpstr>Tema</vt:lpstr>
      </vt:variant>
      <vt:variant>
        <vt:i4>1</vt:i4>
      </vt:variant>
      <vt:variant>
        <vt:lpstr>Títulos de slides</vt:lpstr>
      </vt:variant>
      <vt:variant>
        <vt:i4>20</vt:i4>
      </vt:variant>
    </vt:vector>
  </HeadingPairs>
  <TitlesOfParts>
    <vt:vector size="23" baseType="lpstr">
      <vt:lpstr>Aptos</vt:lpstr>
      <vt:lpstr>Arial</vt:lpstr>
      <vt:lpstr>ChatGPT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Jose Mauro Elsas</cp:lastModifiedBy>
  <cp:revision>1</cp:revision>
  <dcterms:created xsi:type="dcterms:W3CDTF">2026-10-05T20:33:50Z</dcterms:created>
  <dcterms:modified xsi:type="dcterms:W3CDTF">2026-10-05T23:53:38Z</dcterms:modified>
</cp:coreProperties>
</file>