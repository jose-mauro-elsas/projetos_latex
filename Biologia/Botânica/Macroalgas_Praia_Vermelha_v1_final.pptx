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9e795cfb4b4cb2" /><Relationship Type="http://schemas.openxmlformats.org/officeDocument/2006/relationships/extended-properties" Target="/docProps/app.xml" Id="R646e539cafeb49ed" /><Relationship Type="http://schemas.openxmlformats.org/officeDocument/2006/relationships/officeDocument" Target="/ppt/presentation.xml" Id="R9bda820a240840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b2304691ef4e13"/>
  </p:sldMasterIdLst>
  <p:notesMasterIdLst>
    <p:notesMasterId xmlns:r="http://schemas.openxmlformats.org/officeDocument/2006/relationships" r:id="R47b27efec3844cac"/>
  </p:notesMasterIdLst>
  <p:sldIdLst>
    <p:sldId xmlns:r="http://schemas.openxmlformats.org/officeDocument/2006/relationships" id="256" r:id="R798ff8e4c70742b2"/>
    <p:sldId xmlns:r="http://schemas.openxmlformats.org/officeDocument/2006/relationships" id="257" r:id="R01626cd6c0854225"/>
    <p:sldId xmlns:r="http://schemas.openxmlformats.org/officeDocument/2006/relationships" id="258" r:id="R6d2c6da09ddd49ea"/>
    <p:sldId xmlns:r="http://schemas.openxmlformats.org/officeDocument/2006/relationships" id="259" r:id="Ra222a082e4a44ebd"/>
    <p:sldId xmlns:r="http://schemas.openxmlformats.org/officeDocument/2006/relationships" id="260" r:id="R5bfd153edf494bf8"/>
    <p:sldId xmlns:r="http://schemas.openxmlformats.org/officeDocument/2006/relationships" id="261" r:id="R290e289dd3184807"/>
    <p:sldId xmlns:r="http://schemas.openxmlformats.org/officeDocument/2006/relationships" id="262" r:id="Rdd56d781d08342e3"/>
    <p:sldId xmlns:r="http://schemas.openxmlformats.org/officeDocument/2006/relationships" id="263" r:id="Ra1713bf03d3049e9"/>
    <p:sldId xmlns:r="http://schemas.openxmlformats.org/officeDocument/2006/relationships" id="264" r:id="Rc36ace76d9044dc0"/>
    <p:sldId xmlns:r="http://schemas.openxmlformats.org/officeDocument/2006/relationships" id="265" r:id="R823690eecdc84f57"/>
    <p:sldId xmlns:r="http://schemas.openxmlformats.org/officeDocument/2006/relationships" id="266" r:id="R28b22237bec24522"/>
    <p:sldId xmlns:r="http://schemas.openxmlformats.org/officeDocument/2006/relationships" id="267" r:id="R5e7cba26a9a84405"/>
    <p:sldId xmlns:r="http://schemas.openxmlformats.org/officeDocument/2006/relationships" id="268" r:id="Ra8ab0162ec524c7f"/>
    <p:sldId xmlns:r="http://schemas.openxmlformats.org/officeDocument/2006/relationships" id="269" r:id="Rb86e4a6641d94148"/>
    <p:sldId xmlns:r="http://schemas.openxmlformats.org/officeDocument/2006/relationships" id="270" r:id="R206b0d70f3fe4683"/>
    <p:sldId xmlns:r="http://schemas.openxmlformats.org/officeDocument/2006/relationships" id="271" r:id="R73ae05ca28854b94"/>
    <p:sldId xmlns:r="http://schemas.openxmlformats.org/officeDocument/2006/relationships" id="272" r:id="R35848e35b45d4839"/>
    <p:sldId xmlns:r="http://schemas.openxmlformats.org/officeDocument/2006/relationships" id="273" r:id="R9c864c300e7049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a6a01e1f564110" /><Relationship Type="http://schemas.openxmlformats.org/officeDocument/2006/relationships/slideMaster" Target="/ppt/slideMasters/slideMaster1.xml" Id="R86b2304691ef4e13" /><Relationship Type="http://schemas.openxmlformats.org/officeDocument/2006/relationships/notesMaster" Target="/ppt/notesMasters/notesMaster1.xml" Id="R47b27efec3844cac" /><Relationship Type="http://schemas.openxmlformats.org/officeDocument/2006/relationships/presProps" Target="/ppt/presProps.xml" Id="R11ff041a9f9c44f8" /><Relationship Type="http://schemas.openxmlformats.org/officeDocument/2006/relationships/tableStyles" Target="/ppt/tableStyles.xml" Id="R18ce65e7b10143a4" /><Relationship Type="http://schemas.openxmlformats.org/officeDocument/2006/relationships/slide" Target="/ppt/slides/slide1.xml" Id="R798ff8e4c70742b2" /><Relationship Type="http://schemas.openxmlformats.org/officeDocument/2006/relationships/slide" Target="/ppt/slides/slide2.xml" Id="R01626cd6c0854225" /><Relationship Type="http://schemas.openxmlformats.org/officeDocument/2006/relationships/slide" Target="/ppt/slides/slide3.xml" Id="R6d2c6da09ddd49ea" /><Relationship Type="http://schemas.openxmlformats.org/officeDocument/2006/relationships/slide" Target="/ppt/slides/slide4.xml" Id="Ra222a082e4a44ebd" /><Relationship Type="http://schemas.openxmlformats.org/officeDocument/2006/relationships/slide" Target="/ppt/slides/slide5.xml" Id="R5bfd153edf494bf8" /><Relationship Type="http://schemas.openxmlformats.org/officeDocument/2006/relationships/slide" Target="/ppt/slides/slide6.xml" Id="R290e289dd3184807" /><Relationship Type="http://schemas.openxmlformats.org/officeDocument/2006/relationships/slide" Target="/ppt/slides/slide7.xml" Id="Rdd56d781d08342e3" /><Relationship Type="http://schemas.openxmlformats.org/officeDocument/2006/relationships/slide" Target="/ppt/slides/slide8.xml" Id="Ra1713bf03d3049e9" /><Relationship Type="http://schemas.openxmlformats.org/officeDocument/2006/relationships/slide" Target="/ppt/slides/slide9.xml" Id="Rc36ace76d9044dc0" /><Relationship Type="http://schemas.openxmlformats.org/officeDocument/2006/relationships/slide" Target="/ppt/slides/slide10.xml" Id="R823690eecdc84f57" /><Relationship Type="http://schemas.openxmlformats.org/officeDocument/2006/relationships/slide" Target="/ppt/slides/slide11.xml" Id="R28b22237bec24522" /><Relationship Type="http://schemas.openxmlformats.org/officeDocument/2006/relationships/slide" Target="/ppt/slides/slide12.xml" Id="R5e7cba26a9a84405" /><Relationship Type="http://schemas.openxmlformats.org/officeDocument/2006/relationships/slide" Target="/ppt/slides/slide13.xml" Id="Ra8ab0162ec524c7f" /><Relationship Type="http://schemas.openxmlformats.org/officeDocument/2006/relationships/slide" Target="/ppt/slides/slide14.xml" Id="Rb86e4a6641d94148" /><Relationship Type="http://schemas.openxmlformats.org/officeDocument/2006/relationships/slide" Target="/ppt/slides/slide15.xml" Id="R206b0d70f3fe4683" /><Relationship Type="http://schemas.openxmlformats.org/officeDocument/2006/relationships/slide" Target="/ppt/slides/slide16.xml" Id="R73ae05ca28854b94" /><Relationship Type="http://schemas.openxmlformats.org/officeDocument/2006/relationships/slide" Target="/ppt/slides/slide17.xml" Id="R35848e35b45d4839" /><Relationship Type="http://schemas.openxmlformats.org/officeDocument/2006/relationships/slide" Target="/ppt/slides/slide18.xml" Id="R9c864c300e7049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7c74df99df48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e62799c834240" /><Relationship Type="http://schemas.openxmlformats.org/officeDocument/2006/relationships/notesMaster" Target="/ppt/notesMasters/notesMaster1.xml" Id="Rf7be88bfb72445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3fce9cee3a474c" /><Relationship Type="http://schemas.openxmlformats.org/officeDocument/2006/relationships/notesMaster" Target="/ppt/notesMasters/notesMaster1.xml" Id="Rf980b5cfe45140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a09fa4b88b40a2" /><Relationship Type="http://schemas.openxmlformats.org/officeDocument/2006/relationships/notesMaster" Target="/ppt/notesMasters/notesMaster1.xml" Id="R718b543c952f4b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32a574128d4429" /><Relationship Type="http://schemas.openxmlformats.org/officeDocument/2006/relationships/notesMaster" Target="/ppt/notesMasters/notesMaster1.xml" Id="R5bef35afe8424f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bd680bc2144f0b" /><Relationship Type="http://schemas.openxmlformats.org/officeDocument/2006/relationships/notesMaster" Target="/ppt/notesMasters/notesMaster1.xml" Id="R99df8907d8b94b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ceb7b93b82497f" /><Relationship Type="http://schemas.openxmlformats.org/officeDocument/2006/relationships/notesMaster" Target="/ppt/notesMasters/notesMaster1.xml" Id="Ra01c228e127a48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9fb9e699ef4f69" /><Relationship Type="http://schemas.openxmlformats.org/officeDocument/2006/relationships/notesMaster" Target="/ppt/notesMasters/notesMaster1.xml" Id="R6590b06e31fd4f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cba573167f4e1e" /><Relationship Type="http://schemas.openxmlformats.org/officeDocument/2006/relationships/notesMaster" Target="/ppt/notesMasters/notesMaster1.xml" Id="R990fd19ac99640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6998ae63c54291" /><Relationship Type="http://schemas.openxmlformats.org/officeDocument/2006/relationships/notesMaster" Target="/ppt/notesMasters/notesMaster1.xml" Id="R0b257a6132094f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d8fdae9af94b14" /><Relationship Type="http://schemas.openxmlformats.org/officeDocument/2006/relationships/notesMaster" Target="/ppt/notesMasters/notesMaster1.xml" Id="Rbad7b2074a9749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d8d594cd70406f" /><Relationship Type="http://schemas.openxmlformats.org/officeDocument/2006/relationships/notesMaster" Target="/ppt/notesMasters/notesMaster1.xml" Id="R138a90f3c7c64d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d9e553d7b54b2d" /><Relationship Type="http://schemas.openxmlformats.org/officeDocument/2006/relationships/notesMaster" Target="/ppt/notesMasters/notesMaster1.xml" Id="R6c1773ac62324e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5dfcb1ef724d1a" /><Relationship Type="http://schemas.openxmlformats.org/officeDocument/2006/relationships/notesMaster" Target="/ppt/notesMasters/notesMaster1.xml" Id="Rcd70ef8e965e4d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b0b2de88154734" /><Relationship Type="http://schemas.openxmlformats.org/officeDocument/2006/relationships/notesMaster" Target="/ppt/notesMasters/notesMaster1.xml" Id="Rbc20df0a5b5a49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e8983339f14125" /><Relationship Type="http://schemas.openxmlformats.org/officeDocument/2006/relationships/notesMaster" Target="/ppt/notesMasters/notesMaster1.xml" Id="Rd0695c9a081946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7532341ebd467c" /><Relationship Type="http://schemas.openxmlformats.org/officeDocument/2006/relationships/notesMaster" Target="/ppt/notesMasters/notesMaster1.xml" Id="Redd85df4e1334f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e782239f624c06" /><Relationship Type="http://schemas.openxmlformats.org/officeDocument/2006/relationships/notesMaster" Target="/ppt/notesMasters/notesMaster1.xml" Id="Re415215e31334b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7d7adfd65a4554" /><Relationship Type="http://schemas.openxmlformats.org/officeDocument/2006/relationships/notesMaster" Target="/ppt/notesMasters/notesMaster1.xml" Id="R7dbbfffc4df84b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 provisória. Local informado pelo coordenador: Praia Vermelha. O roteiro original cita Praia da Urca. Confirmar data do campo, docente e nomes completos. Apresentação prevista para 07/10/2026.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José. Cerca de 1 min. Fonte: roteiro da aula prática, conceitos 3.1 e 3.2. Foto: Zonação.pdf, página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José. 1 min. Fonte: roteiro, seção 3.1. São fatores gerais, sem valores ambientais medidos no material recebido.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Ricardo. 1 min. Fonte: roteiro, seção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Ricardo. 1,5 min. Fonte: roteiro, seção 3.1. Os limites são aproximados e variam com ondas e topografia.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pela parte 3 a definir. 1,5 min. Fonte: mensagem do coordenador e textos do grupo. Apenas observação, fotografia e descrição estão confirmadas. Confirmar data, trecho, condições da maré, coleta e atividade em laboratório.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roteiro, seção 3.2. A cor constitui uma pista, mas precisa ser combinada à morfologia. A identificação em gênero permanece preliminar.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Israel. 1,5 min. Fonte: Zonação.pdf, página 1. A associação ao supralitoral é a classificação do grupo. A posição de maré e a identidade das crostas precisam de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Israel. 1,5 min. Fonte: Zonação.pdf, página 2. Fotografias do grupo. Sem estimativas quantitativas de cobertura.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Israel. 1 min. Fonte: Zonação.pdf, página 3. Não há fotografia representativa do infralitoral. Evitar usar foto de outra zona como evidência.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Giulia. 1,5 min. Fonte: Resultados - macroalgas.docx. Fotografias originais image1 e image2. Ulva é identificação preliminar do grupo. A cor ajuda a descrever, mas sozinha não determina o táxon.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Giulia. 1,5 min. Fonte: Resultados - macroalgas.docx, fotografias image3 e image4. Corrigida a grafia Rhodophyta. O texto descreve talos calcificados, crostosos, laminares e ramificados, mas cada foto não demonstra todas as formas.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Giulia. 1 min. Fonte: Resultados - macroalgas.docx, fotografia image5. Padina é identificação preliminar. Retenção de água e resistência por calcificação não foram demonstradas.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Miguel. Fonte: materiais do grupo. Não houve dados quantitativos disponibilizados. Não inferir aumento de número de espécies, densidade ou abundância a partir das fotos.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Miguel. 2 min. Fontes: roteiro seções 3.1 e 3.2, DISCUSSÃO E CONCLUSÃO.docx. Flexibilidade e contato próximo ao substrato são interpretações funcionais plausíveis. Evitar afirmar que calcificação protege necessariamente contra dessecação ou que a atividade demonstrou evolução de adaptações.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Miguel. 1,5 min. Fontes: Zonação.pdf, Resultados - macroalgas.docx e DISCUSSÃO E CONCLUSÃO.docx. Substituídos termos população, densidade e diversidade medida por cobertura/variedade aparente. Não há amostragem quantitativa.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Materiais recebidos em 05/10/2026. Roteiro sem autoria/data confirmadas. Inserir referências bibliográficas adicionais somente após conferência. Fotografias atribuídas aos registros do grupo, autoria individual a confirmar.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apresentar este slide no seminário final. Coordenação: José. Parte 2 Ricardo, parte 3 a definir, parte 4 Israel, parte 5 Giulia, parte 6 Miguel. O grupo tem seis integrantes, mas apenas cinco nomes foram informados. Duração sugerida do conteúdo: aproximadamente 20 minutos.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36b00e36040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ff5cfb41a46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48140ed2343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b35ba80894f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789587e0e42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e8541fcfa47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9EC897-5B8C-4227-82FD-700C6849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F4252A-2D0F-490C-AB95-846D126A2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3DBDC-81E8-438E-9E2D-053C5BDA2B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C6756A6-BE24-4AC2-9A45-CD766932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02EC3A-7ADD-4B74-A985-46F110B2D6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F814BB4-F914-4155-8956-9F2F4197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34165F-8EBC-47AC-BF55-80664E527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65605E6-7432-47A4-8B87-C8DF1EE13E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9C88CD0-1B95-4DE5-9565-962E7997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B346D1-6DD9-4DAD-8D3D-E4B56E9E89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1EC43A-70DB-4D84-B42A-4433EB9340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9D4881-020C-4521-B0D7-11533CF946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D2E8D9B-A508-4ED1-8B6B-A1E4DB7A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DA7A985-5781-4706-AFA3-31CB94FD32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7C11E8-5E6C-4A5E-8439-3A25F03573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10cdc47ed54812" /><Relationship Type="http://schemas.openxmlformats.org/officeDocument/2006/relationships/slideLayout" Target="/ppt/slideLayouts/slideLayout1.xml" Id="R1a25435c1e12426f" /><Relationship Type="http://schemas.openxmlformats.org/officeDocument/2006/relationships/slideLayout" Target="/ppt/slideLayouts/slideLayout2.xml" Id="R73812abb863f4b2e" /><Relationship Type="http://schemas.openxmlformats.org/officeDocument/2006/relationships/slideLayout" Target="/ppt/slideLayouts/slideLayout3.xml" Id="R573da06b7f944f75" /><Relationship Type="http://schemas.openxmlformats.org/officeDocument/2006/relationships/slideLayout" Target="/ppt/slideLayouts/slideLayout4.xml" Id="R6dedef5c2017474d" /><Relationship Type="http://schemas.openxmlformats.org/officeDocument/2006/relationships/slideLayout" Target="/ppt/slideLayouts/slideLayout5.xml" Id="R1eb3ba2b4f8e478b" /><Relationship Type="http://schemas.openxmlformats.org/officeDocument/2006/relationships/slideLayout" Target="/ppt/slideLayouts/slideLayout6.xml" Id="Re73cd1b56e1e4a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25435c1e12426f"/>
    <p:sldLayoutId xmlns:r="http://schemas.openxmlformats.org/officeDocument/2006/relationships" id="2147483650" r:id="R73812abb863f4b2e"/>
    <p:sldLayoutId xmlns:r="http://schemas.openxmlformats.org/officeDocument/2006/relationships" id="2147483651" r:id="R573da06b7f944f75"/>
    <p:sldLayoutId xmlns:r="http://schemas.openxmlformats.org/officeDocument/2006/relationships" id="2147483652" r:id="R6dedef5c2017474d"/>
    <p:sldLayoutId xmlns:r="http://schemas.openxmlformats.org/officeDocument/2006/relationships" id="2147483653" r:id="R1eb3ba2b4f8e478b"/>
    <p:sldLayoutId xmlns:r="http://schemas.openxmlformats.org/officeDocument/2006/relationships" id="2147483654" r:id="Re73cd1b56e1e4a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8a40d8b9e438d" /><Relationship Type="http://schemas.openxmlformats.org/officeDocument/2006/relationships/image" Target="/ppt/media/image.jpeg" Id="R99da7ab0aeab4a50" /><Relationship Type="http://schemas.openxmlformats.org/officeDocument/2006/relationships/notesSlide" Target="/ppt/notesSlides/notesSlide1.xml" Id="Reca5342a817940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42415d1a5a4897" /><Relationship Type="http://schemas.openxmlformats.org/officeDocument/2006/relationships/image" Target="/ppt/media/image.png" Id="R4b6c5c7ebb064be4" /><Relationship Type="http://schemas.openxmlformats.org/officeDocument/2006/relationships/notesSlide" Target="/ppt/notesSlides/notesSlide2.xml" Id="R54422bcf8a6140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413a7bb664ac2" /><Relationship Type="http://schemas.openxmlformats.org/officeDocument/2006/relationships/notesSlide" Target="/ppt/notesSlides/notesSlide3.xml" Id="R1aa6857b218446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3aa1f4d1c4693" /><Relationship Type="http://schemas.openxmlformats.org/officeDocument/2006/relationships/notesSlide" Target="/ppt/notesSlides/notesSlide4.xml" Id="R72d379619c794e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95fadc6cf04bb7" /><Relationship Type="http://schemas.openxmlformats.org/officeDocument/2006/relationships/notesSlide" Target="/ppt/notesSlides/notesSlide5.xml" Id="Rb180a38f58994e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d46c53d8724f6b" /><Relationship Type="http://schemas.openxmlformats.org/officeDocument/2006/relationships/notesSlide" Target="/ppt/notesSlides/notesSlide6.xml" Id="R1764e3782fd44b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4dc2ac07984ea1" /><Relationship Type="http://schemas.openxmlformats.org/officeDocument/2006/relationships/notesSlide" Target="/ppt/notesSlides/notesSlide7.xml" Id="Raad38bbf9b6a46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083cf2a1546d0" /><Relationship Type="http://schemas.openxmlformats.org/officeDocument/2006/relationships/image" Target="/ppt/media/image2.png" Id="Rc8f4f173b1c84629" /><Relationship Type="http://schemas.openxmlformats.org/officeDocument/2006/relationships/notesSlide" Target="/ppt/notesSlides/notesSlide8.xml" Id="Rca18a0bf42254d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8a61b068364600" /><Relationship Type="http://schemas.openxmlformats.org/officeDocument/2006/relationships/image" Target="/ppt/media/image3.png" Id="R3e6851035dfb4445" /><Relationship Type="http://schemas.openxmlformats.org/officeDocument/2006/relationships/notesSlide" Target="/ppt/notesSlides/notesSlide9.xml" Id="R8656056deb2d41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248eccd464bd2" /><Relationship Type="http://schemas.openxmlformats.org/officeDocument/2006/relationships/notesSlide" Target="/ppt/notesSlides/notesSlide10.xml" Id="Rf37e9283a78c48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04cb35ee6a4ef7" /><Relationship Type="http://schemas.openxmlformats.org/officeDocument/2006/relationships/image" Target="/ppt/media/image4.png" Id="R2fc9ca41e0e54fb7" /><Relationship Type="http://schemas.openxmlformats.org/officeDocument/2006/relationships/image" Target="/ppt/media/image2.jpeg" Id="R2466ee5c62d249e3" /><Relationship Type="http://schemas.openxmlformats.org/officeDocument/2006/relationships/notesSlide" Target="/ppt/notesSlides/notesSlide11.xml" Id="Rf97b06943d644f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34dab94f74027" /><Relationship Type="http://schemas.openxmlformats.org/officeDocument/2006/relationships/image" Target="/ppt/media/image3.jpeg" Id="R999e481d923845bf" /><Relationship Type="http://schemas.openxmlformats.org/officeDocument/2006/relationships/image" Target="/ppt/media/image4.jpeg" Id="Rbeefcb63301c4ada" /><Relationship Type="http://schemas.openxmlformats.org/officeDocument/2006/relationships/notesSlide" Target="/ppt/notesSlides/notesSlide12.xml" Id="R0d5cd0800a4847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7f90da0f3e4e5e" /><Relationship Type="http://schemas.openxmlformats.org/officeDocument/2006/relationships/image" Target="/ppt/media/image5.jpeg" Id="Raa82c3ed9fa549c9" /><Relationship Type="http://schemas.openxmlformats.org/officeDocument/2006/relationships/notesSlide" Target="/ppt/notesSlides/notesSlide13.xml" Id="Rab3dc86fbf8544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f170c6b5c4eeb" /><Relationship Type="http://schemas.openxmlformats.org/officeDocument/2006/relationships/notesSlide" Target="/ppt/notesSlides/notesSlide14.xml" Id="R667c75fedfe642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b9dca215e2417b" /><Relationship Type="http://schemas.openxmlformats.org/officeDocument/2006/relationships/notesSlide" Target="/ppt/notesSlides/notesSlide15.xml" Id="Rf23e232bb78940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ce64b9d6c411c" /><Relationship Type="http://schemas.openxmlformats.org/officeDocument/2006/relationships/notesSlide" Target="/ppt/notesSlides/notesSlide16.xml" Id="Ra9fe2c8fb1e640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a99b65139493a" /><Relationship Type="http://schemas.openxmlformats.org/officeDocument/2006/relationships/notesSlide" Target="/ppt/notesSlides/notesSlide17.xml" Id="R51a50f5e0b144b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d472e511994ff7" /><Relationship Type="http://schemas.openxmlformats.org/officeDocument/2006/relationships/notesSlide" Target="/ppt/notesSlides/notesSlide18.xml" Id="R71717391d3fe4b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a7ab0aeab4a50"/>
          <a:stretch xmlns:a="http://schemas.openxmlformats.org/drawingml/2006/main"/>
        </p:blipFill>
        <p:spPr>
          <a:xfrm xmlns:a="http://schemas.openxmlformats.org/drawingml/2006/main">
            <a:off x="619125" y="4000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A11D7-D663-4BDC-B704-27BADD57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953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Universidade do Estado do Rio de Janeiro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BC468-6DC4-4D5A-8F5B-0CBD7E0E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334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A0A59-B6F4-42E1-8916-E0FF704C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Macroalgas da</a:t>
            </a:r>
          </a:p>
          <a:p xmlns:a="http://schemas.openxmlformats.org/drawingml/2006/main">
            <a:pPr>
              <a:defRPr sz="43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Praia Vermelha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A82A6-E90B-45AB-8C9C-D4196FFB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76B59"/>
                </a:solidFill>
                <a:latin typeface="Arial"/>
                <a:ea typeface="Arial"/>
                <a:cs typeface="Arial"/>
              </a:rPr>
              <a:t>Diversidade, zonação vertical e morfologia do talo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8ED8E-F48F-42EE-9992-80C7C8A4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Seminário de campo e laboratório</a:t>
            </a:r>
          </a:p>
          <a:p xmlns:a="http://schemas.openxmlformats.org/drawingml/2006/main">
            <a:pPr>
              <a:defRPr sz="1800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Grupo: nomes completos a confirmar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268C9-BE39-49FF-A5F3-0479B683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Versão para discussão do grupo   •  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3049881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07E42-0B08-4F26-A0A8-5DCD866B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O costão como ambiente para macroalgas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9EE31-D743-4695-9C48-5C128D69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Introdução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A4F7D-1991-4A96-AC7D-C929D634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EDD46-2EE4-49B6-B5DD-0418686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c5c7ebb064be4"/>
          <a:stretch xmlns:a="http://schemas.openxmlformats.org/drawingml/2006/main"/>
        </p:blipFill>
        <p:spPr>
          <a:xfrm xmlns:a="http://schemas.openxmlformats.org/drawingml/2006/main">
            <a:off x="7124700" y="1676400"/>
            <a:ext cx="4324350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21551-5A85-4D3C-8143-6FABEAE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585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Substrato rochoso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68C42-5FD3-4172-B824-279BF09E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585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Superfície para fixação e desenvolvimento dos talos.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9D83B-DA83-4F50-B8D6-25E304B0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585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Gradiente de exposição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DEB94-3BEF-4610-BBA6-ECF0DDF7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2825"/>
            <a:ext cx="585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maré e as ondas alteram o contato com a água.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CD861-849F-4E2E-9289-C2528CC0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585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Distribuição heterogênea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3D066-EE63-4358-A124-36F9033F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585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cobertura biológica varia ao longo do costão.</a:t>
            </a:r>
          </a:p>
        </p:txBody>
      </p:sp>
    </p:spTree>
    <p:extLst>
      <p:ext uri="{BB962C8B-B14F-4D97-AF65-F5344CB8AC3E}">
        <p14:creationId xmlns:p14="http://schemas.microsoft.com/office/powerpoint/2010/main" val="56489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6A298-2B17-4236-84B6-80E822E1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Condições ambientais e distribuição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3092A-FFED-4BE6-95D5-3CBB8B25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Introdução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071A5-9A1A-4810-942C-FAF45BBE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A64B7-F0F1-490C-BCF1-6B9D1A44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30288-17B4-49C7-B807-26D892B9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Imersão e emersão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8A77F-4EFC-4B51-9AFD-5A50A6DC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24075"/>
            <a:ext cx="1076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Determinam quanto tempo as macroalgas permanecem fora da água.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801CF-2E0C-48B4-B8C0-C0F9C2BA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Dessecação, temperatura e luz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941B4-EDDA-4C25-A75E-F9EF3762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14725"/>
            <a:ext cx="1076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exposição ao ar aumenta o risco de perda de água e aquecimento.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B2C3C-80B7-4B8F-994C-72550908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Ondas e topografia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84902-D728-45B8-A776-2D82D7E4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1076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Modificam o esforço mecânico e a umidade em cada ponto do costão.</a:t>
            </a:r>
          </a:p>
        </p:txBody>
      </p:sp>
    </p:spTree>
    <p:extLst>
      <p:ext uri="{BB962C8B-B14F-4D97-AF65-F5344CB8AC3E}">
        <p14:creationId xmlns:p14="http://schemas.microsoft.com/office/powerpoint/2010/main" val="9628841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775C1-C15A-474A-BDBC-6E0336EC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Objetivos da atividade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8FA9D-D3D4-4C4D-9311-68960451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4C937-21DC-408E-9FD5-2F15C8CB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B61D2-7877-4875-B595-45E0AA43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BACB4-4BF8-45FE-A045-FE51431E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43075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Reconhecer as zonas do costão e sua relação com a exposição ao 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F0093-CDBA-4BC3-A31F-63AFB186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52725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Descrever os grupos de macroalgas e as formas dos talos.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9E5E9-685E-4D96-842F-4D31A108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Comparar a distribuição nos registros de campo.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74043-645F-42A1-A97A-A671D425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Relacionar as observações às condições ambientais locais.</a:t>
            </a:r>
          </a:p>
        </p:txBody>
      </p:sp>
    </p:spTree>
    <p:extLst>
      <p:ext uri="{BB962C8B-B14F-4D97-AF65-F5344CB8AC3E}">
        <p14:creationId xmlns:p14="http://schemas.microsoft.com/office/powerpoint/2010/main" val="1994076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AF88F-BC4D-4A86-BC88-4715BC13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Zonação vertical do costão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D6E03-320B-4987-A528-89F2D8A8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Objetivos e fundamento teórico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752F6-7D51-43B3-B9E0-46D02A94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7A7AE-F979-4919-9642-3B7B5136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54E36-FF3B-49D1-B0BF-9992FB0F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Supralitoral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C7993-9087-4CB5-848E-3F26C43F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050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Acima da faixa de maré alta, com umedecimento por respingos.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69787-D0F7-45CC-AF3D-5578D368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Médiolitoral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13483-9C26-44E7-B7D8-E4254137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Entre os níveis de maré, com alternância de imersão e emersão.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95A23-3241-414F-B7CF-8F9016B3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Infralitoral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9BE6B-4310-424C-B3D1-FFEA9A0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Abaixo do limite de maré baixa, predominantemente submerso.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55E3B-2CF1-461D-8224-0B72D507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As zonas têm limites variáveis conforme a topografia e a exposição às ondas.</a:t>
            </a:r>
          </a:p>
        </p:txBody>
      </p:sp>
    </p:spTree>
    <p:extLst>
      <p:ext uri="{BB962C8B-B14F-4D97-AF65-F5344CB8AC3E}">
        <p14:creationId xmlns:p14="http://schemas.microsoft.com/office/powerpoint/2010/main" val="736639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EA885-51EC-4C3A-B5C3-712D3A02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Observação e registro de campo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8657D-CD22-45C9-AC8D-DC40A78A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Metodologia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C9420-AD6B-40AC-AB26-059A23FD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608DA-3A42-40E5-ADE5-BA3AFF2B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A053-1398-40B4-8B32-874BE862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Área de estudo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837A4-FA58-4C40-AECD-F6F5974E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Costão rochoso da Praia Vermelha, Rio de Janeiro.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7A1FD-4199-408B-9C7B-66E87E73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8132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Registros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9BE38-3AF2-40DE-8DAB-C25A432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Fotografias das macroalgas e observações das condições do costão.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BA706-40BE-4F36-8E08-413B8425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Descrição e comparação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4BED4-627D-448B-820E-F31F9777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Cor, forma do talo e posição relativa em relação ao contato com a água.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BDFAD-B830-4C8D-817F-A56BDA46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245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Abordagem qualitativa baseada na observação visual e no registro fotográfico.</a:t>
            </a:r>
          </a:p>
        </p:txBody>
      </p:sp>
    </p:spTree>
    <p:extLst>
      <p:ext uri="{BB962C8B-B14F-4D97-AF65-F5344CB8AC3E}">
        <p14:creationId xmlns:p14="http://schemas.microsoft.com/office/powerpoint/2010/main" val="15124057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48132-417D-4422-9F0B-C4FCEDE6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Grupos e caracteres de observação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E6AF1-7E68-46EE-A25B-B6491905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Metodologia de descrição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5664A-6972-4897-9AF9-FBC8E452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5874A-15FB-4B9D-81B1-8E158F52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C1816-C0CA-40D0-92C7-585B417A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Chlorophyta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32997-0293-4401-865D-6401ED74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85975"/>
            <a:ext cx="1076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Algas verdes, com formas foliáceas ou filamentosas nos registros.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ECCCC-3AA4-4434-86B2-DD2F1E24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6227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Rhodophyta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03347-1FCF-4AA5-8D12-9538228D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1076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Algas vermelhas, com variedade de formas e representantes calcificados.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F2060-0974-4C57-931F-14C8A431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Phaeophyceae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BB59C-8683-47D6-A9C3-03B99E50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57725"/>
            <a:ext cx="1076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Algas pardas, incluindo o registro de talos em leque.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F4C0D-A976-4A86-AB1E-456E58F0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977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A descrição vem antes da identificação. Cor e forma devem ser analisadas em conjunto.</a:t>
            </a:r>
          </a:p>
        </p:txBody>
      </p:sp>
    </p:spTree>
    <p:extLst>
      <p:ext uri="{BB962C8B-B14F-4D97-AF65-F5344CB8AC3E}">
        <p14:creationId xmlns:p14="http://schemas.microsoft.com/office/powerpoint/2010/main" val="1861616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2C568-69A5-4B76-BDA8-8B934B42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Faixa superior e região de respingos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F703B-E70B-435C-A0B2-2CB3DFD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Resultados de zonação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D05CD-594A-4E8B-B6D1-9AC35F8F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51CBD-4657-49F0-B8A3-181AF8FB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4f173b1c84629"/>
          <a:stretch xmlns:a="http://schemas.openxmlformats.org/drawingml/2006/main"/>
        </p:blipFill>
        <p:spPr>
          <a:xfrm xmlns:a="http://schemas.openxmlformats.org/drawingml/2006/main">
            <a:off x="1162050" y="1752600"/>
            <a:ext cx="3848100" cy="3848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1E8CD-B392-4675-A8AC-2395E3FB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548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Porção mais alta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BA900-0FC0-44D6-8948-44246CE2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54864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 grupo descreveu pouca cobertura biológica.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33865-BB1A-44A6-A8C5-C2ADCC7D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0425"/>
            <a:ext cx="548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Faixa umedecida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8493B-D4DF-4FED-B56F-8DE82EE0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54864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Os respingos alcançavam trechos com organismos de aspecto crostoso.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18DCD-102F-429F-A35C-23CDFA33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72150"/>
            <a:ext cx="11020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Aspecto observado: crostas. A fotografia, isoladamente, não confirma o grupo taxonômico.</a:t>
            </a:r>
          </a:p>
        </p:txBody>
      </p:sp>
    </p:spTree>
    <p:extLst>
      <p:ext uri="{BB962C8B-B14F-4D97-AF65-F5344CB8AC3E}">
        <p14:creationId xmlns:p14="http://schemas.microsoft.com/office/powerpoint/2010/main" val="2454734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2AE2C-2A13-4BF5-BE7B-F00217B0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Macroalgas na faixa entre marés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ACE3B-3FED-405E-974A-0C463E22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Resultados de zonação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E966D-EF4A-4465-AF96-81CA1063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F7058-7904-47AA-995D-5538EC2F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851035dfb4445"/>
          <a:stretch xmlns:a="http://schemas.openxmlformats.org/drawingml/2006/main"/>
        </p:blipFill>
        <p:spPr>
          <a:xfrm xmlns:a="http://schemas.openxmlformats.org/drawingml/2006/main">
            <a:off x="1209675" y="1676400"/>
            <a:ext cx="3924300" cy="3924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9F73B-6872-420A-9767-470E287D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022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Maior variedade aparente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FB489-C457-4770-A017-4A0263E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5410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 grupo descreveu mais cores e formas de talo.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B4A36-8F67-4C8D-B519-AE88E6BE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Ocorrência conjunta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3C554-F8E6-40CF-885F-4653A8F5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9525"/>
            <a:ext cx="5410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Algas verdes, vermelhas e pardas no trecho observado.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F2B60-791A-46C6-B10E-C650F994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100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A predominância visual de algas verdes é uma observação qualitativa do grupo.</a:t>
            </a:r>
          </a:p>
        </p:txBody>
      </p:sp>
    </p:spTree>
    <p:extLst>
      <p:ext uri="{BB962C8B-B14F-4D97-AF65-F5344CB8AC3E}">
        <p14:creationId xmlns:p14="http://schemas.microsoft.com/office/powerpoint/2010/main" val="21065489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3A474-C51A-4476-97E5-076EB374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Trecho submerso e limites do registro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1F54F-D754-4C78-88DF-4336D303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Resultados de zonação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CDA3B-FC29-4F9F-BD49-CB3521C4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353F9-104C-4515-9983-7B2561ED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6DBFD-1F56-4B6D-9ED4-68DDB0B8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8592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Observação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FDFB4-C202-48DA-A007-41938DDE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0763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 grupo relatou continuidade e maior cobertura aparente abaixo da superfície.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9F348-509F-41FC-90DD-7DEA73C0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Limitação do acesso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332D0-B240-464A-95AC-53387366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7575"/>
            <a:ext cx="10763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presença de ouriços restringiu a aproximação.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8DAB3-75A7-4AEA-82F7-180883DC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007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Limitação das imagens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B77B0-B09C-4FDA-B014-E77A0BDC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10763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Sem câmera subaquática, o grupo não produziu registros do infralitoral.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E08F5-5B31-4C45-AE8A-3656B835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A comparação com essa zona depende do relato visual, com menor documentação.</a:t>
            </a:r>
          </a:p>
        </p:txBody>
      </p:sp>
    </p:spTree>
    <p:extLst>
      <p:ext uri="{BB962C8B-B14F-4D97-AF65-F5344CB8AC3E}">
        <p14:creationId xmlns:p14="http://schemas.microsoft.com/office/powerpoint/2010/main" val="1414159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E6DF3-20D8-4352-B0D1-4089B238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Algas verdes e formas de talo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A0844-39CE-473C-AD70-00632C36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Resultados de macroalgas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84641-A21C-4538-9835-B748C486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124FF-DA9B-4DBC-A614-B3255A5A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9ca41e0e54fb7"/>
          <a:stretch xmlns:a="http://schemas.openxmlformats.org/drawingml/2006/main"/>
        </p:blipFill>
        <p:spPr>
          <a:xfrm xmlns:a="http://schemas.openxmlformats.org/drawingml/2006/main">
            <a:off x="542925" y="2011465"/>
            <a:ext cx="3638550" cy="273981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6ee5c62d249e3"/>
          <a:stretch xmlns:a="http://schemas.openxmlformats.org/drawingml/2006/main"/>
        </p:blipFill>
        <p:spPr>
          <a:xfrm xmlns:a="http://schemas.openxmlformats.org/drawingml/2006/main">
            <a:off x="4524375" y="171450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522CE-3BBF-484C-8A2C-474D739E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312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Chlorophyta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DDEC2-2549-4B60-A1B1-3CECEF5B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43150"/>
            <a:ext cx="3209925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Coloração verde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Talos foliáceos e filamentosos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Ulva: identificação preliminar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B4B57-7354-452B-A82B-C15B25A1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543550"/>
            <a:ext cx="11029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Ocorrência relatada no médiolitoral. Trechos secos não bastam para confirmar morte por dessecação.</a:t>
            </a:r>
          </a:p>
        </p:txBody>
      </p:sp>
    </p:spTree>
    <p:extLst>
      <p:ext uri="{BB962C8B-B14F-4D97-AF65-F5344CB8AC3E}">
        <p14:creationId xmlns:p14="http://schemas.microsoft.com/office/powerpoint/2010/main" val="12875523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4E13F-0A31-4237-B98B-6DC17116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Algas vermelhas e diversidade morfológica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DC25B-B9DF-4D6E-9535-100DE8A2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Resultados de macroalgas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C431B-28D6-467A-AE77-9FB5FCCC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8B77D-F7DD-4FC3-892D-F98C0269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e481d923845bf"/>
          <a:stretch xmlns:a="http://schemas.openxmlformats.org/drawingml/2006/main"/>
        </p:blipFill>
        <p:spPr>
          <a:xfrm xmlns:a="http://schemas.openxmlformats.org/drawingml/2006/main">
            <a:off x="657225" y="1714500"/>
            <a:ext cx="3429000" cy="34290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fcb63301c4ada"/>
          <a:stretch xmlns:a="http://schemas.openxmlformats.org/drawingml/2006/main"/>
        </p:blipFill>
        <p:spPr>
          <a:xfrm xmlns:a="http://schemas.openxmlformats.org/drawingml/2006/main">
            <a:off x="4495800" y="171450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C3EC4-D74B-49F5-98AC-E69B993C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71650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D4E6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D4E61"/>
                </a:solidFill>
                <a:latin typeface="Arial"/>
                <a:ea typeface="Arial"/>
                <a:cs typeface="Arial"/>
              </a:rPr>
              <a:t>Rhodophyta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BCF1F-5AA0-4777-A4BC-0B06C286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1242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Tons rosados e avermelhados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Aspecto ramificado e crostoso nos registros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Contato frequente com a água, segundo o grupo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E086E-4535-4822-B222-E36A8D24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29275"/>
            <a:ext cx="11029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O grupo relatou diferentes formas de talo. A confirmação taxonômica exige outros caracteres.</a:t>
            </a:r>
          </a:p>
        </p:txBody>
      </p:sp>
    </p:spTree>
    <p:extLst>
      <p:ext uri="{BB962C8B-B14F-4D97-AF65-F5344CB8AC3E}">
        <p14:creationId xmlns:p14="http://schemas.microsoft.com/office/powerpoint/2010/main" val="18345012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B9EA0-0C9A-41D1-9506-44A09507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Algas pardas com talos em leque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DDAC5-2F64-48D7-95CA-15703FEB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Resultados de macroalgas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803CF-DBC5-466D-98A8-AC3FF393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5A597-97E8-43B7-91FF-E1E89093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2c3ed9fa549c9"/>
          <a:stretch xmlns:a="http://schemas.openxmlformats.org/drawingml/2006/main"/>
        </p:blipFill>
        <p:spPr>
          <a:xfrm xmlns:a="http://schemas.openxmlformats.org/drawingml/2006/main">
            <a:off x="1681163" y="1676400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35757-EAE1-46A9-B768-F668C85F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752600"/>
            <a:ext cx="4162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Phaeophyceae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0D4BC-B1E9-43ED-A839-F61B7755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62175"/>
            <a:ext cx="4162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Coloração castanha a amarelada.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4EACE-EFD3-4172-AF69-2BAB4998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38475"/>
            <a:ext cx="4162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Padina, provável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B7477-F5BC-4EB5-ACE3-264E6B20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48050"/>
            <a:ext cx="4162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Talos com aspecto de lâmina em leque.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6AEBD-AA13-49EA-AF98-1CA0B4B6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24350"/>
            <a:ext cx="4162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Posição relatada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A8334-9F98-4756-81C5-1EC02E31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733925"/>
            <a:ext cx="4162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Médiolitoral, mais próximo do mar no trecho observado.</a:t>
            </a:r>
          </a:p>
        </p:txBody>
      </p:sp>
    </p:spTree>
    <p:extLst>
      <p:ext uri="{BB962C8B-B14F-4D97-AF65-F5344CB8AC3E}">
        <p14:creationId xmlns:p14="http://schemas.microsoft.com/office/powerpoint/2010/main" val="6851166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41D15-665F-463F-A4D3-DEC28F5B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Alcance da comparação entre as zonas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5833F-2918-49A0-9C29-4A70B289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Discussão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8B4BF-1D68-46FD-AFF1-DB053EBF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C4B02-F847-4631-A3DF-3EEE4662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C3885-9969-4D7F-AAE5-BB23AE18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O que os registros permitem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446F6-2F7D-4EC4-9E80-5BCAAE75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859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Comparar aspectos visuais, formas de talo e posições relativas no costão.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DC332-94A0-44CF-85B6-2AFDECBC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O que permanece incerto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2623C-01D6-4188-BB65-32F31397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385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Limites exatos das zonas, identidade das crostas e número de espécies.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2EE9D-3EDD-4843-AFB2-49FC1C99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O que exigiria amostragem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4D639-E4DA-45A1-8407-CA46E646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Quantificar a cobertura, a abundância e a riqueza de espécies.</a:t>
            </a:r>
          </a:p>
        </p:txBody>
      </p:sp>
    </p:spTree>
    <p:extLst>
      <p:ext uri="{BB962C8B-B14F-4D97-AF65-F5344CB8AC3E}">
        <p14:creationId xmlns:p14="http://schemas.microsoft.com/office/powerpoint/2010/main" val="17326743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F1BC1-1E48-44FE-9407-0EEA252A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Morfologia e condições do costão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FE6D7-5144-465E-AF82-6B6CC5A0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Discussão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5ED11-6095-4049-BD3B-215566CC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95D9A-1C66-498A-B07A-FE2BB406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2FFB7-EE60-4011-9265-376F877B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Talos flexíveis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3A5C0-7267-4377-8E57-29DB72CD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05025"/>
            <a:ext cx="1076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Podem se deformar com o movimento da água e reduzir o esforço mecânico.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5FFC7-8D48-4C63-A1DB-13F333BE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1942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Formas crostosas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45F8D-03CA-437E-8EB6-9204A86C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1076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 crescimento junto à rocha pode reduzir a exposição ao fluxo.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D69D9-24C1-4FF0-AADD-6EF90A54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Contato com a água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AA63E-D95B-4E4B-B4AF-C7DC4F6A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076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umidade e o tempo de submersão ajudam a interpretar a distribuição.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B4563-D2D6-4885-B581-8A066C9C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Essas relações são interpretações ecológicas. A atividade não testou os mecanismos.</a:t>
            </a:r>
          </a:p>
        </p:txBody>
      </p:sp>
    </p:spTree>
    <p:extLst>
      <p:ext uri="{BB962C8B-B14F-4D97-AF65-F5344CB8AC3E}">
        <p14:creationId xmlns:p14="http://schemas.microsoft.com/office/powerpoint/2010/main" val="21366016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38E2-382C-4CEE-9512-2BA6ECB6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Síntese das observações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99D1C-F4DA-4161-888B-5A97818E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5E5F9-4735-4D5B-83D5-70165EAB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F4BF4-2C1B-4319-A144-4AB4C25A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BCD8A-F965-46EB-A8AD-844F6291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10763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Os registros mostram diferentes cores e formas de macroalgas no trecho entre marés.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4E644-3804-4CB0-80D7-838E1147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0763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 grupo relatou maior cobertura e variedade aparente em regiões mais úmidas.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64839-11C1-46BD-9EC7-380AB529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00475"/>
            <a:ext cx="10763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exposição ao ar e a ação das ondas ajudam a interpretar esse padrão.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FBD60-99A0-4694-A372-450FC120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10763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comparação é qualitativa, e o infralitoral tem documentação limitada.</a:t>
            </a:r>
          </a:p>
        </p:txBody>
      </p:sp>
    </p:spTree>
    <p:extLst>
      <p:ext uri="{BB962C8B-B14F-4D97-AF65-F5344CB8AC3E}">
        <p14:creationId xmlns:p14="http://schemas.microsoft.com/office/powerpoint/2010/main" val="1449011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8F190-101F-474E-B58D-DA31C7A0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Fontes do seminário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96F29-CE65-4700-9275-D1881115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Referências e registros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6955B-2E18-4EED-9050-7CFC7CE5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BFA34-77E6-4FE2-B947-12B6667C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91D26-247F-4052-8897-D0523548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Roteiro da disciplina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CB72B-9267-4226-9FE7-3920A414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076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Roteiro aula prática Fundamentos de Biologia III. Material didático fornecido.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B64CC-EE53-4F11-8ADE-A4D5391E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Resultados do grupo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FF94E-3896-4448-81F4-F0779A74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7575"/>
            <a:ext cx="1076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Zonação. Relato de campo com fotografias.</a:t>
            </a:r>
          </a:p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Resultados – macroalgas. Descrição dos grupos e dos talos.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052DD-52C7-4E95-9B98-13292BA9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Discussão do 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CD8AE-6FE9-4715-9648-037FA173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076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Discussão e conclusão. Texto preliminar fornecido para integração.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C5B4A-BDBB-45F9-9E71-EA9A919C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769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Fotografias: registros do grupo. Logo: arquivo UERJ enviado pelo coordenador.</a:t>
            </a:r>
          </a:p>
        </p:txBody>
      </p:sp>
    </p:spTree>
    <p:extLst>
      <p:ext uri="{BB962C8B-B14F-4D97-AF65-F5344CB8AC3E}">
        <p14:creationId xmlns:p14="http://schemas.microsoft.com/office/powerpoint/2010/main" val="13811823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181A1-E843-4F4F-B2F0-CB321D0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Pontos para fechar com o grupo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7D8C1-E064-4421-AE3D-19DAC381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6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6B59"/>
                </a:solidFill>
                <a:latin typeface="Arial"/>
                <a:ea typeface="Arial"/>
                <a:cs typeface="Arial"/>
              </a:rPr>
              <a:t>Apêndice para circulação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B4590-2BE4-442C-9EAA-6960776E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6"/>
                </a:solidFill>
                <a:latin typeface="Arial"/>
                <a:ea typeface="Arial"/>
                <a:cs typeface="Arial"/>
              </a:rPr>
              <a:t>UERJ   •   Fundamentos de Biologia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51C04-B3E0-4563-8E48-FA5C8056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B9F86-80AB-4D58-9020-44911821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Inserir os seis nomes completos, o docente e a data do campo.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17008-6C7D-46F2-85B8-917E4A74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Confirmar Praia Vermelha e corrigir a divergência com o roteiro.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90B1B-09BB-44EA-AAD4-6ED4823B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Completar a metodologia e a relação com a atividade de laboratório.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CB7C1-24B8-4FF6-BAC8-B24BBEE7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Conferir as zonas das fotos e as identificações de Ulva e Padina.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56873-6761-4371-A20C-7E247B99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Definir o responsável pela parte 3 e revisar as falas.</a:t>
            </a:r>
          </a:p>
        </p:txBody>
      </p:sp>
    </p:spTree>
    <p:extLst>
      <p:ext uri="{BB962C8B-B14F-4D97-AF65-F5344CB8AC3E}">
        <p14:creationId xmlns:p14="http://schemas.microsoft.com/office/powerpoint/2010/main" val="1206895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2026-10-05T19:38:48.5180000Z</dcterms:created>
  <dcterms:modified xsi:type="dcterms:W3CDTF">2026-10-05T19:38:48.5180000Z</dcterms:modified>
</coreProperties>
</file>